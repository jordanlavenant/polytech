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9.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0.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31.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53" r:id="rId4"/>
    <p:sldMasterId id="2147483866" r:id="rId5"/>
    <p:sldMasterId id="2147483648" r:id="rId6"/>
  </p:sldMasterIdLst>
  <p:notesMasterIdLst>
    <p:notesMasterId r:id="rId42"/>
  </p:notesMasterIdLst>
  <p:sldIdLst>
    <p:sldId id="1400" r:id="rId7"/>
    <p:sldId id="1401" r:id="rId8"/>
    <p:sldId id="1403" r:id="rId9"/>
    <p:sldId id="1404" r:id="rId10"/>
    <p:sldId id="1405" r:id="rId11"/>
    <p:sldId id="1406" r:id="rId12"/>
    <p:sldId id="1407" r:id="rId13"/>
    <p:sldId id="1408" r:id="rId14"/>
    <p:sldId id="1410" r:id="rId15"/>
    <p:sldId id="1411" r:id="rId16"/>
    <p:sldId id="1415" r:id="rId17"/>
    <p:sldId id="1416" r:id="rId18"/>
    <p:sldId id="1417" r:id="rId19"/>
    <p:sldId id="1418" r:id="rId20"/>
    <p:sldId id="1419" r:id="rId21"/>
    <p:sldId id="1420" r:id="rId22"/>
    <p:sldId id="1421" r:id="rId23"/>
    <p:sldId id="1422" r:id="rId24"/>
    <p:sldId id="1423" r:id="rId25"/>
    <p:sldId id="1424" r:id="rId26"/>
    <p:sldId id="1430" r:id="rId27"/>
    <p:sldId id="1434" r:id="rId28"/>
    <p:sldId id="1435" r:id="rId29"/>
    <p:sldId id="1433" r:id="rId30"/>
    <p:sldId id="270" r:id="rId31"/>
    <p:sldId id="271" r:id="rId32"/>
    <p:sldId id="1394" r:id="rId33"/>
    <p:sldId id="1425" r:id="rId34"/>
    <p:sldId id="1426" r:id="rId35"/>
    <p:sldId id="1427" r:id="rId36"/>
    <p:sldId id="1428" r:id="rId37"/>
    <p:sldId id="1429" r:id="rId38"/>
    <p:sldId id="1436" r:id="rId39"/>
    <p:sldId id="273" r:id="rId40"/>
    <p:sldId id="274" r:id="rId41"/>
  </p:sldIdLst>
  <p:sldSz cx="12192000" cy="6858000"/>
  <p:notesSz cx="6797675" cy="987425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8BC520D5-CDEF-4CDD-BBAF-2D63052915EC}">
          <p14:sldIdLst>
            <p14:sldId id="1400"/>
            <p14:sldId id="1401"/>
            <p14:sldId id="1403"/>
            <p14:sldId id="1404"/>
            <p14:sldId id="1405"/>
            <p14:sldId id="1406"/>
            <p14:sldId id="1407"/>
            <p14:sldId id="1408"/>
            <p14:sldId id="1410"/>
            <p14:sldId id="1411"/>
            <p14:sldId id="1415"/>
            <p14:sldId id="1416"/>
            <p14:sldId id="1417"/>
            <p14:sldId id="1418"/>
            <p14:sldId id="1419"/>
            <p14:sldId id="1420"/>
            <p14:sldId id="1421"/>
            <p14:sldId id="1422"/>
            <p14:sldId id="1423"/>
            <p14:sldId id="1424"/>
            <p14:sldId id="1430"/>
            <p14:sldId id="1434"/>
            <p14:sldId id="1435"/>
            <p14:sldId id="1433"/>
            <p14:sldId id="270"/>
            <p14:sldId id="271"/>
            <p14:sldId id="1394"/>
            <p14:sldId id="1425"/>
            <p14:sldId id="1426"/>
            <p14:sldId id="1427"/>
            <p14:sldId id="1428"/>
            <p14:sldId id="1429"/>
            <p14:sldId id="1436"/>
            <p14:sldId id="273"/>
            <p14:sldId id="27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3111" userDrawn="1">
          <p15:clr>
            <a:srgbClr val="A4A3A4"/>
          </p15:clr>
        </p15:guide>
        <p15:guide id="2" pos="2142"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andrine Urbain" initials="AU" lastIdx="8" clrIdx="0">
    <p:extLst>
      <p:ext uri="{19B8F6BF-5375-455C-9EA6-DF929625EA0E}">
        <p15:presenceInfo xmlns:p15="http://schemas.microsoft.com/office/powerpoint/2012/main" userId="S-1-5-21-290991223-1492233356-3939719756-2135" providerId="AD"/>
      </p:ext>
    </p:extLst>
  </p:cmAuthor>
  <p:cmAuthor id="2" name="Alexandrine Urbain" initials="AU [2]" lastIdx="1" clrIdx="1">
    <p:extLst>
      <p:ext uri="{19B8F6BF-5375-455C-9EA6-DF929625EA0E}">
        <p15:presenceInfo xmlns:p15="http://schemas.microsoft.com/office/powerpoint/2012/main" userId="S::alexandrine.urbain@centralesupelec.fr::1f21dba4-6a86-4cac-8d99-18304de00c27" providerId="AD"/>
      </p:ext>
    </p:extLst>
  </p:cmAuthor>
  <p:cmAuthor id="3" name="Romain Soubeyran" initials="RS" lastIdx="1" clrIdx="2">
    <p:extLst>
      <p:ext uri="{19B8F6BF-5375-455C-9EA6-DF929625EA0E}">
        <p15:presenceInfo xmlns:p15="http://schemas.microsoft.com/office/powerpoint/2012/main" userId="S::romain.soubeyran@centralesupelec.fr::0bb5c534-5739-4336-889e-097a118d496f" providerId="AD"/>
      </p:ext>
    </p:extLst>
  </p:cmAuthor>
  <p:cmAuthor id="4" name="Christophe Laux" initials="CL" lastIdx="1" clrIdx="3">
    <p:extLst>
      <p:ext uri="{19B8F6BF-5375-455C-9EA6-DF929625EA0E}">
        <p15:presenceInfo xmlns:p15="http://schemas.microsoft.com/office/powerpoint/2012/main" userId="Christophe Laux"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FFCC"/>
    <a:srgbClr val="C01D4A"/>
    <a:srgbClr val="5F5F5F"/>
    <a:srgbClr val="9C8C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Style moyen 3 - Accentuation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5202B0CA-FC54-4496-8BCA-5EF66A818D29}" styleName="Style foncé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241" autoAdjust="0"/>
  </p:normalViewPr>
  <p:slideViewPr>
    <p:cSldViewPr snapToGrid="0">
      <p:cViewPr varScale="1">
        <p:scale>
          <a:sx n="65" d="100"/>
          <a:sy n="65" d="100"/>
        </p:scale>
        <p:origin x="1330" y="43"/>
      </p:cViewPr>
      <p:guideLst/>
    </p:cSldViewPr>
  </p:slideViewPr>
  <p:notesTextViewPr>
    <p:cViewPr>
      <p:scale>
        <a:sx n="1" d="1"/>
        <a:sy n="1" d="1"/>
      </p:scale>
      <p:origin x="0" y="0"/>
    </p:cViewPr>
  </p:notesTextViewPr>
  <p:notesViewPr>
    <p:cSldViewPr snapToGrid="0">
      <p:cViewPr>
        <p:scale>
          <a:sx n="1" d="2"/>
          <a:sy n="1" d="2"/>
        </p:scale>
        <p:origin x="0" y="0"/>
      </p:cViewPr>
      <p:guideLst>
        <p:guide orient="horz" pos="3111"/>
        <p:guide pos="2142"/>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commentAuthors" Target="commentAuthor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theme" Target="theme/theme1.xml"/><Relationship Id="rId20" Type="http://schemas.openxmlformats.org/officeDocument/2006/relationships/slide" Target="slides/slide14.xml"/><Relationship Id="rId41" Type="http://schemas.openxmlformats.org/officeDocument/2006/relationships/slide" Target="slides/slide35.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0864420398658344E-2"/>
          <c:y val="6.0706064105603696E-2"/>
          <c:w val="0.61581837413050644"/>
          <c:h val="0.91096443931178128"/>
        </c:manualLayout>
      </c:layout>
      <c:pieChart>
        <c:varyColors val="1"/>
        <c:ser>
          <c:idx val="0"/>
          <c:order val="0"/>
          <c:tx>
            <c:strRef>
              <c:f>Feuil1!$B$1</c:f>
              <c:strCache>
                <c:ptCount val="1"/>
                <c:pt idx="0">
                  <c:v>Ventes</c:v>
                </c:pt>
              </c:strCache>
            </c:strRef>
          </c:tx>
          <c:explosion val="2"/>
          <c:dPt>
            <c:idx val="0"/>
            <c:bubble3D val="0"/>
            <c:spPr>
              <a:solidFill>
                <a:srgbClr val="90DFAA"/>
              </a:solidFill>
              <a:ln w="19050">
                <a:solidFill>
                  <a:schemeClr val="lt1"/>
                </a:solidFill>
              </a:ln>
              <a:effectLst/>
            </c:spPr>
            <c:extLst>
              <c:ext xmlns:c16="http://schemas.microsoft.com/office/drawing/2014/chart" uri="{C3380CC4-5D6E-409C-BE32-E72D297353CC}">
                <c16:uniqueId val="{00000005-C60F-4A4A-BBA6-7A40FE4BA438}"/>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6-C60F-4A4A-BBA6-7A40FE4BA438}"/>
              </c:ext>
            </c:extLst>
          </c:dPt>
          <c:dPt>
            <c:idx val="2"/>
            <c:bubble3D val="0"/>
            <c:spPr>
              <a:solidFill>
                <a:srgbClr val="085160"/>
              </a:solidFill>
              <a:ln w="19050">
                <a:solidFill>
                  <a:schemeClr val="lt1"/>
                </a:solidFill>
              </a:ln>
              <a:effectLst/>
            </c:spPr>
            <c:extLst>
              <c:ext xmlns:c16="http://schemas.microsoft.com/office/drawing/2014/chart" uri="{C3380CC4-5D6E-409C-BE32-E72D297353CC}">
                <c16:uniqueId val="{00000001-C60F-4A4A-BBA6-7A40FE4BA438}"/>
              </c:ext>
            </c:extLst>
          </c:dPt>
          <c:dPt>
            <c:idx val="3"/>
            <c:bubble3D val="0"/>
            <c:spPr>
              <a:solidFill>
                <a:srgbClr val="F6AB38"/>
              </a:solidFill>
              <a:ln w="19050">
                <a:solidFill>
                  <a:schemeClr val="lt1"/>
                </a:solidFill>
              </a:ln>
              <a:effectLst/>
            </c:spPr>
            <c:extLst>
              <c:ext xmlns:c16="http://schemas.microsoft.com/office/drawing/2014/chart" uri="{C3380CC4-5D6E-409C-BE32-E72D297353CC}">
                <c16:uniqueId val="{00000002-C60F-4A4A-BBA6-7A40FE4BA438}"/>
              </c:ext>
            </c:extLst>
          </c:dPt>
          <c:dPt>
            <c:idx val="4"/>
            <c:bubble3D val="0"/>
            <c:spPr>
              <a:solidFill>
                <a:schemeClr val="tx1">
                  <a:lumMod val="65000"/>
                  <a:lumOff val="35000"/>
                </a:schemeClr>
              </a:solidFill>
              <a:ln w="19050">
                <a:solidFill>
                  <a:schemeClr val="lt1"/>
                </a:solidFill>
              </a:ln>
              <a:effectLst/>
            </c:spPr>
            <c:extLst>
              <c:ext xmlns:c16="http://schemas.microsoft.com/office/drawing/2014/chart" uri="{C3380CC4-5D6E-409C-BE32-E72D297353CC}">
                <c16:uniqueId val="{00000003-C60F-4A4A-BBA6-7A40FE4BA438}"/>
              </c:ext>
            </c:extLst>
          </c:dPt>
          <c:dPt>
            <c:idx val="5"/>
            <c:bubble3D val="0"/>
            <c:spPr>
              <a:solidFill>
                <a:srgbClr val="00B0F0"/>
              </a:solidFill>
              <a:ln w="19050">
                <a:solidFill>
                  <a:schemeClr val="lt1"/>
                </a:solidFill>
              </a:ln>
              <a:effectLst/>
            </c:spPr>
            <c:extLst>
              <c:ext xmlns:c16="http://schemas.microsoft.com/office/drawing/2014/chart" uri="{C3380CC4-5D6E-409C-BE32-E72D297353CC}">
                <c16:uniqueId val="{00000004-C60F-4A4A-BBA6-7A40FE4BA438}"/>
              </c:ext>
            </c:extLst>
          </c:dPt>
          <c:cat>
            <c:strRef>
              <c:f>Feuil1!$A$2:$A$7</c:f>
              <c:strCache>
                <c:ptCount val="4"/>
                <c:pt idx="0">
                  <c:v>1er trim.</c:v>
                </c:pt>
                <c:pt idx="1">
                  <c:v>2e trim.</c:v>
                </c:pt>
                <c:pt idx="2">
                  <c:v>3e trim.</c:v>
                </c:pt>
                <c:pt idx="3">
                  <c:v>4e trim.</c:v>
                </c:pt>
              </c:strCache>
            </c:strRef>
          </c:cat>
          <c:val>
            <c:numRef>
              <c:f>Feuil1!$B$2:$B$7</c:f>
              <c:numCache>
                <c:formatCode>General</c:formatCode>
                <c:ptCount val="6"/>
                <c:pt idx="0">
                  <c:v>8</c:v>
                </c:pt>
                <c:pt idx="1">
                  <c:v>1</c:v>
                </c:pt>
                <c:pt idx="2">
                  <c:v>57</c:v>
                </c:pt>
                <c:pt idx="3">
                  <c:v>17</c:v>
                </c:pt>
                <c:pt idx="4">
                  <c:v>3</c:v>
                </c:pt>
                <c:pt idx="5">
                  <c:v>14</c:v>
                </c:pt>
              </c:numCache>
            </c:numRef>
          </c:val>
          <c:extLst>
            <c:ext xmlns:c16="http://schemas.microsoft.com/office/drawing/2014/chart" uri="{C3380CC4-5D6E-409C-BE32-E72D297353CC}">
              <c16:uniqueId val="{00000000-C60F-4A4A-BBA6-7A40FE4BA438}"/>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76114635696124711"/>
          <c:y val="2.021507329920047E-2"/>
          <c:w val="0.21951061692236962"/>
          <c:h val="0.83723211339092396"/>
        </c:manualLayout>
      </c:layout>
      <c:barChart>
        <c:barDir val="bar"/>
        <c:grouping val="clustered"/>
        <c:varyColors val="0"/>
        <c:ser>
          <c:idx val="0"/>
          <c:order val="0"/>
          <c:tx>
            <c:strRef>
              <c:f>Feuil1!$B$1</c:f>
              <c:strCache>
                <c:ptCount val="1"/>
                <c:pt idx="0">
                  <c:v>Série 1</c:v>
                </c:pt>
              </c:strCache>
            </c:strRef>
          </c:tx>
          <c:spPr>
            <a:solidFill>
              <a:srgbClr val="085160"/>
            </a:solidFill>
            <a:ln>
              <a:noFill/>
            </a:ln>
            <a:effectLst/>
          </c:spPr>
          <c:invertIfNegative val="0"/>
          <c:cat>
            <c:strRef>
              <c:f>Feuil1!$A$2:$A$8</c:f>
              <c:strCache>
                <c:ptCount val="7"/>
                <c:pt idx="0">
                  <c:v>Un A/R Paris- New York en Avion</c:v>
                </c:pt>
                <c:pt idx="1">
                  <c:v>Un A/R Paris - New York à la voile</c:v>
                </c:pt>
                <c:pt idx="2">
                  <c:v>30 min de voiture par jour</c:v>
                </c:pt>
                <c:pt idx="3">
                  <c:v>30 min de voiture par jour en écoconduite</c:v>
                </c:pt>
                <c:pt idx="4">
                  <c:v>30 min de voiture par jour en covoiturage</c:v>
                </c:pt>
                <c:pt idx="5">
                  <c:v>30 min de vélo par jour</c:v>
                </c:pt>
                <c:pt idx="6">
                  <c:v>500 heures de train par an</c:v>
                </c:pt>
              </c:strCache>
            </c:strRef>
          </c:cat>
          <c:val>
            <c:numRef>
              <c:f>Feuil1!$B$2:$B$8</c:f>
              <c:numCache>
                <c:formatCode>General</c:formatCode>
                <c:ptCount val="7"/>
                <c:pt idx="0">
                  <c:v>2500</c:v>
                </c:pt>
                <c:pt idx="1">
                  <c:v>50</c:v>
                </c:pt>
                <c:pt idx="2">
                  <c:v>1620</c:v>
                </c:pt>
                <c:pt idx="3">
                  <c:v>1134</c:v>
                </c:pt>
                <c:pt idx="4">
                  <c:v>540</c:v>
                </c:pt>
                <c:pt idx="5">
                  <c:v>50</c:v>
                </c:pt>
                <c:pt idx="6">
                  <c:v>540</c:v>
                </c:pt>
              </c:numCache>
            </c:numRef>
          </c:val>
          <c:extLst>
            <c:ext xmlns:c16="http://schemas.microsoft.com/office/drawing/2014/chart" uri="{C3380CC4-5D6E-409C-BE32-E72D297353CC}">
              <c16:uniqueId val="{00000000-BFC1-400B-99A4-6D6967F8F68F}"/>
            </c:ext>
          </c:extLst>
        </c:ser>
        <c:dLbls>
          <c:showLegendKey val="0"/>
          <c:showVal val="0"/>
          <c:showCatName val="0"/>
          <c:showSerName val="0"/>
          <c:showPercent val="0"/>
          <c:showBubbleSize val="0"/>
        </c:dLbls>
        <c:gapWidth val="182"/>
        <c:axId val="631972808"/>
        <c:axId val="631973984"/>
      </c:barChart>
      <c:catAx>
        <c:axId val="63197280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Century Gothic" panose="020B0502020202020204" pitchFamily="34" charset="0"/>
                <a:ea typeface="+mn-ea"/>
                <a:cs typeface="+mn-cs"/>
              </a:defRPr>
            </a:pPr>
            <a:endParaRPr lang="fr-FR"/>
          </a:p>
        </c:txPr>
        <c:crossAx val="631973984"/>
        <c:crosses val="autoZero"/>
        <c:auto val="1"/>
        <c:lblAlgn val="ctr"/>
        <c:lblOffset val="100"/>
        <c:noMultiLvlLbl val="0"/>
      </c:catAx>
      <c:valAx>
        <c:axId val="631973984"/>
        <c:scaling>
          <c:orientation val="minMax"/>
          <c:max val="40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fr-FR" dirty="0"/>
                  <a:t>Émissions</a:t>
                </a:r>
                <a:r>
                  <a:rPr lang="fr-FR" baseline="0" dirty="0"/>
                  <a:t> annuelles en kgCO2éq.</a:t>
                </a:r>
                <a:endParaRPr lang="fr-FR" dirty="0"/>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63197280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76114635696124711"/>
          <c:y val="2.021507329920047E-2"/>
          <c:w val="0.21951061692236962"/>
          <c:h val="0.83723211339092396"/>
        </c:manualLayout>
      </c:layout>
      <c:barChart>
        <c:barDir val="bar"/>
        <c:grouping val="clustered"/>
        <c:varyColors val="0"/>
        <c:ser>
          <c:idx val="0"/>
          <c:order val="0"/>
          <c:tx>
            <c:strRef>
              <c:f>Feuil1!$B$1</c:f>
              <c:strCache>
                <c:ptCount val="1"/>
                <c:pt idx="0">
                  <c:v>Série 1</c:v>
                </c:pt>
              </c:strCache>
            </c:strRef>
          </c:tx>
          <c:spPr>
            <a:solidFill>
              <a:srgbClr val="085160"/>
            </a:solidFill>
            <a:ln>
              <a:noFill/>
            </a:ln>
            <a:effectLst/>
          </c:spPr>
          <c:invertIfNegative val="0"/>
          <c:cat>
            <c:strRef>
              <c:f>Feuil1!$A$2:$A$6</c:f>
              <c:strCache>
                <c:ptCount val="5"/>
                <c:pt idx="0">
                  <c:v>Services Publics</c:v>
                </c:pt>
                <c:pt idx="1">
                  <c:v>20 000€ d'actifs en banque</c:v>
                </c:pt>
                <c:pt idx="2">
                  <c:v>1h par  jour  de streaming</c:v>
                </c:pt>
                <c:pt idx="3">
                  <c:v>Achat d'un ordinateur</c:v>
                </c:pt>
                <c:pt idx="4">
                  <c:v>Achat de 500€ de textile</c:v>
                </c:pt>
              </c:strCache>
            </c:strRef>
          </c:cat>
          <c:val>
            <c:numRef>
              <c:f>Feuil1!$B$2:$B$6</c:f>
              <c:numCache>
                <c:formatCode>General</c:formatCode>
                <c:ptCount val="5"/>
                <c:pt idx="0">
                  <c:v>1284</c:v>
                </c:pt>
                <c:pt idx="1">
                  <c:v>250</c:v>
                </c:pt>
                <c:pt idx="2">
                  <c:v>1000</c:v>
                </c:pt>
                <c:pt idx="3">
                  <c:v>296</c:v>
                </c:pt>
                <c:pt idx="4">
                  <c:v>150</c:v>
                </c:pt>
              </c:numCache>
            </c:numRef>
          </c:val>
          <c:extLst>
            <c:ext xmlns:c16="http://schemas.microsoft.com/office/drawing/2014/chart" uri="{C3380CC4-5D6E-409C-BE32-E72D297353CC}">
              <c16:uniqueId val="{00000000-9E3E-46C8-B7F3-29620EAD0497}"/>
            </c:ext>
          </c:extLst>
        </c:ser>
        <c:dLbls>
          <c:showLegendKey val="0"/>
          <c:showVal val="0"/>
          <c:showCatName val="0"/>
          <c:showSerName val="0"/>
          <c:showPercent val="0"/>
          <c:showBubbleSize val="0"/>
        </c:dLbls>
        <c:gapWidth val="182"/>
        <c:axId val="631964184"/>
        <c:axId val="632772792"/>
      </c:barChart>
      <c:catAx>
        <c:axId val="63196418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Century Gothic" panose="020B0502020202020204" pitchFamily="34" charset="0"/>
                <a:ea typeface="+mn-ea"/>
                <a:cs typeface="+mn-cs"/>
              </a:defRPr>
            </a:pPr>
            <a:endParaRPr lang="fr-FR"/>
          </a:p>
        </c:txPr>
        <c:crossAx val="632772792"/>
        <c:crosses val="autoZero"/>
        <c:auto val="1"/>
        <c:lblAlgn val="ctr"/>
        <c:lblOffset val="100"/>
        <c:noMultiLvlLbl val="0"/>
      </c:catAx>
      <c:valAx>
        <c:axId val="632772792"/>
        <c:scaling>
          <c:orientation val="minMax"/>
          <c:max val="20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fr-FR" dirty="0"/>
                  <a:t>Émissions</a:t>
                </a:r>
                <a:r>
                  <a:rPr lang="fr-FR" baseline="0" dirty="0"/>
                  <a:t> annuelles en kgCO2éq.</a:t>
                </a:r>
                <a:endParaRPr lang="fr-FR" dirty="0"/>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63196418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76114635696124711"/>
          <c:y val="2.021507329920047E-2"/>
          <c:w val="0.21951061692236962"/>
          <c:h val="0.83723211339092396"/>
        </c:manualLayout>
      </c:layout>
      <c:barChart>
        <c:barDir val="bar"/>
        <c:grouping val="clustered"/>
        <c:varyColors val="0"/>
        <c:ser>
          <c:idx val="0"/>
          <c:order val="0"/>
          <c:tx>
            <c:strRef>
              <c:f>Feuil1!$B$1</c:f>
              <c:strCache>
                <c:ptCount val="1"/>
                <c:pt idx="0">
                  <c:v>Série 1</c:v>
                </c:pt>
              </c:strCache>
            </c:strRef>
          </c:tx>
          <c:spPr>
            <a:solidFill>
              <a:srgbClr val="085160"/>
            </a:solidFill>
            <a:ln>
              <a:noFill/>
            </a:ln>
            <a:effectLst/>
          </c:spPr>
          <c:invertIfNegative val="0"/>
          <c:cat>
            <c:strRef>
              <c:f>Feuil1!$A$2:$A$7</c:f>
              <c:strCache>
                <c:ptCount val="6"/>
                <c:pt idx="0">
                  <c:v>Un repas par jour - viande rouge</c:v>
                </c:pt>
                <c:pt idx="1">
                  <c:v>Un repas par jour - viande blanche</c:v>
                </c:pt>
                <c:pt idx="2">
                  <c:v>Un repas par jour - végétarien</c:v>
                </c:pt>
                <c:pt idx="3">
                  <c:v>Eau en bouteille</c:v>
                </c:pt>
                <c:pt idx="4">
                  <c:v>Pas de démarche zéro déchet</c:v>
                </c:pt>
                <c:pt idx="5">
                  <c:v>Démarche zéro déchets</c:v>
                </c:pt>
              </c:strCache>
            </c:strRef>
          </c:cat>
          <c:val>
            <c:numRef>
              <c:f>Feuil1!$B$2:$B$7</c:f>
              <c:numCache>
                <c:formatCode>General</c:formatCode>
                <c:ptCount val="6"/>
                <c:pt idx="0">
                  <c:v>2290</c:v>
                </c:pt>
                <c:pt idx="1">
                  <c:v>491</c:v>
                </c:pt>
                <c:pt idx="2">
                  <c:v>186</c:v>
                </c:pt>
                <c:pt idx="3">
                  <c:v>430</c:v>
                </c:pt>
                <c:pt idx="4">
                  <c:v>200</c:v>
                </c:pt>
                <c:pt idx="5">
                  <c:v>67</c:v>
                </c:pt>
              </c:numCache>
            </c:numRef>
          </c:val>
          <c:extLst>
            <c:ext xmlns:c16="http://schemas.microsoft.com/office/drawing/2014/chart" uri="{C3380CC4-5D6E-409C-BE32-E72D297353CC}">
              <c16:uniqueId val="{00000000-89E4-4010-85DD-7C35750B0E8C}"/>
            </c:ext>
          </c:extLst>
        </c:ser>
        <c:dLbls>
          <c:showLegendKey val="0"/>
          <c:showVal val="0"/>
          <c:showCatName val="0"/>
          <c:showSerName val="0"/>
          <c:showPercent val="0"/>
          <c:showBubbleSize val="0"/>
        </c:dLbls>
        <c:gapWidth val="182"/>
        <c:axId val="632777496"/>
        <c:axId val="632772008"/>
      </c:barChart>
      <c:catAx>
        <c:axId val="63277749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Century Gothic" panose="020B0502020202020204" pitchFamily="34" charset="0"/>
                <a:ea typeface="+mn-ea"/>
                <a:cs typeface="+mn-cs"/>
              </a:defRPr>
            </a:pPr>
            <a:endParaRPr lang="fr-FR"/>
          </a:p>
        </c:txPr>
        <c:crossAx val="632772008"/>
        <c:crosses val="autoZero"/>
        <c:auto val="1"/>
        <c:lblAlgn val="ctr"/>
        <c:lblOffset val="100"/>
        <c:noMultiLvlLbl val="0"/>
      </c:catAx>
      <c:valAx>
        <c:axId val="632772008"/>
        <c:scaling>
          <c:orientation val="minMax"/>
          <c:max val="40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fr-FR" dirty="0"/>
                  <a:t>Émissions</a:t>
                </a:r>
                <a:r>
                  <a:rPr lang="fr-FR" baseline="0" dirty="0"/>
                  <a:t> annuelles en kgCO2éq.</a:t>
                </a:r>
                <a:endParaRPr lang="fr-FR" dirty="0"/>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6327774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76114635696124711"/>
          <c:y val="2.021507329920047E-2"/>
          <c:w val="0.21951061692236962"/>
          <c:h val="0.83723211339092396"/>
        </c:manualLayout>
      </c:layout>
      <c:barChart>
        <c:barDir val="bar"/>
        <c:grouping val="clustered"/>
        <c:varyColors val="0"/>
        <c:ser>
          <c:idx val="0"/>
          <c:order val="0"/>
          <c:tx>
            <c:strRef>
              <c:f>Feuil1!$B$1</c:f>
              <c:strCache>
                <c:ptCount val="1"/>
                <c:pt idx="0">
                  <c:v>Non rénové catégorie E (24000 kWh)</c:v>
                </c:pt>
              </c:strCache>
            </c:strRef>
          </c:tx>
          <c:spPr>
            <a:solidFill>
              <a:srgbClr val="085160"/>
            </a:solidFill>
            <a:ln>
              <a:noFill/>
            </a:ln>
            <a:effectLst/>
          </c:spPr>
          <c:invertIfNegative val="0"/>
          <c:cat>
            <c:strRef>
              <c:f>Feuil1!$A$2:$A$8</c:f>
              <c:strCache>
                <c:ptCount val="7"/>
                <c:pt idx="0">
                  <c:v>Maison 150m2</c:v>
                </c:pt>
                <c:pt idx="1">
                  <c:v>immeuble 40m2</c:v>
                </c:pt>
                <c:pt idx="2">
                  <c:v>Fioul</c:v>
                </c:pt>
                <c:pt idx="3">
                  <c:v>Gaz</c:v>
                </c:pt>
                <c:pt idx="4">
                  <c:v>Electrique</c:v>
                </c:pt>
                <c:pt idx="5">
                  <c:v>bois</c:v>
                </c:pt>
                <c:pt idx="6">
                  <c:v>Electricité annuelle (2 500 kWh)</c:v>
                </c:pt>
              </c:strCache>
            </c:strRef>
          </c:cat>
          <c:val>
            <c:numRef>
              <c:f>Feuil1!$B$2:$B$8</c:f>
              <c:numCache>
                <c:formatCode>General</c:formatCode>
                <c:ptCount val="7"/>
                <c:pt idx="0">
                  <c:v>3937.5</c:v>
                </c:pt>
                <c:pt idx="1">
                  <c:v>1312.5</c:v>
                </c:pt>
                <c:pt idx="2">
                  <c:v>7776</c:v>
                </c:pt>
                <c:pt idx="3">
                  <c:v>5448</c:v>
                </c:pt>
                <c:pt idx="4">
                  <c:v>1368</c:v>
                </c:pt>
                <c:pt idx="5">
                  <c:v>708</c:v>
                </c:pt>
                <c:pt idx="6">
                  <c:v>142.5</c:v>
                </c:pt>
              </c:numCache>
            </c:numRef>
          </c:val>
          <c:extLst>
            <c:ext xmlns:c16="http://schemas.microsoft.com/office/drawing/2014/chart" uri="{C3380CC4-5D6E-409C-BE32-E72D297353CC}">
              <c16:uniqueId val="{00000000-6164-49C8-B2A4-518BA203C113}"/>
            </c:ext>
          </c:extLst>
        </c:ser>
        <c:ser>
          <c:idx val="1"/>
          <c:order val="1"/>
          <c:tx>
            <c:strRef>
              <c:f>Feuil1!$C$1</c:f>
              <c:strCache>
                <c:ptCount val="1"/>
                <c:pt idx="0">
                  <c:v>Rénové Catégorie A ou BBC (4000 kWh)</c:v>
                </c:pt>
              </c:strCache>
            </c:strRef>
          </c:tx>
          <c:spPr>
            <a:solidFill>
              <a:schemeClr val="accent2"/>
            </a:solidFill>
            <a:ln>
              <a:noFill/>
            </a:ln>
            <a:effectLst/>
          </c:spPr>
          <c:invertIfNegative val="0"/>
          <c:cat>
            <c:strRef>
              <c:f>Feuil1!$A$2:$A$8</c:f>
              <c:strCache>
                <c:ptCount val="7"/>
                <c:pt idx="0">
                  <c:v>Maison 150m2</c:v>
                </c:pt>
                <c:pt idx="1">
                  <c:v>immeuble 40m2</c:v>
                </c:pt>
                <c:pt idx="2">
                  <c:v>Fioul</c:v>
                </c:pt>
                <c:pt idx="3">
                  <c:v>Gaz</c:v>
                </c:pt>
                <c:pt idx="4">
                  <c:v>Electrique</c:v>
                </c:pt>
                <c:pt idx="5">
                  <c:v>bois</c:v>
                </c:pt>
                <c:pt idx="6">
                  <c:v>Electricité annuelle (2 500 kWh)</c:v>
                </c:pt>
              </c:strCache>
            </c:strRef>
          </c:cat>
          <c:val>
            <c:numRef>
              <c:f>Feuil1!$C$2:$C$8</c:f>
              <c:numCache>
                <c:formatCode>General</c:formatCode>
                <c:ptCount val="7"/>
                <c:pt idx="2">
                  <c:v>1296</c:v>
                </c:pt>
                <c:pt idx="3">
                  <c:v>908</c:v>
                </c:pt>
                <c:pt idx="4">
                  <c:v>228</c:v>
                </c:pt>
                <c:pt idx="5">
                  <c:v>118</c:v>
                </c:pt>
                <c:pt idx="6">
                  <c:v>142.5</c:v>
                </c:pt>
              </c:numCache>
            </c:numRef>
          </c:val>
          <c:extLst>
            <c:ext xmlns:c16="http://schemas.microsoft.com/office/drawing/2014/chart" uri="{C3380CC4-5D6E-409C-BE32-E72D297353CC}">
              <c16:uniqueId val="{00000001-6164-49C8-B2A4-518BA203C113}"/>
            </c:ext>
          </c:extLst>
        </c:ser>
        <c:dLbls>
          <c:showLegendKey val="0"/>
          <c:showVal val="0"/>
          <c:showCatName val="0"/>
          <c:showSerName val="0"/>
          <c:showPercent val="0"/>
          <c:showBubbleSize val="0"/>
        </c:dLbls>
        <c:gapWidth val="182"/>
        <c:axId val="632769656"/>
        <c:axId val="632780240"/>
      </c:barChart>
      <c:catAx>
        <c:axId val="63276965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Century Gothic" panose="020B0502020202020204" pitchFamily="34" charset="0"/>
                <a:ea typeface="+mn-ea"/>
                <a:cs typeface="+mn-cs"/>
              </a:defRPr>
            </a:pPr>
            <a:endParaRPr lang="fr-FR"/>
          </a:p>
        </c:txPr>
        <c:crossAx val="632780240"/>
        <c:crosses val="autoZero"/>
        <c:auto val="1"/>
        <c:lblAlgn val="ctr"/>
        <c:lblOffset val="100"/>
        <c:noMultiLvlLbl val="0"/>
      </c:catAx>
      <c:valAx>
        <c:axId val="632780240"/>
        <c:scaling>
          <c:orientation val="minMax"/>
          <c:max val="80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fr-FR" dirty="0"/>
                  <a:t>Émissions</a:t>
                </a:r>
                <a:r>
                  <a:rPr lang="fr-FR" baseline="0" dirty="0"/>
                  <a:t> annuelles en kgCO2éq.</a:t>
                </a:r>
                <a:endParaRPr lang="fr-FR" dirty="0"/>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632769656"/>
        <c:crosses val="autoZero"/>
        <c:crossBetween val="between"/>
      </c:valAx>
      <c:spPr>
        <a:noFill/>
        <a:ln>
          <a:noFill/>
        </a:ln>
        <a:effectLst/>
      </c:spPr>
    </c:plotArea>
    <c:legend>
      <c:legendPos val="r"/>
      <c:layout>
        <c:manualLayout>
          <c:xMode val="edge"/>
          <c:yMode val="edge"/>
          <c:x val="0.85387276661352141"/>
          <c:y val="7.1656443521795732E-2"/>
          <c:w val="0.12412235144538855"/>
          <c:h val="0.24316688462448288"/>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5659" cy="49542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50443" y="0"/>
            <a:ext cx="2945659" cy="495428"/>
          </a:xfrm>
          <a:prstGeom prst="rect">
            <a:avLst/>
          </a:prstGeom>
        </p:spPr>
        <p:txBody>
          <a:bodyPr vert="horz" lIns="91440" tIns="45720" rIns="91440" bIns="45720" rtlCol="0"/>
          <a:lstStyle>
            <a:lvl1pPr algn="r">
              <a:defRPr sz="1200"/>
            </a:lvl1pPr>
          </a:lstStyle>
          <a:p>
            <a:fld id="{6A998A7A-916E-4855-909B-5BBD6A79ED19}" type="datetimeFigureOut">
              <a:rPr lang="fr-FR" smtClean="0"/>
              <a:t>12/03/2026</a:t>
            </a:fld>
            <a:endParaRPr lang="fr-FR"/>
          </a:p>
        </p:txBody>
      </p:sp>
      <p:sp>
        <p:nvSpPr>
          <p:cNvPr id="4" name="Espace réservé de l'image des diapositives 3"/>
          <p:cNvSpPr>
            <a:spLocks noGrp="1" noRot="1" noChangeAspect="1"/>
          </p:cNvSpPr>
          <p:nvPr>
            <p:ph type="sldImg" idx="2"/>
          </p:nvPr>
        </p:nvSpPr>
        <p:spPr>
          <a:xfrm>
            <a:off x="438150" y="1235075"/>
            <a:ext cx="5921375" cy="333057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79768" y="4751983"/>
            <a:ext cx="5438140" cy="3887986"/>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378827"/>
            <a:ext cx="2945659" cy="49542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50443" y="9378827"/>
            <a:ext cx="2945659" cy="495427"/>
          </a:xfrm>
          <a:prstGeom prst="rect">
            <a:avLst/>
          </a:prstGeom>
        </p:spPr>
        <p:txBody>
          <a:bodyPr vert="horz" lIns="91440" tIns="45720" rIns="91440" bIns="45720" rtlCol="0" anchor="b"/>
          <a:lstStyle>
            <a:lvl1pPr algn="r">
              <a:defRPr sz="1200"/>
            </a:lvl1pPr>
          </a:lstStyle>
          <a:p>
            <a:fld id="{484ABB9D-0246-45BD-B444-5DDBBAB2F05D}" type="slidenum">
              <a:rPr lang="fr-FR" smtClean="0"/>
              <a:t>‹N°›</a:t>
            </a:fld>
            <a:endParaRPr lang="fr-FR"/>
          </a:p>
        </p:txBody>
      </p:sp>
    </p:spTree>
    <p:extLst>
      <p:ext uri="{BB962C8B-B14F-4D97-AF65-F5344CB8AC3E}">
        <p14:creationId xmlns:p14="http://schemas.microsoft.com/office/powerpoint/2010/main" val="602014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www.ipcc.ch/report/ar5/wg1/"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www.ademe.fr/expertises/batiment/quoi-parle-t/precarite-energetique"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www.ademe.fr/expertises/batiment/quoi-parle-t/precarite-energetique"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1:notes"/>
          <p:cNvSpPr>
            <a:spLocks noGrp="1" noRot="1" noChangeAspect="1"/>
          </p:cNvSpPr>
          <p:nvPr>
            <p:ph type="sldImg" idx="2"/>
          </p:nvPr>
        </p:nvSpPr>
        <p:spPr>
          <a:xfrm>
            <a:off x="465138" y="682625"/>
            <a:ext cx="6061075" cy="34099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 name="Google Shape;55;p1:notes"/>
          <p:cNvSpPr txBox="1">
            <a:spLocks noGrp="1"/>
          </p:cNvSpPr>
          <p:nvPr>
            <p:ph type="body" idx="1"/>
          </p:nvPr>
        </p:nvSpPr>
        <p:spPr>
          <a:xfrm>
            <a:off x="699023" y="4320477"/>
            <a:ext cx="5592184" cy="4093084"/>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fr-FR" dirty="0"/>
              <a:t>Cette présentation est à mise à disposition selon les termes de la licence Creative Commons Attribution 4.0 Internationale.</a:t>
            </a:r>
            <a:endParaRPr dirty="0"/>
          </a:p>
          <a:p>
            <a:pPr marL="0" lvl="0" indent="0" algn="l" rtl="0">
              <a:spcBef>
                <a:spcPts val="360"/>
              </a:spcBef>
              <a:spcAft>
                <a:spcPts val="0"/>
              </a:spcAft>
              <a:buNone/>
            </a:pPr>
            <a:endParaRPr dirty="0"/>
          </a:p>
          <a:p>
            <a:pPr marL="0" lvl="0" indent="0" algn="l" rtl="0">
              <a:spcBef>
                <a:spcPts val="360"/>
              </a:spcBef>
              <a:spcAft>
                <a:spcPts val="0"/>
              </a:spcAft>
              <a:buNone/>
            </a:pPr>
            <a:r>
              <a:rPr lang="fr-FR" dirty="0"/>
              <a:t>Version du : 05/12/2020</a:t>
            </a:r>
            <a:endParaRPr dirty="0"/>
          </a:p>
          <a:p>
            <a:pPr marL="0" lvl="0" indent="0" algn="l" rtl="0">
              <a:spcBef>
                <a:spcPts val="360"/>
              </a:spcBef>
              <a:spcAft>
                <a:spcPts val="0"/>
              </a:spcAft>
              <a:buNone/>
            </a:pPr>
            <a:endParaRPr dirty="0"/>
          </a:p>
          <a:p>
            <a:pPr marL="0" lvl="0" indent="0" algn="l" rtl="0">
              <a:spcBef>
                <a:spcPts val="360"/>
              </a:spcBef>
              <a:spcAft>
                <a:spcPts val="0"/>
              </a:spcAft>
              <a:buNone/>
            </a:pPr>
            <a:r>
              <a:rPr lang="fr-FR" dirty="0"/>
              <a:t>Dernière MAJ :</a:t>
            </a:r>
            <a:endParaRPr dirty="0"/>
          </a:p>
          <a:p>
            <a:pPr marL="171450" lvl="0" indent="-171450" algn="l" rtl="0">
              <a:spcBef>
                <a:spcPts val="360"/>
              </a:spcBef>
              <a:spcAft>
                <a:spcPts val="0"/>
              </a:spcAft>
              <a:buClr>
                <a:schemeClr val="dk1"/>
              </a:buClr>
              <a:buSzPts val="1200"/>
              <a:buFont typeface="Calibri"/>
              <a:buChar char="-"/>
            </a:pPr>
            <a:r>
              <a:rPr lang="fr-FR" dirty="0"/>
              <a:t>Facteur d’émission élec (cohérence avec tableur)</a:t>
            </a:r>
            <a:endParaRPr dirty="0"/>
          </a:p>
          <a:p>
            <a:pPr marL="171450" lvl="0" indent="-171450" algn="l" rtl="0">
              <a:spcBef>
                <a:spcPts val="360"/>
              </a:spcBef>
              <a:spcAft>
                <a:spcPts val="0"/>
              </a:spcAft>
              <a:buClr>
                <a:schemeClr val="dk1"/>
              </a:buClr>
              <a:buSzPts val="1200"/>
              <a:buFont typeface="Calibri"/>
              <a:buChar char="-"/>
            </a:pPr>
            <a:r>
              <a:rPr lang="fr-FR" dirty="0"/>
              <a:t>Commentaires des planches (exercice de l’axe amortissement 5 ans, 3 ans, etc.)</a:t>
            </a:r>
            <a:endParaRPr dirty="0"/>
          </a:p>
          <a:p>
            <a:pPr marL="171450" lvl="0" indent="-171450" algn="l" rtl="0">
              <a:spcBef>
                <a:spcPts val="360"/>
              </a:spcBef>
              <a:spcAft>
                <a:spcPts val="0"/>
              </a:spcAft>
              <a:buClr>
                <a:schemeClr val="dk1"/>
              </a:buClr>
              <a:buSzPts val="1200"/>
              <a:buFont typeface="Calibri"/>
              <a:buChar char="-"/>
            </a:pPr>
            <a:r>
              <a:rPr lang="fr-FR" dirty="0"/>
              <a:t>Animation des quizz </a:t>
            </a:r>
            <a:endParaRPr dirty="0"/>
          </a:p>
        </p:txBody>
      </p:sp>
      <p:sp>
        <p:nvSpPr>
          <p:cNvPr id="56" name="Google Shape;56;p1:notes"/>
          <p:cNvSpPr txBox="1">
            <a:spLocks noGrp="1"/>
          </p:cNvSpPr>
          <p:nvPr>
            <p:ph type="sldNum" idx="12"/>
          </p:nvPr>
        </p:nvSpPr>
        <p:spPr>
          <a:xfrm>
            <a:off x="3959513" y="8639378"/>
            <a:ext cx="3029099" cy="454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a:t>
            </a:fld>
            <a:endParaRPr/>
          </a:p>
        </p:txBody>
      </p:sp>
    </p:spTree>
    <p:extLst>
      <p:ext uri="{BB962C8B-B14F-4D97-AF65-F5344CB8AC3E}">
        <p14:creationId xmlns:p14="http://schemas.microsoft.com/office/powerpoint/2010/main" val="31744886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a:spLocks noGrp="1" noRot="1" noChangeAspect="1"/>
          </p:cNvSpPr>
          <p:nvPr>
            <p:ph type="sldImg" idx="2"/>
          </p:nvPr>
        </p:nvSpPr>
        <p:spPr>
          <a:xfrm>
            <a:off x="465138" y="682625"/>
            <a:ext cx="6061075" cy="34099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3:notes"/>
          <p:cNvSpPr txBox="1">
            <a:spLocks noGrp="1"/>
          </p:cNvSpPr>
          <p:nvPr>
            <p:ph type="body" idx="1"/>
          </p:nvPr>
        </p:nvSpPr>
        <p:spPr>
          <a:xfrm>
            <a:off x="699023" y="4320477"/>
            <a:ext cx="5592184" cy="4093084"/>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fr-FR" b="0" u="none" dirty="0"/>
              <a:t>Passez rapidement sans lire le détail, objectif est de mentionner les deux associations.</a:t>
            </a:r>
            <a:endParaRPr b="0" u="none" dirty="0"/>
          </a:p>
        </p:txBody>
      </p:sp>
      <p:sp>
        <p:nvSpPr>
          <p:cNvPr id="99" name="Google Shape;99;p3:notes"/>
          <p:cNvSpPr txBox="1">
            <a:spLocks noGrp="1"/>
          </p:cNvSpPr>
          <p:nvPr>
            <p:ph type="sldNum" idx="12"/>
          </p:nvPr>
        </p:nvSpPr>
        <p:spPr>
          <a:xfrm>
            <a:off x="3959513" y="8639378"/>
            <a:ext cx="3029099" cy="454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a:t>
            </a:fld>
            <a:endParaRPr/>
          </a:p>
        </p:txBody>
      </p:sp>
    </p:spTree>
    <p:extLst>
      <p:ext uri="{BB962C8B-B14F-4D97-AF65-F5344CB8AC3E}">
        <p14:creationId xmlns:p14="http://schemas.microsoft.com/office/powerpoint/2010/main" val="28169051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21:notes"/>
          <p:cNvSpPr>
            <a:spLocks noGrp="1" noRot="1" noChangeAspect="1"/>
          </p:cNvSpPr>
          <p:nvPr>
            <p:ph type="sldImg" idx="2"/>
          </p:nvPr>
        </p:nvSpPr>
        <p:spPr>
          <a:xfrm>
            <a:off x="465138" y="682625"/>
            <a:ext cx="6061075" cy="34099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69" name="Google Shape;369;p21:notes"/>
          <p:cNvSpPr txBox="1">
            <a:spLocks noGrp="1"/>
          </p:cNvSpPr>
          <p:nvPr>
            <p:ph type="body" idx="1"/>
          </p:nvPr>
        </p:nvSpPr>
        <p:spPr>
          <a:xfrm>
            <a:off x="699023" y="4320477"/>
            <a:ext cx="5592184" cy="4093084"/>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sz="1000">
              <a:latin typeface="Arial"/>
              <a:ea typeface="Arial"/>
              <a:cs typeface="Arial"/>
              <a:sym typeface="Arial"/>
            </a:endParaRPr>
          </a:p>
        </p:txBody>
      </p:sp>
      <p:sp>
        <p:nvSpPr>
          <p:cNvPr id="370" name="Google Shape;370;p21:notes"/>
          <p:cNvSpPr txBox="1">
            <a:spLocks noGrp="1"/>
          </p:cNvSpPr>
          <p:nvPr>
            <p:ph type="sldNum" idx="12"/>
          </p:nvPr>
        </p:nvSpPr>
        <p:spPr>
          <a:xfrm>
            <a:off x="3959513" y="8639378"/>
            <a:ext cx="3029099" cy="454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a:t>
            </a:fld>
            <a:endParaRPr/>
          </a:p>
        </p:txBody>
      </p:sp>
    </p:spTree>
    <p:extLst>
      <p:ext uri="{BB962C8B-B14F-4D97-AF65-F5344CB8AC3E}">
        <p14:creationId xmlns:p14="http://schemas.microsoft.com/office/powerpoint/2010/main" val="19365040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22:notes"/>
          <p:cNvSpPr txBox="1">
            <a:spLocks noGrp="1"/>
          </p:cNvSpPr>
          <p:nvPr>
            <p:ph type="body" idx="1"/>
          </p:nvPr>
        </p:nvSpPr>
        <p:spPr>
          <a:xfrm>
            <a:off x="699023" y="4320477"/>
            <a:ext cx="5592184" cy="4093084"/>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85" name="Google Shape;385;p22:notes"/>
          <p:cNvSpPr>
            <a:spLocks noGrp="1" noRot="1" noChangeAspect="1"/>
          </p:cNvSpPr>
          <p:nvPr>
            <p:ph type="sldImg" idx="2"/>
          </p:nvPr>
        </p:nvSpPr>
        <p:spPr>
          <a:xfrm>
            <a:off x="465138" y="682625"/>
            <a:ext cx="6061075" cy="34099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83396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p35:notes"/>
          <p:cNvSpPr txBox="1">
            <a:spLocks noGrp="1"/>
          </p:cNvSpPr>
          <p:nvPr>
            <p:ph type="sldNum" idx="12"/>
          </p:nvPr>
        </p:nvSpPr>
        <p:spPr>
          <a:xfrm>
            <a:off x="3959513" y="8639378"/>
            <a:ext cx="3029099" cy="454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fr-FR" sz="1200">
                <a:solidFill>
                  <a:schemeClr val="dk1"/>
                </a:solidFill>
                <a:latin typeface="Arial"/>
                <a:ea typeface="Arial"/>
                <a:cs typeface="Arial"/>
                <a:sym typeface="Arial"/>
              </a:rPr>
              <a:t>5</a:t>
            </a:fld>
            <a:endParaRPr sz="1200">
              <a:solidFill>
                <a:schemeClr val="dk1"/>
              </a:solidFill>
              <a:latin typeface="Arial"/>
              <a:ea typeface="Arial"/>
              <a:cs typeface="Arial"/>
              <a:sym typeface="Arial"/>
            </a:endParaRPr>
          </a:p>
        </p:txBody>
      </p:sp>
      <p:sp>
        <p:nvSpPr>
          <p:cNvPr id="643" name="Google Shape;643;p35:notes"/>
          <p:cNvSpPr>
            <a:spLocks noGrp="1" noRot="1" noChangeAspect="1"/>
          </p:cNvSpPr>
          <p:nvPr>
            <p:ph type="sldImg" idx="2"/>
          </p:nvPr>
        </p:nvSpPr>
        <p:spPr>
          <a:xfrm>
            <a:off x="469900" y="692150"/>
            <a:ext cx="6026150" cy="338931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4" name="Google Shape;644;p35:notes"/>
          <p:cNvSpPr txBox="1">
            <a:spLocks noGrp="1"/>
          </p:cNvSpPr>
          <p:nvPr>
            <p:ph type="body" idx="1"/>
          </p:nvPr>
        </p:nvSpPr>
        <p:spPr>
          <a:xfrm>
            <a:off x="699024" y="4320478"/>
            <a:ext cx="5571149" cy="4072556"/>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80000"/>
              </a:lnSpc>
              <a:spcBef>
                <a:spcPts val="0"/>
              </a:spcBef>
              <a:spcAft>
                <a:spcPts val="0"/>
              </a:spcAft>
              <a:buNone/>
            </a:pPr>
            <a:endParaRPr lang="fr-FR" sz="1110" dirty="0">
              <a:latin typeface="Arial"/>
              <a:ea typeface="Arial"/>
              <a:cs typeface="Arial"/>
              <a:sym typeface="Arial"/>
            </a:endParaRPr>
          </a:p>
          <a:p>
            <a:pPr marL="0" lvl="0" indent="0" algn="l" rtl="0">
              <a:lnSpc>
                <a:spcPct val="80000"/>
              </a:lnSpc>
              <a:spcBef>
                <a:spcPts val="0"/>
              </a:spcBef>
              <a:spcAft>
                <a:spcPts val="0"/>
              </a:spcAft>
              <a:buNone/>
            </a:pPr>
            <a:r>
              <a:rPr lang="fr-FR" sz="1110" dirty="0">
                <a:latin typeface="Arial"/>
                <a:ea typeface="Arial"/>
                <a:cs typeface="Arial"/>
                <a:sym typeface="Arial"/>
              </a:rPr>
              <a:t>Source 2013 car dernier rapport du GIEC avant celui de aout 2021 (délais trop court pour mise à jour de la présentation)</a:t>
            </a:r>
          </a:p>
          <a:p>
            <a:pPr marL="0" lvl="0" indent="0" algn="l" rtl="0">
              <a:lnSpc>
                <a:spcPct val="80000"/>
              </a:lnSpc>
              <a:spcBef>
                <a:spcPts val="0"/>
              </a:spcBef>
              <a:spcAft>
                <a:spcPts val="0"/>
              </a:spcAft>
              <a:buNone/>
            </a:pPr>
            <a:endParaRPr lang="fr-FR" sz="1110" dirty="0">
              <a:latin typeface="Arial"/>
              <a:ea typeface="Arial"/>
              <a:cs typeface="Arial"/>
              <a:sym typeface="Arial"/>
            </a:endParaRPr>
          </a:p>
          <a:p>
            <a:pPr marL="0" lvl="0" indent="0" algn="l" rtl="0">
              <a:lnSpc>
                <a:spcPct val="80000"/>
              </a:lnSpc>
              <a:spcBef>
                <a:spcPts val="0"/>
              </a:spcBef>
              <a:spcAft>
                <a:spcPts val="0"/>
              </a:spcAft>
              <a:buNone/>
            </a:pPr>
            <a:r>
              <a:rPr lang="fr-FR" sz="1110" dirty="0">
                <a:latin typeface="Arial"/>
                <a:ea typeface="Arial"/>
                <a:cs typeface="Arial"/>
                <a:sym typeface="Arial"/>
              </a:rPr>
              <a:t>Mais d’après le site Transition Ecologique du gouvernement (</a:t>
            </a:r>
            <a:r>
              <a:rPr lang="fr-FR" sz="1110" dirty="0" err="1">
                <a:latin typeface="Arial"/>
                <a:ea typeface="Arial"/>
                <a:cs typeface="Arial"/>
                <a:sym typeface="Arial"/>
              </a:rPr>
              <a:t>cf</a:t>
            </a:r>
            <a:r>
              <a:rPr lang="fr-FR" sz="1110" dirty="0">
                <a:latin typeface="Arial"/>
                <a:ea typeface="Arial"/>
                <a:cs typeface="Arial"/>
                <a:sym typeface="Arial"/>
              </a:rPr>
              <a:t> partie 2 de https://www.statistiques.developpement-durable.gouv.fr/sites/default/files/2020-12/datalab_81_chiffres_cles_du_climat_edition_2021.pdf):</a:t>
            </a:r>
          </a:p>
          <a:p>
            <a:pPr marL="0" lvl="0" indent="0" algn="l" rtl="0">
              <a:lnSpc>
                <a:spcPct val="80000"/>
              </a:lnSpc>
              <a:spcBef>
                <a:spcPts val="0"/>
              </a:spcBef>
              <a:spcAft>
                <a:spcPts val="0"/>
              </a:spcAft>
              <a:buNone/>
            </a:pPr>
            <a:r>
              <a:rPr lang="fr-FR" sz="1110" dirty="0">
                <a:latin typeface="Arial"/>
                <a:ea typeface="Arial"/>
                <a:cs typeface="Arial"/>
                <a:sym typeface="Arial"/>
              </a:rPr>
              <a:t>« </a:t>
            </a:r>
            <a:r>
              <a:rPr lang="fr-FR" sz="1100" dirty="0"/>
              <a:t> Les émissions de GES liées aux activités humaines (incluant l’UTCATF) représentent l’équivalent de 55,3 milliards de tonnes de CO2 (Gt CO2 </a:t>
            </a:r>
            <a:r>
              <a:rPr lang="fr-FR" sz="1100" dirty="0" err="1"/>
              <a:t>éq</a:t>
            </a:r>
            <a:r>
              <a:rPr lang="fr-FR" sz="1100" dirty="0"/>
              <a:t>) en 2018. Le CO2 lui-même représente les trois quarts de ces émissions, contre un quart pour les autres GES. En 2018, ces émissions mondiales de CO2 ont augmenté de 1,9 %. Elles ont progressé de plus de 65 % entre 1990 et 2018, avec des évolutions contrastées selon les pays. La Chine représente 30 % de ces émissions, les États-Unis 14 % et l’Union européenne 8 %. En moyenne mondiale, les émissions ramenées à la population sont de 5,0 tonnes de CO2 par an et par habitant, soit 16 % de plus qu’en 1990. »</a:t>
            </a:r>
            <a:endParaRPr lang="fr-FR" sz="1110" dirty="0">
              <a:latin typeface="Arial"/>
              <a:ea typeface="Arial"/>
              <a:cs typeface="Arial"/>
              <a:sym typeface="Arial"/>
            </a:endParaRPr>
          </a:p>
          <a:p>
            <a:pPr marL="0" lvl="0" indent="0" algn="l" rtl="0">
              <a:lnSpc>
                <a:spcPct val="80000"/>
              </a:lnSpc>
              <a:spcBef>
                <a:spcPts val="0"/>
              </a:spcBef>
              <a:spcAft>
                <a:spcPts val="0"/>
              </a:spcAft>
              <a:buNone/>
            </a:pPr>
            <a:endParaRPr lang="fr-FR" sz="1110" dirty="0">
              <a:latin typeface="Arial"/>
              <a:ea typeface="Arial"/>
              <a:cs typeface="Arial"/>
              <a:sym typeface="Arial"/>
            </a:endParaRPr>
          </a:p>
          <a:p>
            <a:pPr marL="0" lvl="0" indent="0" algn="l" rtl="0">
              <a:lnSpc>
                <a:spcPct val="80000"/>
              </a:lnSpc>
              <a:spcBef>
                <a:spcPts val="0"/>
              </a:spcBef>
              <a:spcAft>
                <a:spcPts val="0"/>
              </a:spcAft>
              <a:buNone/>
            </a:pPr>
            <a:r>
              <a:rPr lang="fr-FR" sz="1110" dirty="0">
                <a:latin typeface="Arial"/>
                <a:ea typeface="Arial"/>
                <a:cs typeface="Arial"/>
                <a:sym typeface="Arial"/>
              </a:rPr>
              <a:t>Dans la slide, le diagramme circulaire présente la décomposition de l’effet de serre additionnel dû aux GES émis par l’Homme chaque année. Profite des animations pour les faire deviner à la salle.</a:t>
            </a:r>
            <a:endParaRPr dirty="0"/>
          </a:p>
          <a:p>
            <a:pPr marL="0" lvl="0" indent="0" algn="l" rtl="0">
              <a:lnSpc>
                <a:spcPct val="80000"/>
              </a:lnSpc>
              <a:spcBef>
                <a:spcPts val="333"/>
              </a:spcBef>
              <a:spcAft>
                <a:spcPts val="0"/>
              </a:spcAft>
              <a:buNone/>
            </a:pPr>
            <a:endParaRPr sz="1110" dirty="0">
              <a:latin typeface="Arial"/>
              <a:ea typeface="Arial"/>
              <a:cs typeface="Arial"/>
              <a:sym typeface="Arial"/>
            </a:endParaRPr>
          </a:p>
          <a:p>
            <a:pPr marL="0" lvl="0" indent="-70485" algn="l" rtl="0">
              <a:lnSpc>
                <a:spcPct val="80000"/>
              </a:lnSpc>
              <a:spcBef>
                <a:spcPts val="333"/>
              </a:spcBef>
              <a:spcAft>
                <a:spcPts val="0"/>
              </a:spcAft>
              <a:buClr>
                <a:schemeClr val="dk1"/>
              </a:buClr>
              <a:buSzPts val="1110"/>
              <a:buFont typeface="Arial"/>
              <a:buChar char="•"/>
            </a:pPr>
            <a:r>
              <a:rPr lang="fr-FR" sz="1110" dirty="0">
                <a:latin typeface="Arial"/>
                <a:ea typeface="Arial"/>
                <a:cs typeface="Arial"/>
                <a:sym typeface="Arial"/>
              </a:rPr>
              <a:t>1</a:t>
            </a:r>
            <a:r>
              <a:rPr lang="fr-FR" sz="1110" baseline="30000" dirty="0">
                <a:latin typeface="Arial"/>
                <a:ea typeface="Arial"/>
                <a:cs typeface="Arial"/>
                <a:sym typeface="Arial"/>
              </a:rPr>
              <a:t>ère</a:t>
            </a:r>
            <a:r>
              <a:rPr lang="fr-FR" sz="1110" dirty="0">
                <a:latin typeface="Arial"/>
                <a:ea typeface="Arial"/>
                <a:cs typeface="Arial"/>
                <a:sym typeface="Arial"/>
              </a:rPr>
              <a:t> animation : CO</a:t>
            </a:r>
            <a:r>
              <a:rPr lang="fr-FR" sz="1110" baseline="-25000" dirty="0">
                <a:latin typeface="Arial"/>
                <a:ea typeface="Arial"/>
                <a:cs typeface="Arial"/>
                <a:sym typeface="Arial"/>
              </a:rPr>
              <a:t>2</a:t>
            </a:r>
            <a:r>
              <a:rPr lang="fr-FR" sz="1110" dirty="0">
                <a:latin typeface="Arial"/>
                <a:ea typeface="Arial"/>
                <a:cs typeface="Arial"/>
                <a:sym typeface="Arial"/>
              </a:rPr>
              <a:t> issues de combustibles fossiles (= pétrole, charbon et gaz), de la déforestation ainsi que d’autres sources (industries dont les réactions chimiques libèrent du CO</a:t>
            </a:r>
            <a:r>
              <a:rPr lang="fr-FR" sz="1110" baseline="-25000" dirty="0">
                <a:latin typeface="Arial"/>
                <a:ea typeface="Arial"/>
                <a:cs typeface="Arial"/>
                <a:sym typeface="Arial"/>
              </a:rPr>
              <a:t>2</a:t>
            </a:r>
            <a:r>
              <a:rPr lang="fr-FR" sz="1110" dirty="0">
                <a:latin typeface="Arial"/>
                <a:ea typeface="Arial"/>
                <a:cs typeface="Arial"/>
                <a:sym typeface="Arial"/>
              </a:rPr>
              <a:t>, telles qu’aciéries, cimenteries par exemple).</a:t>
            </a:r>
            <a:endParaRPr dirty="0"/>
          </a:p>
          <a:p>
            <a:pPr marL="0" lvl="0" indent="0" algn="l" rtl="0">
              <a:lnSpc>
                <a:spcPct val="80000"/>
              </a:lnSpc>
              <a:spcBef>
                <a:spcPts val="333"/>
              </a:spcBef>
              <a:spcAft>
                <a:spcPts val="0"/>
              </a:spcAft>
              <a:buNone/>
            </a:pPr>
            <a:endParaRPr sz="1110" dirty="0">
              <a:latin typeface="Arial"/>
              <a:ea typeface="Arial"/>
              <a:cs typeface="Arial"/>
              <a:sym typeface="Arial"/>
            </a:endParaRPr>
          </a:p>
          <a:p>
            <a:pPr marL="0" lvl="0" indent="-70485" algn="l" rtl="0">
              <a:lnSpc>
                <a:spcPct val="80000"/>
              </a:lnSpc>
              <a:spcBef>
                <a:spcPts val="333"/>
              </a:spcBef>
              <a:spcAft>
                <a:spcPts val="0"/>
              </a:spcAft>
              <a:buClr>
                <a:schemeClr val="dk1"/>
              </a:buClr>
              <a:buSzPts val="1110"/>
              <a:buFont typeface="Arial"/>
              <a:buChar char="•"/>
            </a:pPr>
            <a:r>
              <a:rPr lang="fr-FR" sz="1110" dirty="0">
                <a:latin typeface="Arial"/>
                <a:ea typeface="Arial"/>
                <a:cs typeface="Arial"/>
                <a:sym typeface="Arial"/>
              </a:rPr>
              <a:t>2</a:t>
            </a:r>
            <a:r>
              <a:rPr lang="fr-FR" sz="1110" baseline="30000" dirty="0">
                <a:latin typeface="Arial"/>
                <a:ea typeface="Arial"/>
                <a:cs typeface="Arial"/>
                <a:sym typeface="Arial"/>
              </a:rPr>
              <a:t>ème</a:t>
            </a:r>
            <a:r>
              <a:rPr lang="fr-FR" sz="1110" dirty="0">
                <a:latin typeface="Arial"/>
                <a:ea typeface="Arial"/>
                <a:cs typeface="Arial"/>
                <a:sym typeface="Arial"/>
              </a:rPr>
              <a:t> animation : le méthane se forme dès qu’une matière organique se décompose dans un milieu avec peu d’oxygène : fermentation dans les estomacs des ruminants, rizières, décharges, brûlis, …</a:t>
            </a:r>
            <a:endParaRPr dirty="0"/>
          </a:p>
          <a:p>
            <a:pPr marL="0" lvl="0" indent="0" algn="l" rtl="0">
              <a:lnSpc>
                <a:spcPct val="80000"/>
              </a:lnSpc>
              <a:spcBef>
                <a:spcPts val="333"/>
              </a:spcBef>
              <a:spcAft>
                <a:spcPts val="0"/>
              </a:spcAft>
              <a:buNone/>
            </a:pPr>
            <a:endParaRPr sz="1110" dirty="0">
              <a:latin typeface="Arial"/>
              <a:ea typeface="Arial"/>
              <a:cs typeface="Arial"/>
              <a:sym typeface="Arial"/>
            </a:endParaRPr>
          </a:p>
          <a:p>
            <a:pPr marL="0" lvl="0" indent="-70485" algn="l" rtl="0">
              <a:lnSpc>
                <a:spcPct val="80000"/>
              </a:lnSpc>
              <a:spcBef>
                <a:spcPts val="333"/>
              </a:spcBef>
              <a:spcAft>
                <a:spcPts val="0"/>
              </a:spcAft>
              <a:buClr>
                <a:schemeClr val="dk1"/>
              </a:buClr>
              <a:buSzPts val="1110"/>
              <a:buFont typeface="Arial"/>
              <a:buChar char="•"/>
            </a:pPr>
            <a:r>
              <a:rPr lang="fr-FR" sz="1110" dirty="0">
                <a:latin typeface="Arial"/>
                <a:ea typeface="Arial"/>
                <a:cs typeface="Arial"/>
                <a:sym typeface="Arial"/>
              </a:rPr>
              <a:t>3</a:t>
            </a:r>
            <a:r>
              <a:rPr lang="fr-FR" sz="1110" baseline="30000" dirty="0">
                <a:latin typeface="Arial"/>
                <a:ea typeface="Arial"/>
                <a:cs typeface="Arial"/>
                <a:sym typeface="Arial"/>
              </a:rPr>
              <a:t>ème</a:t>
            </a:r>
            <a:r>
              <a:rPr lang="fr-FR" sz="1110" dirty="0">
                <a:latin typeface="Arial"/>
                <a:ea typeface="Arial"/>
                <a:cs typeface="Arial"/>
                <a:sym typeface="Arial"/>
              </a:rPr>
              <a:t> animation : N</a:t>
            </a:r>
            <a:r>
              <a:rPr lang="fr-FR" sz="1110" baseline="-25000" dirty="0">
                <a:latin typeface="Arial"/>
                <a:ea typeface="Arial"/>
                <a:cs typeface="Arial"/>
                <a:sym typeface="Arial"/>
              </a:rPr>
              <a:t>2</a:t>
            </a:r>
            <a:r>
              <a:rPr lang="fr-FR" sz="1110" dirty="0">
                <a:latin typeface="Arial"/>
                <a:ea typeface="Arial"/>
                <a:cs typeface="Arial"/>
                <a:sym typeface="Arial"/>
              </a:rPr>
              <a:t>O, protoxyde d’azote, oxyde nitreux ou encore gaz hilarant qui pour le coup l’est beaucoup moins. Il provient des engrais et de l’industrie chimique.</a:t>
            </a:r>
            <a:endParaRPr dirty="0"/>
          </a:p>
          <a:p>
            <a:pPr marL="0" lvl="0" indent="0" algn="l" rtl="0">
              <a:lnSpc>
                <a:spcPct val="80000"/>
              </a:lnSpc>
              <a:spcBef>
                <a:spcPts val="333"/>
              </a:spcBef>
              <a:spcAft>
                <a:spcPts val="0"/>
              </a:spcAft>
              <a:buNone/>
            </a:pPr>
            <a:endParaRPr sz="1110" dirty="0">
              <a:latin typeface="Arial"/>
              <a:ea typeface="Arial"/>
              <a:cs typeface="Arial"/>
              <a:sym typeface="Arial"/>
            </a:endParaRPr>
          </a:p>
          <a:p>
            <a:pPr marL="0" lvl="0" indent="-70485" algn="l" rtl="0">
              <a:lnSpc>
                <a:spcPct val="80000"/>
              </a:lnSpc>
              <a:spcBef>
                <a:spcPts val="333"/>
              </a:spcBef>
              <a:spcAft>
                <a:spcPts val="0"/>
              </a:spcAft>
              <a:buClr>
                <a:schemeClr val="dk1"/>
              </a:buClr>
              <a:buSzPts val="1110"/>
              <a:buFont typeface="Arial"/>
              <a:buChar char="•"/>
            </a:pPr>
            <a:r>
              <a:rPr lang="fr-FR" sz="1110" dirty="0">
                <a:latin typeface="Arial"/>
                <a:ea typeface="Arial"/>
                <a:cs typeface="Arial"/>
                <a:sym typeface="Arial"/>
              </a:rPr>
              <a:t>4</a:t>
            </a:r>
            <a:r>
              <a:rPr lang="fr-FR" sz="1110" baseline="30000" dirty="0">
                <a:latin typeface="Arial"/>
                <a:ea typeface="Arial"/>
                <a:cs typeface="Arial"/>
                <a:sym typeface="Arial"/>
              </a:rPr>
              <a:t>ème</a:t>
            </a:r>
            <a:r>
              <a:rPr lang="fr-FR" sz="1110" dirty="0">
                <a:latin typeface="Arial"/>
                <a:ea typeface="Arial"/>
                <a:cs typeface="Arial"/>
                <a:sym typeface="Arial"/>
              </a:rPr>
              <a:t> animation : gaz fluorés tels que les CFC (chlorofluorocarbures), HFC (hydrofluorocarbures), le SF6 (</a:t>
            </a:r>
            <a:r>
              <a:rPr lang="fr-FR" sz="1110" dirty="0" err="1">
                <a:latin typeface="Arial"/>
                <a:ea typeface="Arial"/>
                <a:cs typeface="Arial"/>
                <a:sym typeface="Arial"/>
              </a:rPr>
              <a:t>hexafluore</a:t>
            </a:r>
            <a:r>
              <a:rPr lang="fr-FR" sz="1110" dirty="0">
                <a:latin typeface="Arial"/>
                <a:ea typeface="Arial"/>
                <a:cs typeface="Arial"/>
                <a:sym typeface="Arial"/>
              </a:rPr>
              <a:t> de soufre), etc… Si les 3 précédents gaz ont des sources naturelles et sont progressivement éliminés par l’environnement, ceux-ci sont 100% synthétiques et quasi-indestructibles. Il ne faut donc surtout pas les négliger.</a:t>
            </a:r>
            <a:endParaRPr dirty="0"/>
          </a:p>
          <a:p>
            <a:pPr marL="0" lvl="0" indent="0" algn="l" rtl="0">
              <a:lnSpc>
                <a:spcPct val="80000"/>
              </a:lnSpc>
              <a:spcBef>
                <a:spcPts val="333"/>
              </a:spcBef>
              <a:spcAft>
                <a:spcPts val="0"/>
              </a:spcAft>
              <a:buNone/>
            </a:pPr>
            <a:endParaRPr sz="1110" dirty="0">
              <a:latin typeface="Arial"/>
              <a:ea typeface="Arial"/>
              <a:cs typeface="Arial"/>
              <a:sym typeface="Arial"/>
            </a:endParaRPr>
          </a:p>
          <a:p>
            <a:pPr marL="0" lvl="0" indent="0" algn="l" rtl="0">
              <a:lnSpc>
                <a:spcPct val="80000"/>
              </a:lnSpc>
              <a:spcBef>
                <a:spcPts val="333"/>
              </a:spcBef>
              <a:spcAft>
                <a:spcPts val="0"/>
              </a:spcAft>
              <a:buNone/>
            </a:pPr>
            <a:r>
              <a:rPr lang="fr-FR" sz="1110" dirty="0">
                <a:latin typeface="Arial"/>
                <a:ea typeface="Arial"/>
                <a:cs typeface="Arial"/>
                <a:sym typeface="Arial"/>
              </a:rPr>
              <a:t>Le CO</a:t>
            </a:r>
            <a:r>
              <a:rPr lang="fr-FR" sz="1110" baseline="-25000" dirty="0">
                <a:latin typeface="Arial"/>
                <a:ea typeface="Arial"/>
                <a:cs typeface="Arial"/>
                <a:sym typeface="Arial"/>
              </a:rPr>
              <a:t>2</a:t>
            </a:r>
            <a:r>
              <a:rPr lang="fr-FR" sz="1110" dirty="0">
                <a:latin typeface="Arial"/>
                <a:ea typeface="Arial"/>
                <a:cs typeface="Arial"/>
                <a:sym typeface="Arial"/>
              </a:rPr>
              <a:t> représente environ 3/4 de l’effet de serre additionnel dû aux GES émis par l’Homme ces dernières années. Ce sera donc notre « dollar », notre unité de référence. Nous rapporterons toutes les autres émissions à des émissions équivalentes de CO</a:t>
            </a:r>
            <a:r>
              <a:rPr lang="fr-FR" sz="1110" baseline="-25000" dirty="0">
                <a:latin typeface="Arial"/>
                <a:ea typeface="Arial"/>
                <a:cs typeface="Arial"/>
                <a:sym typeface="Arial"/>
              </a:rPr>
              <a:t>2</a:t>
            </a:r>
            <a:r>
              <a:rPr lang="fr-FR" sz="1110" dirty="0">
                <a:latin typeface="Arial"/>
                <a:ea typeface="Arial"/>
                <a:cs typeface="Arial"/>
                <a:sym typeface="Arial"/>
              </a:rPr>
              <a:t>.</a:t>
            </a:r>
            <a:endParaRPr dirty="0"/>
          </a:p>
        </p:txBody>
      </p:sp>
    </p:spTree>
    <p:extLst>
      <p:ext uri="{BB962C8B-B14F-4D97-AF65-F5344CB8AC3E}">
        <p14:creationId xmlns:p14="http://schemas.microsoft.com/office/powerpoint/2010/main" val="30631202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p36:notes"/>
          <p:cNvSpPr txBox="1">
            <a:spLocks noGrp="1"/>
          </p:cNvSpPr>
          <p:nvPr>
            <p:ph type="sldNum" idx="12"/>
          </p:nvPr>
        </p:nvSpPr>
        <p:spPr>
          <a:xfrm>
            <a:off x="3959513" y="8639378"/>
            <a:ext cx="3029099" cy="454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fr-FR" sz="1200">
                <a:solidFill>
                  <a:schemeClr val="dk1"/>
                </a:solidFill>
                <a:latin typeface="Arial"/>
                <a:ea typeface="Arial"/>
                <a:cs typeface="Arial"/>
                <a:sym typeface="Arial"/>
              </a:rPr>
              <a:t>6</a:t>
            </a:fld>
            <a:endParaRPr sz="1200">
              <a:solidFill>
                <a:schemeClr val="dk1"/>
              </a:solidFill>
              <a:latin typeface="Arial"/>
              <a:ea typeface="Arial"/>
              <a:cs typeface="Arial"/>
              <a:sym typeface="Arial"/>
            </a:endParaRPr>
          </a:p>
        </p:txBody>
      </p:sp>
      <p:sp>
        <p:nvSpPr>
          <p:cNvPr id="683" name="Google Shape;683;p36:notes"/>
          <p:cNvSpPr txBox="1"/>
          <p:nvPr/>
        </p:nvSpPr>
        <p:spPr>
          <a:xfrm>
            <a:off x="3957895" y="8639378"/>
            <a:ext cx="3008065" cy="432680"/>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fld id="{00000000-1234-1234-1234-123412341234}" type="slidenum">
              <a:rPr lang="fr-FR" sz="1100">
                <a:solidFill>
                  <a:srgbClr val="000000"/>
                </a:solidFill>
                <a:latin typeface="Times New Roman"/>
                <a:ea typeface="Times New Roman"/>
                <a:cs typeface="Times New Roman"/>
                <a:sym typeface="Times New Roman"/>
              </a:rPr>
              <a:t>6</a:t>
            </a:fld>
            <a:endParaRPr sz="1100">
              <a:solidFill>
                <a:srgbClr val="000000"/>
              </a:solidFill>
              <a:latin typeface="Times New Roman"/>
              <a:ea typeface="Times New Roman"/>
              <a:cs typeface="Times New Roman"/>
              <a:sym typeface="Times New Roman"/>
            </a:endParaRPr>
          </a:p>
        </p:txBody>
      </p:sp>
      <p:sp>
        <p:nvSpPr>
          <p:cNvPr id="684" name="Google Shape;684;p36:notes"/>
          <p:cNvSpPr>
            <a:spLocks noGrp="1" noRot="1" noChangeAspect="1"/>
          </p:cNvSpPr>
          <p:nvPr>
            <p:ph type="sldImg" idx="2"/>
          </p:nvPr>
        </p:nvSpPr>
        <p:spPr>
          <a:xfrm>
            <a:off x="466725" y="692150"/>
            <a:ext cx="6043613" cy="33988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85" name="Google Shape;685;p36:notes"/>
          <p:cNvSpPr txBox="1">
            <a:spLocks noGrp="1"/>
          </p:cNvSpPr>
          <p:nvPr>
            <p:ph type="body" idx="1"/>
          </p:nvPr>
        </p:nvSpPr>
        <p:spPr>
          <a:xfrm>
            <a:off x="699023" y="4320477"/>
            <a:ext cx="5580857" cy="4082031"/>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None/>
            </a:pPr>
            <a:r>
              <a:rPr lang="fr-FR" dirty="0">
                <a:latin typeface="Arial"/>
                <a:ea typeface="Arial"/>
                <a:cs typeface="Arial"/>
                <a:sym typeface="Arial"/>
              </a:rPr>
              <a:t>Des études scientifiques ont permis de déterminer pour chaque kg d’un GES émis dans l’atmosphère la masse équivalente de CO</a:t>
            </a:r>
            <a:r>
              <a:rPr lang="fr-FR" baseline="-25000" dirty="0">
                <a:latin typeface="Arial"/>
                <a:ea typeface="Arial"/>
                <a:cs typeface="Arial"/>
                <a:sym typeface="Arial"/>
              </a:rPr>
              <a:t>2</a:t>
            </a:r>
            <a:r>
              <a:rPr lang="fr-FR" dirty="0">
                <a:latin typeface="Arial"/>
                <a:ea typeface="Arial"/>
                <a:cs typeface="Arial"/>
                <a:sym typeface="Arial"/>
              </a:rPr>
              <a:t> qui provoquerait le même réchauffement sur une durée de 100 ans. </a:t>
            </a:r>
            <a:endParaRPr dirty="0"/>
          </a:p>
          <a:p>
            <a:pPr marL="0" lvl="0" indent="0" algn="l" rtl="0">
              <a:spcBef>
                <a:spcPts val="360"/>
              </a:spcBef>
              <a:spcAft>
                <a:spcPts val="0"/>
              </a:spcAft>
              <a:buNone/>
            </a:pPr>
            <a:r>
              <a:rPr lang="fr-FR" dirty="0">
                <a:latin typeface="Arial"/>
                <a:ea typeface="Arial"/>
                <a:cs typeface="Arial"/>
                <a:sym typeface="Arial"/>
              </a:rPr>
              <a:t>Il existe donc un facteur de conversion pour chaque GES, appelé Pouvoir de Réchauffement Global (PRG), et qui permet de tout rapporter au CO</a:t>
            </a:r>
            <a:r>
              <a:rPr lang="fr-FR" baseline="-25000" dirty="0">
                <a:latin typeface="Arial"/>
                <a:ea typeface="Arial"/>
                <a:cs typeface="Arial"/>
                <a:sym typeface="Arial"/>
              </a:rPr>
              <a:t>2</a:t>
            </a:r>
            <a:r>
              <a:rPr lang="fr-FR" dirty="0">
                <a:latin typeface="Arial"/>
                <a:ea typeface="Arial"/>
                <a:cs typeface="Arial"/>
                <a:sym typeface="Arial"/>
              </a:rPr>
              <a:t>, de la même manière qu’il existe un facteur de conversion pour chaque monnaie, appelé taux de change, qui permet de tout rapporter au dollar. A la différence du taux de change de chaque monnaie cependant, le PRG de chaque gaz ne varie pas dans le temps.</a:t>
            </a:r>
            <a:endParaRPr dirty="0"/>
          </a:p>
          <a:p>
            <a:pPr marL="0" lvl="0" indent="0" algn="l" rtl="0">
              <a:spcBef>
                <a:spcPts val="360"/>
              </a:spcBef>
              <a:spcAft>
                <a:spcPts val="0"/>
              </a:spcAft>
              <a:buNone/>
            </a:pPr>
            <a:endParaRPr dirty="0">
              <a:latin typeface="Arial"/>
              <a:ea typeface="Arial"/>
              <a:cs typeface="Arial"/>
              <a:sym typeface="Arial"/>
            </a:endParaRPr>
          </a:p>
          <a:p>
            <a:pPr marL="0" lvl="0" indent="0" algn="l" rtl="0">
              <a:spcBef>
                <a:spcPts val="360"/>
              </a:spcBef>
              <a:spcAft>
                <a:spcPts val="0"/>
              </a:spcAft>
              <a:buNone/>
            </a:pPr>
            <a:r>
              <a:rPr lang="fr-FR" dirty="0">
                <a:latin typeface="Arial"/>
                <a:ea typeface="Arial"/>
                <a:cs typeface="Arial"/>
                <a:sym typeface="Arial"/>
              </a:rPr>
              <a:t>Par définition, chaque kg de CO</a:t>
            </a:r>
            <a:r>
              <a:rPr lang="fr-FR" baseline="-25000" dirty="0">
                <a:latin typeface="Arial"/>
                <a:ea typeface="Arial"/>
                <a:cs typeface="Arial"/>
                <a:sym typeface="Arial"/>
              </a:rPr>
              <a:t>2</a:t>
            </a:r>
            <a:r>
              <a:rPr lang="fr-FR" dirty="0">
                <a:latin typeface="Arial"/>
                <a:ea typeface="Arial"/>
                <a:cs typeface="Arial"/>
                <a:sym typeface="Arial"/>
              </a:rPr>
              <a:t> est équivalent à 1 kg de CO</a:t>
            </a:r>
            <a:r>
              <a:rPr lang="fr-FR" baseline="-25000" dirty="0">
                <a:latin typeface="Arial"/>
                <a:ea typeface="Arial"/>
                <a:cs typeface="Arial"/>
                <a:sym typeface="Arial"/>
              </a:rPr>
              <a:t>2</a:t>
            </a:r>
            <a:r>
              <a:rPr lang="fr-FR" dirty="0">
                <a:latin typeface="Arial"/>
                <a:ea typeface="Arial"/>
                <a:cs typeface="Arial"/>
                <a:sym typeface="Arial"/>
              </a:rPr>
              <a:t> (sous-entendu d’un point de vue du réchauffement sur une durée de 100 ans). Si on prend le méthane (CH</a:t>
            </a:r>
            <a:r>
              <a:rPr lang="fr-FR" baseline="-25000" dirty="0">
                <a:latin typeface="Arial"/>
                <a:ea typeface="Arial"/>
                <a:cs typeface="Arial"/>
                <a:sym typeface="Arial"/>
              </a:rPr>
              <a:t>4</a:t>
            </a:r>
            <a:r>
              <a:rPr lang="fr-FR" dirty="0">
                <a:latin typeface="Arial"/>
                <a:ea typeface="Arial"/>
                <a:cs typeface="Arial"/>
                <a:sym typeface="Arial"/>
              </a:rPr>
              <a:t>), on s’aperçoit en revanche que chaque kg émis est équivalent à émettre 28 kg de CO</a:t>
            </a:r>
            <a:r>
              <a:rPr lang="fr-FR" baseline="-25000" dirty="0">
                <a:latin typeface="Arial"/>
                <a:ea typeface="Arial"/>
                <a:cs typeface="Arial"/>
                <a:sym typeface="Arial"/>
              </a:rPr>
              <a:t>2</a:t>
            </a:r>
            <a:r>
              <a:rPr lang="fr-FR" dirty="0">
                <a:latin typeface="Arial"/>
                <a:ea typeface="Arial"/>
                <a:cs typeface="Arial"/>
                <a:sym typeface="Arial"/>
              </a:rPr>
              <a:t>. De même, chaque kg de protoxyde d’azote (N</a:t>
            </a:r>
            <a:r>
              <a:rPr lang="fr-FR" baseline="-25000" dirty="0">
                <a:latin typeface="Arial"/>
                <a:ea typeface="Arial"/>
                <a:cs typeface="Arial"/>
                <a:sym typeface="Arial"/>
              </a:rPr>
              <a:t>2</a:t>
            </a:r>
            <a:r>
              <a:rPr lang="fr-FR" dirty="0">
                <a:latin typeface="Arial"/>
                <a:ea typeface="Arial"/>
                <a:cs typeface="Arial"/>
                <a:sym typeface="Arial"/>
              </a:rPr>
              <a:t>O) émis est équivalent à émettre 265 kg de CO</a:t>
            </a:r>
            <a:r>
              <a:rPr lang="fr-FR" baseline="-25000" dirty="0">
                <a:latin typeface="Arial"/>
                <a:ea typeface="Arial"/>
                <a:cs typeface="Arial"/>
                <a:sym typeface="Arial"/>
              </a:rPr>
              <a:t>2</a:t>
            </a:r>
            <a:r>
              <a:rPr lang="fr-FR" dirty="0">
                <a:latin typeface="Arial"/>
                <a:ea typeface="Arial"/>
                <a:cs typeface="Arial"/>
                <a:sym typeface="Arial"/>
              </a:rPr>
              <a:t>.</a:t>
            </a:r>
            <a:endParaRPr dirty="0"/>
          </a:p>
          <a:p>
            <a:pPr marL="0" lvl="0" indent="0" algn="l" rtl="0">
              <a:spcBef>
                <a:spcPts val="360"/>
              </a:spcBef>
              <a:spcAft>
                <a:spcPts val="0"/>
              </a:spcAft>
              <a:buNone/>
            </a:pPr>
            <a:endParaRPr dirty="0">
              <a:latin typeface="Arial"/>
              <a:ea typeface="Arial"/>
              <a:cs typeface="Arial"/>
              <a:sym typeface="Arial"/>
            </a:endParaRPr>
          </a:p>
          <a:p>
            <a:pPr marL="0" lvl="0" indent="0" algn="l" rtl="0">
              <a:spcBef>
                <a:spcPts val="360"/>
              </a:spcBef>
              <a:spcAft>
                <a:spcPts val="0"/>
              </a:spcAft>
              <a:buNone/>
            </a:pPr>
            <a:r>
              <a:rPr lang="fr-FR" dirty="0">
                <a:latin typeface="Arial"/>
                <a:ea typeface="Arial"/>
                <a:cs typeface="Arial"/>
                <a:sym typeface="Arial"/>
              </a:rPr>
              <a:t>Source: 5eme rapport du GIEC </a:t>
            </a:r>
            <a:r>
              <a:rPr lang="fr-FR" sz="1200" b="1" i="0" u="sng" dirty="0">
                <a:solidFill>
                  <a:schemeClr val="dk1"/>
                </a:solidFill>
                <a:latin typeface="Arial"/>
                <a:ea typeface="Arial"/>
                <a:cs typeface="Arial"/>
                <a:sym typeface="Arial"/>
                <a:hlinkClick r:id="rId3">
                  <a:extLst>
                    <a:ext uri="{A12FA001-AC4F-418D-AE19-62706E023703}">
                      <ahyp:hlinkClr xmlns:ahyp="http://schemas.microsoft.com/office/drawing/2018/hyperlinkcolor" val="tx"/>
                    </a:ext>
                  </a:extLst>
                </a:hlinkClick>
              </a:rPr>
              <a:t>http://www.ipcc.ch/report/ar5/wg1/</a:t>
            </a:r>
            <a:r>
              <a:rPr lang="fr-FR" sz="1200" b="0" i="0" dirty="0">
                <a:solidFill>
                  <a:schemeClr val="dk1"/>
                </a:solidFill>
                <a:latin typeface="Arial"/>
                <a:ea typeface="Arial"/>
                <a:cs typeface="Arial"/>
                <a:sym typeface="Arial"/>
              </a:rPr>
              <a:t> </a:t>
            </a:r>
            <a:endParaRPr dirty="0">
              <a:latin typeface="Arial"/>
              <a:ea typeface="Arial"/>
              <a:cs typeface="Arial"/>
              <a:sym typeface="Arial"/>
            </a:endParaRPr>
          </a:p>
        </p:txBody>
      </p:sp>
      <p:sp>
        <p:nvSpPr>
          <p:cNvPr id="686" name="Google Shape;686;p36:notes"/>
          <p:cNvSpPr txBox="1"/>
          <p:nvPr/>
        </p:nvSpPr>
        <p:spPr>
          <a:xfrm>
            <a:off x="3957896" y="8639377"/>
            <a:ext cx="3021009" cy="443732"/>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100"/>
              <a:buFont typeface="Times New Roman"/>
              <a:buNone/>
            </a:pPr>
            <a:fld id="{00000000-1234-1234-1234-123412341234}" type="slidenum">
              <a:rPr lang="fr-FR" sz="1100">
                <a:solidFill>
                  <a:srgbClr val="000000"/>
                </a:solidFill>
                <a:latin typeface="Times New Roman"/>
                <a:ea typeface="Times New Roman"/>
                <a:cs typeface="Times New Roman"/>
                <a:sym typeface="Times New Roman"/>
              </a:rPr>
              <a:t>6</a:t>
            </a:fld>
            <a:endParaRPr sz="110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2317431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p38:notes"/>
          <p:cNvSpPr txBox="1">
            <a:spLocks noGrp="1"/>
          </p:cNvSpPr>
          <p:nvPr>
            <p:ph type="sldNum" idx="12"/>
          </p:nvPr>
        </p:nvSpPr>
        <p:spPr>
          <a:xfrm>
            <a:off x="3959513" y="8639378"/>
            <a:ext cx="3029099" cy="454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fr-FR" sz="1200">
                <a:solidFill>
                  <a:schemeClr val="dk1"/>
                </a:solidFill>
                <a:latin typeface="Arial"/>
                <a:ea typeface="Arial"/>
                <a:cs typeface="Arial"/>
                <a:sym typeface="Arial"/>
              </a:rPr>
              <a:t>7</a:t>
            </a:fld>
            <a:endParaRPr sz="1200">
              <a:solidFill>
                <a:schemeClr val="dk1"/>
              </a:solidFill>
              <a:latin typeface="Arial"/>
              <a:ea typeface="Arial"/>
              <a:cs typeface="Arial"/>
              <a:sym typeface="Arial"/>
            </a:endParaRPr>
          </a:p>
        </p:txBody>
      </p:sp>
      <p:sp>
        <p:nvSpPr>
          <p:cNvPr id="711" name="Google Shape;711;p38:notes"/>
          <p:cNvSpPr>
            <a:spLocks noGrp="1" noRot="1" noChangeAspect="1"/>
          </p:cNvSpPr>
          <p:nvPr>
            <p:ph type="sldImg" idx="2"/>
          </p:nvPr>
        </p:nvSpPr>
        <p:spPr>
          <a:xfrm>
            <a:off x="465138" y="682625"/>
            <a:ext cx="6061075" cy="34099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12" name="Google Shape;712;p38:notes"/>
          <p:cNvSpPr txBox="1">
            <a:spLocks noGrp="1"/>
          </p:cNvSpPr>
          <p:nvPr>
            <p:ph type="body" idx="1"/>
          </p:nvPr>
        </p:nvSpPr>
        <p:spPr>
          <a:xfrm>
            <a:off x="699023" y="4320477"/>
            <a:ext cx="5592184" cy="4093084"/>
          </a:xfrm>
          <a:prstGeom prst="rect">
            <a:avLst/>
          </a:prstGeom>
          <a:noFill/>
          <a:ln>
            <a:noFill/>
          </a:ln>
        </p:spPr>
        <p:txBody>
          <a:bodyPr spcFirstLastPara="1" wrap="square" lIns="91425" tIns="45700" rIns="91425" bIns="45700" anchor="t" anchorCtr="0">
            <a:normAutofit/>
          </a:bodyPr>
          <a:lstStyle/>
          <a:p>
            <a:pPr marL="0" lvl="0" indent="0" algn="l" rtl="0">
              <a:lnSpc>
                <a:spcPct val="85000"/>
              </a:lnSpc>
              <a:spcBef>
                <a:spcPts val="0"/>
              </a:spcBef>
              <a:spcAft>
                <a:spcPts val="0"/>
              </a:spcAft>
              <a:buNone/>
            </a:pPr>
            <a:r>
              <a:rPr lang="fr-FR" dirty="0">
                <a:latin typeface="Arial"/>
                <a:ea typeface="Arial"/>
                <a:cs typeface="Arial"/>
                <a:sym typeface="Arial"/>
              </a:rPr>
              <a:t>Si des appareils existent pour mesurer les quantités de gaz émis (comme pendant le contrôle pollution du contrôle technique automobile), ils ne sont pas utilisables sur le campus. Rien que pour les voitures, il faudrait être en permanence branché sur tous les pots d’échappement de celles qui roulent ! De plus, la plupart des émissions ont lieu en dehors du campus (transports, production d’électricité, traitement des déchets, etc.) ou sont passées (construction des bâtiments, production des consommables et matériaux, fabrication des objets, etc.) et il n’est pas réaliste d’aller les mesurer.</a:t>
            </a:r>
            <a:endParaRPr dirty="0"/>
          </a:p>
          <a:p>
            <a:pPr marL="0" lvl="0" indent="0" algn="l" rtl="0">
              <a:lnSpc>
                <a:spcPct val="85000"/>
              </a:lnSpc>
              <a:spcBef>
                <a:spcPts val="0"/>
              </a:spcBef>
              <a:spcAft>
                <a:spcPts val="0"/>
              </a:spcAft>
              <a:buNone/>
            </a:pPr>
            <a:endParaRPr dirty="0">
              <a:latin typeface="Arial"/>
              <a:ea typeface="Arial"/>
              <a:cs typeface="Arial"/>
              <a:sym typeface="Arial"/>
            </a:endParaRPr>
          </a:p>
          <a:p>
            <a:pPr marL="0" lvl="0" indent="0" algn="l" rtl="0">
              <a:lnSpc>
                <a:spcPct val="85000"/>
              </a:lnSpc>
              <a:spcBef>
                <a:spcPts val="0"/>
              </a:spcBef>
              <a:spcAft>
                <a:spcPts val="0"/>
              </a:spcAft>
              <a:buNone/>
            </a:pPr>
            <a:r>
              <a:rPr lang="fr-FR" dirty="0">
                <a:latin typeface="Arial"/>
                <a:ea typeface="Arial"/>
                <a:cs typeface="Arial"/>
                <a:sym typeface="Arial"/>
              </a:rPr>
              <a:t>Si on ne peut pas mesurer, on peut en revanche faire une estimation basée sur une étude statistique. Par exemple, une organisation fait une étude sur la moyenne des émissions des voitures par km parcouru. Ce résultat constitue un Facteur d’Emission (FE). Si on sait combien de km une voiture roule, on peut alors estimer ses émissions en « piquant ce résultat » (illustration du voleur). La plupart des FE sont consignés par l’ADEME dans la Base Carbone®.</a:t>
            </a:r>
            <a:endParaRPr dirty="0"/>
          </a:p>
          <a:p>
            <a:pPr marL="0" lvl="0" indent="0" algn="l" rtl="0">
              <a:lnSpc>
                <a:spcPct val="85000"/>
              </a:lnSpc>
              <a:spcBef>
                <a:spcPts val="0"/>
              </a:spcBef>
              <a:spcAft>
                <a:spcPts val="0"/>
              </a:spcAft>
              <a:buNone/>
            </a:pPr>
            <a:endParaRPr sz="900" dirty="0">
              <a:latin typeface="Arial"/>
              <a:ea typeface="Arial"/>
              <a:cs typeface="Arial"/>
              <a:sym typeface="Arial"/>
            </a:endParaRPr>
          </a:p>
          <a:p>
            <a:pPr marL="0" lvl="0" indent="0" algn="l" rtl="0">
              <a:lnSpc>
                <a:spcPct val="85000"/>
              </a:lnSpc>
              <a:spcBef>
                <a:spcPts val="0"/>
              </a:spcBef>
              <a:spcAft>
                <a:spcPts val="0"/>
              </a:spcAft>
              <a:buNone/>
            </a:pPr>
            <a:r>
              <a:rPr lang="fr-FR" sz="900" dirty="0">
                <a:latin typeface="Arial"/>
                <a:ea typeface="Arial"/>
                <a:cs typeface="Arial"/>
                <a:sym typeface="Arial"/>
              </a:rPr>
              <a:t>Différents FE peuvent exister pour une même source. Par exemple, pour un trajet en voiture, on trouvera différents FE selon que la voiture est essence ou diesel, roule en ville ou à la campagne, etc. Mais il devient vite laborieux de définir un FE pour tous les paramètres influents (modèle de voiture, style de conduite, dénivelé du trajet, </a:t>
            </a:r>
            <a:r>
              <a:rPr lang="fr-FR" sz="900" dirty="0" err="1">
                <a:latin typeface="Arial"/>
                <a:ea typeface="Arial"/>
                <a:cs typeface="Arial"/>
                <a:sym typeface="Arial"/>
              </a:rPr>
              <a:t>etc</a:t>
            </a:r>
            <a:r>
              <a:rPr lang="fr-FR" sz="900" dirty="0">
                <a:latin typeface="Arial"/>
                <a:ea typeface="Arial"/>
                <a:cs typeface="Arial"/>
                <a:sym typeface="Arial"/>
              </a:rPr>
              <a:t>). Cependant, le fait de compter les émissions sur un parc automobile va nous rapprocher du cas statistique de l’étude initiale et annuler en moyenne ces disparités, d’où un gain en précision.</a:t>
            </a:r>
            <a:endParaRPr dirty="0"/>
          </a:p>
          <a:p>
            <a:pPr marL="0" lvl="0" indent="0" algn="l" rtl="0">
              <a:lnSpc>
                <a:spcPct val="85000"/>
              </a:lnSpc>
              <a:spcBef>
                <a:spcPts val="0"/>
              </a:spcBef>
              <a:spcAft>
                <a:spcPts val="0"/>
              </a:spcAft>
              <a:buNone/>
            </a:pPr>
            <a:endParaRPr sz="900" dirty="0">
              <a:latin typeface="Arial"/>
              <a:ea typeface="Arial"/>
              <a:cs typeface="Arial"/>
              <a:sym typeface="Arial"/>
            </a:endParaRPr>
          </a:p>
          <a:p>
            <a:pPr marL="0" lvl="0" indent="0" algn="l" rtl="0">
              <a:lnSpc>
                <a:spcPct val="85000"/>
              </a:lnSpc>
              <a:spcBef>
                <a:spcPts val="0"/>
              </a:spcBef>
              <a:spcAft>
                <a:spcPts val="0"/>
              </a:spcAft>
              <a:buNone/>
            </a:pPr>
            <a:r>
              <a:rPr lang="fr-FR" sz="900" dirty="0">
                <a:latin typeface="Arial"/>
                <a:ea typeface="Arial"/>
                <a:cs typeface="Arial"/>
                <a:sym typeface="Arial"/>
              </a:rPr>
              <a:t>Cette méthode reste néanmoins moins précise que la mesure directe mais est largement suffisante pour les besoins et objectifs du Projet Carbone Campus, notamment hiérarchiser les différentes sources d’émissions et aider à la construction du plan d’actions.</a:t>
            </a:r>
          </a:p>
          <a:p>
            <a:pPr marL="0" lvl="0" indent="0" algn="l" rtl="0">
              <a:lnSpc>
                <a:spcPct val="85000"/>
              </a:lnSpc>
              <a:spcBef>
                <a:spcPts val="0"/>
              </a:spcBef>
              <a:spcAft>
                <a:spcPts val="0"/>
              </a:spcAft>
              <a:buNone/>
            </a:pPr>
            <a:endParaRPr lang="fr-FR" sz="900" dirty="0">
              <a:latin typeface="Arial"/>
              <a:cs typeface="Arial"/>
              <a:sym typeface="Arial"/>
            </a:endParaRPr>
          </a:p>
          <a:p>
            <a:pPr marL="0" lvl="0" indent="0" algn="l" rtl="0">
              <a:lnSpc>
                <a:spcPct val="85000"/>
              </a:lnSpc>
              <a:spcBef>
                <a:spcPts val="0"/>
              </a:spcBef>
              <a:spcAft>
                <a:spcPts val="0"/>
              </a:spcAft>
              <a:buNone/>
            </a:pPr>
            <a:r>
              <a:rPr lang="fr-FR" sz="900" dirty="0">
                <a:latin typeface="Arial"/>
                <a:cs typeface="Arial"/>
                <a:sym typeface="Arial"/>
              </a:rPr>
              <a:t>Les facteurs d’émissions sont calculés dans le cadre d’études scientifiques.</a:t>
            </a:r>
            <a:endParaRPr dirty="0"/>
          </a:p>
        </p:txBody>
      </p:sp>
    </p:spTree>
    <p:extLst>
      <p:ext uri="{BB962C8B-B14F-4D97-AF65-F5344CB8AC3E}">
        <p14:creationId xmlns:p14="http://schemas.microsoft.com/office/powerpoint/2010/main" val="12765849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p39:notes"/>
          <p:cNvSpPr txBox="1">
            <a:spLocks noGrp="1"/>
          </p:cNvSpPr>
          <p:nvPr>
            <p:ph type="body" idx="1"/>
          </p:nvPr>
        </p:nvSpPr>
        <p:spPr>
          <a:xfrm>
            <a:off x="699023" y="4320477"/>
            <a:ext cx="5592184" cy="4093084"/>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26" name="Google Shape;726;p39:notes"/>
          <p:cNvSpPr>
            <a:spLocks noGrp="1" noRot="1" noChangeAspect="1"/>
          </p:cNvSpPr>
          <p:nvPr>
            <p:ph type="sldImg" idx="2"/>
          </p:nvPr>
        </p:nvSpPr>
        <p:spPr>
          <a:xfrm>
            <a:off x="465138" y="682625"/>
            <a:ext cx="6061075" cy="34099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265076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p52:notes"/>
          <p:cNvSpPr>
            <a:spLocks noGrp="1" noRot="1" noChangeAspect="1"/>
          </p:cNvSpPr>
          <p:nvPr>
            <p:ph type="sldImg" idx="2"/>
          </p:nvPr>
        </p:nvSpPr>
        <p:spPr>
          <a:xfrm>
            <a:off x="465138" y="682625"/>
            <a:ext cx="6061075" cy="34099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997" name="Google Shape;997;p52:notes"/>
          <p:cNvSpPr txBox="1">
            <a:spLocks noGrp="1"/>
          </p:cNvSpPr>
          <p:nvPr>
            <p:ph type="body" idx="1"/>
          </p:nvPr>
        </p:nvSpPr>
        <p:spPr>
          <a:xfrm>
            <a:off x="699023" y="4320477"/>
            <a:ext cx="5592184" cy="4093084"/>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sz="1000">
              <a:latin typeface="Arial"/>
              <a:ea typeface="Arial"/>
              <a:cs typeface="Arial"/>
              <a:sym typeface="Arial"/>
            </a:endParaRPr>
          </a:p>
        </p:txBody>
      </p:sp>
      <p:sp>
        <p:nvSpPr>
          <p:cNvPr id="998" name="Google Shape;998;p52:notes"/>
          <p:cNvSpPr txBox="1">
            <a:spLocks noGrp="1"/>
          </p:cNvSpPr>
          <p:nvPr>
            <p:ph type="sldNum" idx="12"/>
          </p:nvPr>
        </p:nvSpPr>
        <p:spPr>
          <a:xfrm>
            <a:off x="3959513" y="8639378"/>
            <a:ext cx="3029099" cy="454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9</a:t>
            </a:fld>
            <a:endParaRPr/>
          </a:p>
        </p:txBody>
      </p:sp>
    </p:spTree>
    <p:extLst>
      <p:ext uri="{BB962C8B-B14F-4D97-AF65-F5344CB8AC3E}">
        <p14:creationId xmlns:p14="http://schemas.microsoft.com/office/powerpoint/2010/main" val="6309452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
        <p:cNvGrpSpPr/>
        <p:nvPr/>
      </p:nvGrpSpPr>
      <p:grpSpPr>
        <a:xfrm>
          <a:off x="0" y="0"/>
          <a:ext cx="0" cy="0"/>
          <a:chOff x="0" y="0"/>
          <a:chExt cx="0" cy="0"/>
        </a:xfrm>
      </p:grpSpPr>
      <p:sp>
        <p:nvSpPr>
          <p:cNvPr id="1010" name="Google Shape;1010;p53:notes"/>
          <p:cNvSpPr txBox="1">
            <a:spLocks noGrp="1"/>
          </p:cNvSpPr>
          <p:nvPr>
            <p:ph type="body" idx="1"/>
          </p:nvPr>
        </p:nvSpPr>
        <p:spPr>
          <a:xfrm>
            <a:off x="699023" y="4320477"/>
            <a:ext cx="5592184" cy="4093084"/>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11" name="Google Shape;1011;p53:notes"/>
          <p:cNvSpPr>
            <a:spLocks noGrp="1" noRot="1" noChangeAspect="1"/>
          </p:cNvSpPr>
          <p:nvPr>
            <p:ph type="sldImg" idx="2"/>
          </p:nvPr>
        </p:nvSpPr>
        <p:spPr>
          <a:xfrm>
            <a:off x="465138" y="682625"/>
            <a:ext cx="6061075" cy="34099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86274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2"/>
        <p:cNvGrpSpPr/>
        <p:nvPr/>
      </p:nvGrpSpPr>
      <p:grpSpPr>
        <a:xfrm>
          <a:off x="0" y="0"/>
          <a:ext cx="0" cy="0"/>
          <a:chOff x="0" y="0"/>
          <a:chExt cx="0" cy="0"/>
        </a:xfrm>
      </p:grpSpPr>
      <p:sp>
        <p:nvSpPr>
          <p:cNvPr id="1493" name="Google Shape;1493;p79:notes"/>
          <p:cNvSpPr txBox="1">
            <a:spLocks noGrp="1"/>
          </p:cNvSpPr>
          <p:nvPr>
            <p:ph type="sldNum" idx="12"/>
          </p:nvPr>
        </p:nvSpPr>
        <p:spPr>
          <a:xfrm>
            <a:off x="3959513" y="8639378"/>
            <a:ext cx="3029099" cy="454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fr-FR" sz="1200">
                <a:solidFill>
                  <a:schemeClr val="dk1"/>
                </a:solidFill>
                <a:latin typeface="Arial"/>
                <a:ea typeface="Arial"/>
                <a:cs typeface="Arial"/>
                <a:sym typeface="Arial"/>
              </a:rPr>
              <a:t>11</a:t>
            </a:fld>
            <a:endParaRPr sz="1200">
              <a:solidFill>
                <a:schemeClr val="dk1"/>
              </a:solidFill>
              <a:latin typeface="Arial"/>
              <a:ea typeface="Arial"/>
              <a:cs typeface="Arial"/>
              <a:sym typeface="Arial"/>
            </a:endParaRPr>
          </a:p>
        </p:txBody>
      </p:sp>
      <p:sp>
        <p:nvSpPr>
          <p:cNvPr id="1494" name="Google Shape;1494;p79:notes"/>
          <p:cNvSpPr>
            <a:spLocks noGrp="1" noRot="1" noChangeAspect="1"/>
          </p:cNvSpPr>
          <p:nvPr>
            <p:ph type="sldImg" idx="2"/>
          </p:nvPr>
        </p:nvSpPr>
        <p:spPr>
          <a:xfrm>
            <a:off x="465138" y="682625"/>
            <a:ext cx="6061075" cy="34099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95" name="Google Shape;1495;p79:notes"/>
          <p:cNvSpPr txBox="1">
            <a:spLocks noGrp="1"/>
          </p:cNvSpPr>
          <p:nvPr>
            <p:ph type="body" idx="1"/>
          </p:nvPr>
        </p:nvSpPr>
        <p:spPr>
          <a:xfrm>
            <a:off x="699023" y="4320477"/>
            <a:ext cx="5592184" cy="4093084"/>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fr-FR">
                <a:latin typeface="Arial"/>
                <a:ea typeface="Arial"/>
                <a:cs typeface="Arial"/>
                <a:sym typeface="Arial"/>
              </a:rPr>
              <a:t>Au delà de certaines émissions auxquelles on ne saurait se soustraire, la définition du périmètre est arbitraire. Plus on compte large, plus on se donne de capacité d’action… mais plus cela demande de temps. Tout dépend donc de vos objectifs et ambitions.</a:t>
            </a:r>
            <a:endParaRPr/>
          </a:p>
          <a:p>
            <a:pPr marL="0" lvl="0" indent="0" algn="l" rtl="0">
              <a:spcBef>
                <a:spcPts val="360"/>
              </a:spcBef>
              <a:spcAft>
                <a:spcPts val="0"/>
              </a:spcAft>
              <a:buNone/>
            </a:pPr>
            <a:endParaRPr>
              <a:latin typeface="Arial"/>
              <a:ea typeface="Arial"/>
              <a:cs typeface="Arial"/>
              <a:sym typeface="Arial"/>
            </a:endParaRPr>
          </a:p>
          <a:p>
            <a:pPr marL="0" lvl="0" indent="0" algn="l" rtl="0">
              <a:spcBef>
                <a:spcPts val="360"/>
              </a:spcBef>
              <a:spcAft>
                <a:spcPts val="0"/>
              </a:spcAft>
              <a:buNone/>
            </a:pPr>
            <a:r>
              <a:rPr lang="fr-FR">
                <a:latin typeface="Arial"/>
                <a:ea typeface="Arial"/>
                <a:cs typeface="Arial"/>
                <a:sym typeface="Arial"/>
              </a:rPr>
              <a:t>A la suite, quelques conseils pour tenter de lister de manière exhaustive toutes les sources d’émissions potentielles avant de faire la sélection. Le fait de retenir ou non telle ou telle source devra être argumenté et consigné dans le rapport accompagnant obligatoirement le Bilan Carbone® Campus.</a:t>
            </a:r>
            <a:endParaRPr>
              <a:latin typeface="Arial"/>
              <a:ea typeface="Arial"/>
              <a:cs typeface="Arial"/>
              <a:sym typeface="Arial"/>
            </a:endParaRPr>
          </a:p>
        </p:txBody>
      </p:sp>
    </p:spTree>
    <p:extLst>
      <p:ext uri="{BB962C8B-B14F-4D97-AF65-F5344CB8AC3E}">
        <p14:creationId xmlns:p14="http://schemas.microsoft.com/office/powerpoint/2010/main" val="10029570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8"/>
        <p:cNvGrpSpPr/>
        <p:nvPr/>
      </p:nvGrpSpPr>
      <p:grpSpPr>
        <a:xfrm>
          <a:off x="0" y="0"/>
          <a:ext cx="0" cy="0"/>
          <a:chOff x="0" y="0"/>
          <a:chExt cx="0" cy="0"/>
        </a:xfrm>
      </p:grpSpPr>
      <p:sp>
        <p:nvSpPr>
          <p:cNvPr id="1539" name="Google Shape;1539;p83:notes"/>
          <p:cNvSpPr txBox="1">
            <a:spLocks noGrp="1"/>
          </p:cNvSpPr>
          <p:nvPr>
            <p:ph type="body" idx="1"/>
          </p:nvPr>
        </p:nvSpPr>
        <p:spPr>
          <a:xfrm>
            <a:off x="699023" y="4320477"/>
            <a:ext cx="5592184" cy="4093084"/>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r>
              <a:rPr lang="fr-FR" dirty="0"/>
              <a:t>BEGES = bilan des émissions de gaz à effet de serre</a:t>
            </a:r>
            <a:endParaRPr dirty="0"/>
          </a:p>
        </p:txBody>
      </p:sp>
      <p:sp>
        <p:nvSpPr>
          <p:cNvPr id="1540" name="Google Shape;1540;p83:notes"/>
          <p:cNvSpPr>
            <a:spLocks noGrp="1" noRot="1" noChangeAspect="1"/>
          </p:cNvSpPr>
          <p:nvPr>
            <p:ph type="sldImg" idx="2"/>
          </p:nvPr>
        </p:nvSpPr>
        <p:spPr>
          <a:xfrm>
            <a:off x="465138" y="682625"/>
            <a:ext cx="6061075" cy="34099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788351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0"/>
        <p:cNvGrpSpPr/>
        <p:nvPr/>
      </p:nvGrpSpPr>
      <p:grpSpPr>
        <a:xfrm>
          <a:off x="0" y="0"/>
          <a:ext cx="0" cy="0"/>
          <a:chOff x="0" y="0"/>
          <a:chExt cx="0" cy="0"/>
        </a:xfrm>
      </p:grpSpPr>
      <p:sp>
        <p:nvSpPr>
          <p:cNvPr id="1781" name="Google Shape;1781;p90:notes"/>
          <p:cNvSpPr>
            <a:spLocks noGrp="1" noRot="1" noChangeAspect="1"/>
          </p:cNvSpPr>
          <p:nvPr>
            <p:ph type="sldImg" idx="2"/>
          </p:nvPr>
        </p:nvSpPr>
        <p:spPr>
          <a:xfrm>
            <a:off x="465138" y="682625"/>
            <a:ext cx="6061075" cy="34099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782" name="Google Shape;1782;p90:notes"/>
          <p:cNvSpPr txBox="1">
            <a:spLocks noGrp="1"/>
          </p:cNvSpPr>
          <p:nvPr>
            <p:ph type="body" idx="1"/>
          </p:nvPr>
        </p:nvSpPr>
        <p:spPr>
          <a:xfrm>
            <a:off x="699023" y="4320477"/>
            <a:ext cx="5592184" cy="4093084"/>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sz="1000">
              <a:latin typeface="Arial"/>
              <a:ea typeface="Arial"/>
              <a:cs typeface="Arial"/>
              <a:sym typeface="Arial"/>
            </a:endParaRPr>
          </a:p>
        </p:txBody>
      </p:sp>
      <p:sp>
        <p:nvSpPr>
          <p:cNvPr id="1783" name="Google Shape;1783;p90:notes"/>
          <p:cNvSpPr txBox="1">
            <a:spLocks noGrp="1"/>
          </p:cNvSpPr>
          <p:nvPr>
            <p:ph type="sldNum" idx="12"/>
          </p:nvPr>
        </p:nvSpPr>
        <p:spPr>
          <a:xfrm>
            <a:off x="3959513" y="8639378"/>
            <a:ext cx="3029099" cy="454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13</a:t>
            </a:fld>
            <a:endParaRPr/>
          </a:p>
        </p:txBody>
      </p:sp>
    </p:spTree>
    <p:extLst>
      <p:ext uri="{BB962C8B-B14F-4D97-AF65-F5344CB8AC3E}">
        <p14:creationId xmlns:p14="http://schemas.microsoft.com/office/powerpoint/2010/main" val="37742138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2"/>
        <p:cNvGrpSpPr/>
        <p:nvPr/>
      </p:nvGrpSpPr>
      <p:grpSpPr>
        <a:xfrm>
          <a:off x="0" y="0"/>
          <a:ext cx="0" cy="0"/>
          <a:chOff x="0" y="0"/>
          <a:chExt cx="0" cy="0"/>
        </a:xfrm>
      </p:grpSpPr>
      <p:sp>
        <p:nvSpPr>
          <p:cNvPr id="1793" name="Google Shape;1793;p91:notes"/>
          <p:cNvSpPr txBox="1">
            <a:spLocks noGrp="1"/>
          </p:cNvSpPr>
          <p:nvPr>
            <p:ph type="body" idx="1"/>
          </p:nvPr>
        </p:nvSpPr>
        <p:spPr>
          <a:xfrm>
            <a:off x="699023" y="4320477"/>
            <a:ext cx="5592184" cy="4093084"/>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94" name="Google Shape;1794;p91:notes"/>
          <p:cNvSpPr>
            <a:spLocks noGrp="1" noRot="1" noChangeAspect="1"/>
          </p:cNvSpPr>
          <p:nvPr>
            <p:ph type="sldImg" idx="2"/>
          </p:nvPr>
        </p:nvSpPr>
        <p:spPr>
          <a:xfrm>
            <a:off x="465138" y="682625"/>
            <a:ext cx="6061075" cy="34099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156202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7"/>
        <p:cNvGrpSpPr/>
        <p:nvPr/>
      </p:nvGrpSpPr>
      <p:grpSpPr>
        <a:xfrm>
          <a:off x="0" y="0"/>
          <a:ext cx="0" cy="0"/>
          <a:chOff x="0" y="0"/>
          <a:chExt cx="0" cy="0"/>
        </a:xfrm>
      </p:grpSpPr>
      <p:sp>
        <p:nvSpPr>
          <p:cNvPr id="1838" name="Google Shape;1838;p95:notes"/>
          <p:cNvSpPr txBox="1">
            <a:spLocks noGrp="1"/>
          </p:cNvSpPr>
          <p:nvPr>
            <p:ph type="sldNum" idx="12"/>
          </p:nvPr>
        </p:nvSpPr>
        <p:spPr>
          <a:xfrm>
            <a:off x="3959513" y="8639378"/>
            <a:ext cx="3029099" cy="454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fr-FR" sz="1200">
                <a:solidFill>
                  <a:schemeClr val="dk1"/>
                </a:solidFill>
                <a:latin typeface="Arial"/>
                <a:ea typeface="Arial"/>
                <a:cs typeface="Arial"/>
                <a:sym typeface="Arial"/>
              </a:rPr>
              <a:t>15</a:t>
            </a:fld>
            <a:endParaRPr sz="1200">
              <a:solidFill>
                <a:schemeClr val="dk1"/>
              </a:solidFill>
              <a:latin typeface="Arial"/>
              <a:ea typeface="Arial"/>
              <a:cs typeface="Arial"/>
              <a:sym typeface="Arial"/>
            </a:endParaRPr>
          </a:p>
        </p:txBody>
      </p:sp>
      <p:sp>
        <p:nvSpPr>
          <p:cNvPr id="1839" name="Google Shape;1839;p95:notes"/>
          <p:cNvSpPr>
            <a:spLocks noGrp="1" noRot="1" noChangeAspect="1"/>
          </p:cNvSpPr>
          <p:nvPr>
            <p:ph type="sldImg" idx="2"/>
          </p:nvPr>
        </p:nvSpPr>
        <p:spPr>
          <a:xfrm>
            <a:off x="465138" y="682625"/>
            <a:ext cx="6061075" cy="34099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40" name="Google Shape;1840;p95:notes"/>
          <p:cNvSpPr txBox="1">
            <a:spLocks noGrp="1"/>
          </p:cNvSpPr>
          <p:nvPr>
            <p:ph type="body" idx="1"/>
          </p:nvPr>
        </p:nvSpPr>
        <p:spPr>
          <a:xfrm>
            <a:off x="699023" y="4320477"/>
            <a:ext cx="5592184" cy="4093084"/>
          </a:xfrm>
          <a:prstGeom prst="rect">
            <a:avLst/>
          </a:prstGeom>
          <a:noFill/>
          <a:ln>
            <a:noFill/>
          </a:ln>
        </p:spPr>
        <p:txBody>
          <a:bodyPr spcFirstLastPara="1" wrap="square" lIns="91425" tIns="45700" rIns="91425" bIns="45700" anchor="t" anchorCtr="0">
            <a:normAutofit/>
          </a:bodyPr>
          <a:lstStyle/>
          <a:p>
            <a:pPr marL="0" marR="0" lvl="0" indent="0" algn="l" defTabSz="914400" rtl="0" eaLnBrk="1" fontAlgn="auto" latinLnBrk="0" hangingPunct="1">
              <a:lnSpc>
                <a:spcPct val="100000"/>
              </a:lnSpc>
              <a:spcBef>
                <a:spcPts val="360"/>
              </a:spcBef>
              <a:spcAft>
                <a:spcPts val="0"/>
              </a:spcAft>
              <a:buClr>
                <a:srgbClr val="000000"/>
              </a:buClr>
              <a:buSzPts val="1400"/>
              <a:buFont typeface="Arial"/>
              <a:buNone/>
              <a:tabLst/>
              <a:defRPr/>
            </a:pPr>
            <a:r>
              <a:rPr lang="fr-FR" sz="1200" dirty="0"/>
              <a:t>Identifie les facteurs d’émissions que tu vas utiliser avant de collecter les données. C’est la meilleure manière de déterminer la forme des données que tu dois collecter ! </a:t>
            </a:r>
          </a:p>
          <a:p>
            <a:pPr marL="0" lvl="0" indent="0" algn="l" rtl="0">
              <a:spcBef>
                <a:spcPts val="360"/>
              </a:spcBef>
              <a:spcAft>
                <a:spcPts val="0"/>
              </a:spcAft>
              <a:buNone/>
            </a:pPr>
            <a:endParaRPr lang="fr-FR" dirty="0">
              <a:latin typeface="Arial"/>
              <a:ea typeface="Arial"/>
              <a:cs typeface="Arial"/>
              <a:sym typeface="Arial"/>
            </a:endParaRPr>
          </a:p>
          <a:p>
            <a:pPr marL="0" lvl="0" indent="0" algn="l" rtl="0">
              <a:spcBef>
                <a:spcPts val="360"/>
              </a:spcBef>
              <a:spcAft>
                <a:spcPts val="0"/>
              </a:spcAft>
              <a:buNone/>
            </a:pPr>
            <a:endParaRPr lang="fr-FR" dirty="0">
              <a:latin typeface="Arial"/>
              <a:ea typeface="Arial"/>
              <a:cs typeface="Arial"/>
              <a:sym typeface="Arial"/>
            </a:endParaRPr>
          </a:p>
          <a:p>
            <a:pPr marL="0" lvl="0" indent="0" algn="l" rtl="0">
              <a:spcBef>
                <a:spcPts val="360"/>
              </a:spcBef>
              <a:spcAft>
                <a:spcPts val="0"/>
              </a:spcAft>
              <a:buNone/>
            </a:pPr>
            <a:r>
              <a:rPr lang="fr-FR" dirty="0">
                <a:latin typeface="Arial"/>
                <a:ea typeface="Arial"/>
                <a:cs typeface="Arial"/>
                <a:sym typeface="Arial"/>
              </a:rPr>
              <a:t>Une précision, pour un Bilan Carbone® Campus, on compte généralement les GES liés à l’activité pendant toute une année. Le résultat sera en tonnes d’équivalent carbone par an.</a:t>
            </a:r>
          </a:p>
          <a:p>
            <a:pPr marL="0" lvl="0" indent="0" algn="l" rtl="0">
              <a:spcBef>
                <a:spcPts val="360"/>
              </a:spcBef>
              <a:spcAft>
                <a:spcPts val="0"/>
              </a:spcAft>
              <a:buNone/>
            </a:pPr>
            <a:endParaRPr lang="fr-FR" dirty="0">
              <a:latin typeface="Arial"/>
              <a:ea typeface="Arial"/>
              <a:cs typeface="Arial"/>
              <a:sym typeface="Arial"/>
            </a:endParaRPr>
          </a:p>
          <a:p>
            <a:pPr marL="0" lvl="0" indent="0" algn="l" rtl="0">
              <a:spcBef>
                <a:spcPts val="360"/>
              </a:spcBef>
              <a:spcAft>
                <a:spcPts val="0"/>
              </a:spcAft>
              <a:buNone/>
            </a:pPr>
            <a:endParaRPr lang="fr-FR" dirty="0">
              <a:latin typeface="Arial"/>
              <a:ea typeface="Arial"/>
              <a:cs typeface="Arial"/>
              <a:sym typeface="Arial"/>
            </a:endParaRPr>
          </a:p>
        </p:txBody>
      </p:sp>
    </p:spTree>
    <p:extLst>
      <p:ext uri="{BB962C8B-B14F-4D97-AF65-F5344CB8AC3E}">
        <p14:creationId xmlns:p14="http://schemas.microsoft.com/office/powerpoint/2010/main" val="39848047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9"/>
        <p:cNvGrpSpPr/>
        <p:nvPr/>
      </p:nvGrpSpPr>
      <p:grpSpPr>
        <a:xfrm>
          <a:off x="0" y="0"/>
          <a:ext cx="0" cy="0"/>
          <a:chOff x="0" y="0"/>
          <a:chExt cx="0" cy="0"/>
        </a:xfrm>
      </p:grpSpPr>
      <p:sp>
        <p:nvSpPr>
          <p:cNvPr id="2390" name="Google Shape;2390;p125:notes"/>
          <p:cNvSpPr>
            <a:spLocks noGrp="1" noRot="1" noChangeAspect="1"/>
          </p:cNvSpPr>
          <p:nvPr>
            <p:ph type="sldImg" idx="2"/>
          </p:nvPr>
        </p:nvSpPr>
        <p:spPr>
          <a:xfrm>
            <a:off x="465138" y="682625"/>
            <a:ext cx="6061075" cy="34099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391" name="Google Shape;2391;p125:notes"/>
          <p:cNvSpPr txBox="1">
            <a:spLocks noGrp="1"/>
          </p:cNvSpPr>
          <p:nvPr>
            <p:ph type="body" idx="1"/>
          </p:nvPr>
        </p:nvSpPr>
        <p:spPr>
          <a:xfrm>
            <a:off x="699023" y="4320477"/>
            <a:ext cx="5592184" cy="4093084"/>
          </a:xfrm>
          <a:prstGeom prst="rect">
            <a:avLst/>
          </a:prstGeom>
          <a:noFill/>
          <a:ln>
            <a:noFill/>
          </a:ln>
        </p:spPr>
        <p:txBody>
          <a:bodyPr spcFirstLastPara="1" wrap="square" lIns="91425" tIns="45700" rIns="91425" bIns="45700" anchor="t" anchorCtr="0">
            <a:normAutofit fontScale="92500" lnSpcReduction="10000"/>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sz="1000" dirty="0">
                <a:latin typeface="Arial"/>
                <a:ea typeface="Arial"/>
                <a:cs typeface="Arial"/>
                <a:sym typeface="Arial"/>
              </a:rPr>
              <a:t>Matrice de collecte = </a:t>
            </a:r>
            <a:r>
              <a:rPr lang="fr-FR" sz="1600" dirty="0"/>
              <a:t>Il s’agit d’un tableur (Excel, </a:t>
            </a:r>
            <a:r>
              <a:rPr lang="fr-FR" sz="1600" dirty="0" err="1"/>
              <a:t>Open-office</a:t>
            </a:r>
            <a:r>
              <a:rPr lang="fr-FR" sz="1600" dirty="0"/>
              <a:t>…) qui va te permettre de consigner toutes les données à collecter et leurs valeurs. </a:t>
            </a:r>
            <a:r>
              <a:rPr lang="fr-FR" sz="3200" dirty="0"/>
              <a:t>Ce tableur est à préparer </a:t>
            </a:r>
            <a:r>
              <a:rPr lang="fr-FR" sz="3200" dirty="0">
                <a:solidFill>
                  <a:srgbClr val="F6AB38"/>
                </a:solidFill>
              </a:rPr>
              <a:t>avant d’aller collecter les données </a:t>
            </a:r>
            <a:r>
              <a:rPr lang="fr-FR" sz="3200" dirty="0"/>
              <a:t>sur le terrain. Cela te permettra de ne rien oublier et d’être beaucoup plus efficace !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fr-FR" sz="3200"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sz="3200" dirty="0"/>
              <a:t>Exemple de personnes ressources : les services techniques du campus.</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fr-FR" sz="1600" dirty="0"/>
          </a:p>
          <a:p>
            <a:pPr marL="0" lvl="0" indent="0" algn="l" rtl="0">
              <a:spcBef>
                <a:spcPts val="0"/>
              </a:spcBef>
              <a:spcAft>
                <a:spcPts val="0"/>
              </a:spcAft>
              <a:buNone/>
            </a:pPr>
            <a:endParaRPr sz="1000" dirty="0">
              <a:latin typeface="Arial"/>
              <a:ea typeface="Arial"/>
              <a:cs typeface="Arial"/>
              <a:sym typeface="Arial"/>
            </a:endParaRPr>
          </a:p>
        </p:txBody>
      </p:sp>
      <p:sp>
        <p:nvSpPr>
          <p:cNvPr id="2392" name="Google Shape;2392;p125:notes"/>
          <p:cNvSpPr txBox="1">
            <a:spLocks noGrp="1"/>
          </p:cNvSpPr>
          <p:nvPr>
            <p:ph type="sldNum" idx="12"/>
          </p:nvPr>
        </p:nvSpPr>
        <p:spPr>
          <a:xfrm>
            <a:off x="3959513" y="8639378"/>
            <a:ext cx="3029099" cy="454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16</a:t>
            </a:fld>
            <a:endParaRPr/>
          </a:p>
        </p:txBody>
      </p:sp>
    </p:spTree>
    <p:extLst>
      <p:ext uri="{BB962C8B-B14F-4D97-AF65-F5344CB8AC3E}">
        <p14:creationId xmlns:p14="http://schemas.microsoft.com/office/powerpoint/2010/main" val="8242994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1"/>
        <p:cNvGrpSpPr/>
        <p:nvPr/>
      </p:nvGrpSpPr>
      <p:grpSpPr>
        <a:xfrm>
          <a:off x="0" y="0"/>
          <a:ext cx="0" cy="0"/>
          <a:chOff x="0" y="0"/>
          <a:chExt cx="0" cy="0"/>
        </a:xfrm>
      </p:grpSpPr>
      <p:sp>
        <p:nvSpPr>
          <p:cNvPr id="2402" name="Google Shape;2402;p126:notes"/>
          <p:cNvSpPr txBox="1">
            <a:spLocks noGrp="1"/>
          </p:cNvSpPr>
          <p:nvPr>
            <p:ph type="body" idx="1"/>
          </p:nvPr>
        </p:nvSpPr>
        <p:spPr>
          <a:xfrm>
            <a:off x="699023" y="4320477"/>
            <a:ext cx="5592184" cy="4093084"/>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03" name="Google Shape;2403;p126:notes"/>
          <p:cNvSpPr>
            <a:spLocks noGrp="1" noRot="1" noChangeAspect="1"/>
          </p:cNvSpPr>
          <p:nvPr>
            <p:ph type="sldImg" idx="2"/>
          </p:nvPr>
        </p:nvSpPr>
        <p:spPr>
          <a:xfrm>
            <a:off x="465138" y="682625"/>
            <a:ext cx="6061075" cy="34099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5780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8"/>
        <p:cNvGrpSpPr/>
        <p:nvPr/>
      </p:nvGrpSpPr>
      <p:grpSpPr>
        <a:xfrm>
          <a:off x="0" y="0"/>
          <a:ext cx="0" cy="0"/>
          <a:chOff x="0" y="0"/>
          <a:chExt cx="0" cy="0"/>
        </a:xfrm>
      </p:grpSpPr>
      <p:sp>
        <p:nvSpPr>
          <p:cNvPr id="2449" name="Google Shape;2449;p131:notes"/>
          <p:cNvSpPr txBox="1">
            <a:spLocks noGrp="1"/>
          </p:cNvSpPr>
          <p:nvPr>
            <p:ph type="sldNum" idx="12"/>
          </p:nvPr>
        </p:nvSpPr>
        <p:spPr>
          <a:xfrm>
            <a:off x="3959513" y="8639378"/>
            <a:ext cx="3029099" cy="454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fr-FR" sz="1200">
                <a:solidFill>
                  <a:schemeClr val="dk1"/>
                </a:solidFill>
                <a:latin typeface="Arial"/>
                <a:ea typeface="Arial"/>
                <a:cs typeface="Arial"/>
                <a:sym typeface="Arial"/>
              </a:rPr>
              <a:t>18</a:t>
            </a:fld>
            <a:endParaRPr sz="1200">
              <a:solidFill>
                <a:schemeClr val="dk1"/>
              </a:solidFill>
              <a:latin typeface="Arial"/>
              <a:ea typeface="Arial"/>
              <a:cs typeface="Arial"/>
              <a:sym typeface="Arial"/>
            </a:endParaRPr>
          </a:p>
        </p:txBody>
      </p:sp>
      <p:sp>
        <p:nvSpPr>
          <p:cNvPr id="2450" name="Google Shape;2450;p131:notes"/>
          <p:cNvSpPr>
            <a:spLocks noGrp="1" noRot="1" noChangeAspect="1"/>
          </p:cNvSpPr>
          <p:nvPr>
            <p:ph type="sldImg" idx="2"/>
          </p:nvPr>
        </p:nvSpPr>
        <p:spPr>
          <a:xfrm>
            <a:off x="465138" y="682625"/>
            <a:ext cx="6061075" cy="34099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51" name="Google Shape;2451;p131:notes"/>
          <p:cNvSpPr txBox="1">
            <a:spLocks noGrp="1"/>
          </p:cNvSpPr>
          <p:nvPr>
            <p:ph type="body" idx="1"/>
          </p:nvPr>
        </p:nvSpPr>
        <p:spPr>
          <a:xfrm>
            <a:off x="699023" y="4320477"/>
            <a:ext cx="5592184" cy="4093084"/>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fr-FR">
                <a:latin typeface="Arial"/>
                <a:ea typeface="Arial"/>
                <a:cs typeface="Arial"/>
                <a:sym typeface="Arial"/>
              </a:rPr>
              <a:t>Les itérations sont très importantes car elles permettent de se familiariser avec les ordres de grandeurs de la comptabilité carbone. Si je dis qu’une baguette de pain coûte 10 euros, ça semble tout de suite cher, alors que si je dis qu’elle coûte en émissions de GES 0,3 kg éq-C, ça ne semblera pas 10 fois trop (alors que ça l’est tout autant). Sans itérations préalables et plusieurs calculs, on a vite fait de mettre un 0 en trop ou en moins à une facture de gaz, un nombre total de kilomètres ou une surface, et fausser ainsi  complètement l’évaluation. Il faut prendre du recul.</a:t>
            </a:r>
            <a:endParaRPr/>
          </a:p>
          <a:p>
            <a:pPr marL="0" lvl="0" indent="0" algn="l" rtl="0">
              <a:spcBef>
                <a:spcPts val="360"/>
              </a:spcBef>
              <a:spcAft>
                <a:spcPts val="0"/>
              </a:spcAft>
              <a:buNone/>
            </a:pPr>
            <a:endParaRPr>
              <a:latin typeface="Arial"/>
              <a:ea typeface="Arial"/>
              <a:cs typeface="Arial"/>
              <a:sym typeface="Arial"/>
            </a:endParaRPr>
          </a:p>
          <a:p>
            <a:pPr marL="0" lvl="0" indent="0" algn="l" rtl="0">
              <a:spcBef>
                <a:spcPts val="360"/>
              </a:spcBef>
              <a:spcAft>
                <a:spcPts val="0"/>
              </a:spcAft>
              <a:buNone/>
            </a:pPr>
            <a:r>
              <a:rPr lang="fr-FR">
                <a:latin typeface="Arial"/>
                <a:ea typeface="Arial"/>
                <a:cs typeface="Arial"/>
                <a:sym typeface="Arial"/>
              </a:rPr>
              <a:t>Laisse donc le temps aux élèves de trouver comment construire la 1</a:t>
            </a:r>
            <a:r>
              <a:rPr lang="fr-FR" baseline="30000">
                <a:latin typeface="Arial"/>
                <a:ea typeface="Arial"/>
                <a:cs typeface="Arial"/>
                <a:sym typeface="Arial"/>
              </a:rPr>
              <a:t>ère</a:t>
            </a:r>
            <a:r>
              <a:rPr lang="fr-FR">
                <a:latin typeface="Arial"/>
                <a:ea typeface="Arial"/>
                <a:cs typeface="Arial"/>
                <a:sym typeface="Arial"/>
              </a:rPr>
              <a:t> itération, en les mettant éventuellement sur la piste avec l’objectif de réduction des émissions de GES pour la France (facteur 4, de 2 000 à 500 kg éq-C/an/ha) et le fait qu’il ne passe que pas toute l’année sur le campus (seulement 200 jours).</a:t>
            </a:r>
            <a:endParaRPr/>
          </a:p>
        </p:txBody>
      </p:sp>
    </p:spTree>
    <p:extLst>
      <p:ext uri="{BB962C8B-B14F-4D97-AF65-F5344CB8AC3E}">
        <p14:creationId xmlns:p14="http://schemas.microsoft.com/office/powerpoint/2010/main" val="21667357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8"/>
        <p:cNvGrpSpPr/>
        <p:nvPr/>
      </p:nvGrpSpPr>
      <p:grpSpPr>
        <a:xfrm>
          <a:off x="0" y="0"/>
          <a:ext cx="0" cy="0"/>
          <a:chOff x="0" y="0"/>
          <a:chExt cx="0" cy="0"/>
        </a:xfrm>
      </p:grpSpPr>
      <p:sp>
        <p:nvSpPr>
          <p:cNvPr id="2579" name="Google Shape;2579;p144:notes"/>
          <p:cNvSpPr>
            <a:spLocks noGrp="1" noRot="1" noChangeAspect="1"/>
          </p:cNvSpPr>
          <p:nvPr>
            <p:ph type="sldImg" idx="2"/>
          </p:nvPr>
        </p:nvSpPr>
        <p:spPr>
          <a:xfrm>
            <a:off x="465138" y="682625"/>
            <a:ext cx="6061075" cy="34099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80" name="Google Shape;2580;p144:notes"/>
          <p:cNvSpPr txBox="1">
            <a:spLocks noGrp="1"/>
          </p:cNvSpPr>
          <p:nvPr>
            <p:ph type="body" idx="1"/>
          </p:nvPr>
        </p:nvSpPr>
        <p:spPr>
          <a:xfrm>
            <a:off x="699023" y="4320477"/>
            <a:ext cx="5592184" cy="4093084"/>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581" name="Google Shape;2581;p144:notes"/>
          <p:cNvSpPr txBox="1">
            <a:spLocks noGrp="1"/>
          </p:cNvSpPr>
          <p:nvPr>
            <p:ph type="sldNum" idx="12"/>
          </p:nvPr>
        </p:nvSpPr>
        <p:spPr>
          <a:xfrm>
            <a:off x="3959513" y="8639378"/>
            <a:ext cx="3029099" cy="454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19</a:t>
            </a:fld>
            <a:endParaRPr/>
          </a:p>
        </p:txBody>
      </p:sp>
    </p:spTree>
    <p:extLst>
      <p:ext uri="{BB962C8B-B14F-4D97-AF65-F5344CB8AC3E}">
        <p14:creationId xmlns:p14="http://schemas.microsoft.com/office/powerpoint/2010/main" val="30012348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5"/>
        <p:cNvGrpSpPr/>
        <p:nvPr/>
      </p:nvGrpSpPr>
      <p:grpSpPr>
        <a:xfrm>
          <a:off x="0" y="0"/>
          <a:ext cx="0" cy="0"/>
          <a:chOff x="0" y="0"/>
          <a:chExt cx="0" cy="0"/>
        </a:xfrm>
      </p:grpSpPr>
      <p:sp>
        <p:nvSpPr>
          <p:cNvPr id="2826" name="Google Shape;2826;p152:notes"/>
          <p:cNvSpPr>
            <a:spLocks noGrp="1" noRot="1" noChangeAspect="1"/>
          </p:cNvSpPr>
          <p:nvPr>
            <p:ph type="sldImg" idx="2"/>
          </p:nvPr>
        </p:nvSpPr>
        <p:spPr>
          <a:xfrm>
            <a:off x="465138" y="682625"/>
            <a:ext cx="6061075" cy="34099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827" name="Google Shape;2827;p152:notes"/>
          <p:cNvSpPr txBox="1">
            <a:spLocks noGrp="1"/>
          </p:cNvSpPr>
          <p:nvPr>
            <p:ph type="body" idx="1"/>
          </p:nvPr>
        </p:nvSpPr>
        <p:spPr>
          <a:xfrm>
            <a:off x="699023" y="4320477"/>
            <a:ext cx="5592184" cy="4093084"/>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sz="1000">
              <a:latin typeface="Arial"/>
              <a:ea typeface="Arial"/>
              <a:cs typeface="Arial"/>
              <a:sym typeface="Arial"/>
            </a:endParaRPr>
          </a:p>
        </p:txBody>
      </p:sp>
      <p:sp>
        <p:nvSpPr>
          <p:cNvPr id="2828" name="Google Shape;2828;p152:notes"/>
          <p:cNvSpPr txBox="1">
            <a:spLocks noGrp="1"/>
          </p:cNvSpPr>
          <p:nvPr>
            <p:ph type="sldNum" idx="12"/>
          </p:nvPr>
        </p:nvSpPr>
        <p:spPr>
          <a:xfrm>
            <a:off x="3959513" y="8639378"/>
            <a:ext cx="3029099" cy="454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20</a:t>
            </a:fld>
            <a:endParaRPr/>
          </a:p>
        </p:txBody>
      </p:sp>
    </p:spTree>
    <p:extLst>
      <p:ext uri="{BB962C8B-B14F-4D97-AF65-F5344CB8AC3E}">
        <p14:creationId xmlns:p14="http://schemas.microsoft.com/office/powerpoint/2010/main" val="29825303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1"/>
        <p:cNvGrpSpPr/>
        <p:nvPr/>
      </p:nvGrpSpPr>
      <p:grpSpPr>
        <a:xfrm>
          <a:off x="0" y="0"/>
          <a:ext cx="0" cy="0"/>
          <a:chOff x="0" y="0"/>
          <a:chExt cx="0" cy="0"/>
        </a:xfrm>
      </p:grpSpPr>
      <p:sp>
        <p:nvSpPr>
          <p:cNvPr id="2402" name="Google Shape;2402;p126:notes"/>
          <p:cNvSpPr txBox="1">
            <a:spLocks noGrp="1"/>
          </p:cNvSpPr>
          <p:nvPr>
            <p:ph type="body" idx="1"/>
          </p:nvPr>
        </p:nvSpPr>
        <p:spPr>
          <a:xfrm>
            <a:off x="699023" y="4320477"/>
            <a:ext cx="5592184" cy="4093084"/>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03" name="Google Shape;2403;p126:notes"/>
          <p:cNvSpPr>
            <a:spLocks noGrp="1" noRot="1" noChangeAspect="1"/>
          </p:cNvSpPr>
          <p:nvPr>
            <p:ph type="sldImg" idx="2"/>
          </p:nvPr>
        </p:nvSpPr>
        <p:spPr>
          <a:xfrm>
            <a:off x="465138" y="682625"/>
            <a:ext cx="6061075" cy="34099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48948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5"/>
        <p:cNvGrpSpPr/>
        <p:nvPr/>
      </p:nvGrpSpPr>
      <p:grpSpPr>
        <a:xfrm>
          <a:off x="0" y="0"/>
          <a:ext cx="0" cy="0"/>
          <a:chOff x="0" y="0"/>
          <a:chExt cx="0" cy="0"/>
        </a:xfrm>
      </p:grpSpPr>
      <p:sp>
        <p:nvSpPr>
          <p:cNvPr id="2826" name="Google Shape;2826;p152:notes"/>
          <p:cNvSpPr>
            <a:spLocks noGrp="1" noRot="1" noChangeAspect="1"/>
          </p:cNvSpPr>
          <p:nvPr>
            <p:ph type="sldImg" idx="2"/>
          </p:nvPr>
        </p:nvSpPr>
        <p:spPr>
          <a:xfrm>
            <a:off x="465138" y="682625"/>
            <a:ext cx="6061075" cy="34099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827" name="Google Shape;2827;p152:notes"/>
          <p:cNvSpPr txBox="1">
            <a:spLocks noGrp="1"/>
          </p:cNvSpPr>
          <p:nvPr>
            <p:ph type="body" idx="1"/>
          </p:nvPr>
        </p:nvSpPr>
        <p:spPr>
          <a:xfrm>
            <a:off x="699023" y="4320477"/>
            <a:ext cx="5592184" cy="4093084"/>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sz="1000">
              <a:latin typeface="Arial"/>
              <a:ea typeface="Arial"/>
              <a:cs typeface="Arial"/>
              <a:sym typeface="Arial"/>
            </a:endParaRPr>
          </a:p>
        </p:txBody>
      </p:sp>
      <p:sp>
        <p:nvSpPr>
          <p:cNvPr id="2828" name="Google Shape;2828;p152:notes"/>
          <p:cNvSpPr txBox="1">
            <a:spLocks noGrp="1"/>
          </p:cNvSpPr>
          <p:nvPr>
            <p:ph type="sldNum" idx="12"/>
          </p:nvPr>
        </p:nvSpPr>
        <p:spPr>
          <a:xfrm>
            <a:off x="3959513" y="8639378"/>
            <a:ext cx="3029099" cy="454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22</a:t>
            </a:fld>
            <a:endParaRPr/>
          </a:p>
        </p:txBody>
      </p:sp>
    </p:spTree>
    <p:extLst>
      <p:ext uri="{BB962C8B-B14F-4D97-AF65-F5344CB8AC3E}">
        <p14:creationId xmlns:p14="http://schemas.microsoft.com/office/powerpoint/2010/main" val="30042072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5"/>
        <p:cNvGrpSpPr/>
        <p:nvPr/>
      </p:nvGrpSpPr>
      <p:grpSpPr>
        <a:xfrm>
          <a:off x="0" y="0"/>
          <a:ext cx="0" cy="0"/>
          <a:chOff x="0" y="0"/>
          <a:chExt cx="0" cy="0"/>
        </a:xfrm>
      </p:grpSpPr>
      <p:sp>
        <p:nvSpPr>
          <p:cNvPr id="2826" name="Google Shape;2826;p152:notes"/>
          <p:cNvSpPr>
            <a:spLocks noGrp="1" noRot="1" noChangeAspect="1"/>
          </p:cNvSpPr>
          <p:nvPr>
            <p:ph type="sldImg" idx="2"/>
          </p:nvPr>
        </p:nvSpPr>
        <p:spPr>
          <a:xfrm>
            <a:off x="465138" y="682625"/>
            <a:ext cx="6061075" cy="34099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827" name="Google Shape;2827;p152:notes"/>
          <p:cNvSpPr txBox="1">
            <a:spLocks noGrp="1"/>
          </p:cNvSpPr>
          <p:nvPr>
            <p:ph type="body" idx="1"/>
          </p:nvPr>
        </p:nvSpPr>
        <p:spPr>
          <a:xfrm>
            <a:off x="699023" y="4320477"/>
            <a:ext cx="5592184" cy="4093084"/>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sz="1000">
              <a:latin typeface="Arial"/>
              <a:ea typeface="Arial"/>
              <a:cs typeface="Arial"/>
              <a:sym typeface="Arial"/>
            </a:endParaRPr>
          </a:p>
        </p:txBody>
      </p:sp>
      <p:sp>
        <p:nvSpPr>
          <p:cNvPr id="2828" name="Google Shape;2828;p152:notes"/>
          <p:cNvSpPr txBox="1">
            <a:spLocks noGrp="1"/>
          </p:cNvSpPr>
          <p:nvPr>
            <p:ph type="sldNum" idx="12"/>
          </p:nvPr>
        </p:nvSpPr>
        <p:spPr>
          <a:xfrm>
            <a:off x="3959513" y="8639378"/>
            <a:ext cx="3029099" cy="454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23</a:t>
            </a:fld>
            <a:endParaRPr/>
          </a:p>
        </p:txBody>
      </p:sp>
    </p:spTree>
    <p:extLst>
      <p:ext uri="{BB962C8B-B14F-4D97-AF65-F5344CB8AC3E}">
        <p14:creationId xmlns:p14="http://schemas.microsoft.com/office/powerpoint/2010/main" val="12934750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ec8223986c_1_563:notes"/>
          <p:cNvSpPr>
            <a:spLocks noGrp="1" noRot="1" noChangeAspect="1"/>
          </p:cNvSpPr>
          <p:nvPr>
            <p:ph type="sldImg" idx="2"/>
          </p:nvPr>
        </p:nvSpPr>
        <p:spPr>
          <a:xfrm>
            <a:off x="106363" y="739775"/>
            <a:ext cx="6584950" cy="370363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 name="Google Shape;238;gec8223986c_1_563:notes"/>
          <p:cNvSpPr txBox="1">
            <a:spLocks noGrp="1"/>
          </p:cNvSpPr>
          <p:nvPr>
            <p:ph type="body" idx="1"/>
          </p:nvPr>
        </p:nvSpPr>
        <p:spPr>
          <a:xfrm>
            <a:off x="679766" y="4690263"/>
            <a:ext cx="5438068" cy="44434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gec8223986c_1_563:notes"/>
          <p:cNvSpPr txBox="1">
            <a:spLocks noGrp="1"/>
          </p:cNvSpPr>
          <p:nvPr>
            <p:ph type="sldNum" idx="12"/>
          </p:nvPr>
        </p:nvSpPr>
        <p:spPr>
          <a:xfrm>
            <a:off x="3850435" y="9378813"/>
            <a:ext cx="2945620" cy="493581"/>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fr-FR"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25</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ec8223986c_1_588:notes"/>
          <p:cNvSpPr>
            <a:spLocks noGrp="1" noRot="1" noChangeAspect="1"/>
          </p:cNvSpPr>
          <p:nvPr>
            <p:ph type="sldImg" idx="2"/>
          </p:nvPr>
        </p:nvSpPr>
        <p:spPr>
          <a:xfrm>
            <a:off x="106363" y="739775"/>
            <a:ext cx="6584950" cy="370363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4" name="Google Shape;264;gec8223986c_1_588:notes"/>
          <p:cNvSpPr txBox="1">
            <a:spLocks noGrp="1"/>
          </p:cNvSpPr>
          <p:nvPr>
            <p:ph type="body" idx="1"/>
          </p:nvPr>
        </p:nvSpPr>
        <p:spPr>
          <a:xfrm>
            <a:off x="679766" y="4690263"/>
            <a:ext cx="5438068" cy="44434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5" name="Google Shape;265;gec8223986c_1_588:notes"/>
          <p:cNvSpPr txBox="1">
            <a:spLocks noGrp="1"/>
          </p:cNvSpPr>
          <p:nvPr>
            <p:ph type="sldNum" idx="12"/>
          </p:nvPr>
        </p:nvSpPr>
        <p:spPr>
          <a:xfrm>
            <a:off x="3850435" y="9378813"/>
            <a:ext cx="2945620" cy="493581"/>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fr-FR"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26</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ec8223986c_1_948:notes"/>
          <p:cNvSpPr txBox="1">
            <a:spLocks noGrp="1"/>
          </p:cNvSpPr>
          <p:nvPr>
            <p:ph type="body" idx="1"/>
          </p:nvPr>
        </p:nvSpPr>
        <p:spPr>
          <a:xfrm>
            <a:off x="679766" y="4690263"/>
            <a:ext cx="5438068" cy="44434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5" name="Google Shape;285;gec8223986c_1_948:notes"/>
          <p:cNvSpPr>
            <a:spLocks noGrp="1" noRot="1" noChangeAspect="1"/>
          </p:cNvSpPr>
          <p:nvPr>
            <p:ph type="sldImg" idx="2"/>
          </p:nvPr>
        </p:nvSpPr>
        <p:spPr>
          <a:xfrm>
            <a:off x="106363" y="739775"/>
            <a:ext cx="6584950" cy="37036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1"/>
        <p:cNvGrpSpPr/>
        <p:nvPr/>
      </p:nvGrpSpPr>
      <p:grpSpPr>
        <a:xfrm>
          <a:off x="0" y="0"/>
          <a:ext cx="0" cy="0"/>
          <a:chOff x="0" y="0"/>
          <a:chExt cx="0" cy="0"/>
        </a:xfrm>
      </p:grpSpPr>
      <p:sp>
        <p:nvSpPr>
          <p:cNvPr id="2402" name="Google Shape;2402;p126:notes"/>
          <p:cNvSpPr txBox="1">
            <a:spLocks noGrp="1"/>
          </p:cNvSpPr>
          <p:nvPr>
            <p:ph type="body" idx="1"/>
          </p:nvPr>
        </p:nvSpPr>
        <p:spPr>
          <a:xfrm>
            <a:off x="699023" y="4320477"/>
            <a:ext cx="5592184" cy="4093084"/>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03" name="Google Shape;2403;p126:notes"/>
          <p:cNvSpPr>
            <a:spLocks noGrp="1" noRot="1" noChangeAspect="1"/>
          </p:cNvSpPr>
          <p:nvPr>
            <p:ph type="sldImg" idx="2"/>
          </p:nvPr>
        </p:nvSpPr>
        <p:spPr>
          <a:xfrm>
            <a:off x="465138" y="682625"/>
            <a:ext cx="6061075" cy="34099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50582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65138" y="682625"/>
            <a:ext cx="6061075" cy="3409950"/>
          </a:xfrm>
        </p:spPr>
      </p:sp>
      <p:sp>
        <p:nvSpPr>
          <p:cNvPr id="3" name="Espace réservé des commentaires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altLang="fr-FR" sz="1000" b="1" u="sng" dirty="0">
                <a:solidFill>
                  <a:srgbClr val="000000"/>
                </a:solidFill>
                <a:latin typeface="Arial" panose="020B0604020202020204" pitchFamily="34" charset="0"/>
                <a:ea typeface="WenQuanYi Micro Hei" charset="0"/>
                <a:cs typeface="Arial" panose="020B0604020202020204" pitchFamily="34" charset="0"/>
              </a:rPr>
              <a:t>Explications</a:t>
            </a:r>
            <a:r>
              <a:rPr lang="fr-FR" altLang="fr-FR" sz="1000" b="1" u="sng" baseline="0" dirty="0">
                <a:solidFill>
                  <a:srgbClr val="000000"/>
                </a:solidFill>
                <a:latin typeface="Arial" panose="020B0604020202020204" pitchFamily="34" charset="0"/>
                <a:ea typeface="WenQuanYi Micro Hei" charset="0"/>
                <a:cs typeface="Arial" panose="020B0604020202020204" pitchFamily="34" charset="0"/>
              </a:rPr>
              <a:t>  :</a:t>
            </a:r>
          </a:p>
          <a:p>
            <a:r>
              <a:rPr lang="fr-FR" sz="1000" kern="1200" dirty="0">
                <a:solidFill>
                  <a:schemeClr val="tx1"/>
                </a:solidFill>
                <a:effectLst/>
                <a:latin typeface="Arial" panose="020B0604020202020204" pitchFamily="34" charset="0"/>
                <a:ea typeface="+mn-ea"/>
                <a:cs typeface="Arial" panose="020B0604020202020204" pitchFamily="34" charset="0"/>
              </a:rPr>
              <a:t>En parlant de petites actions au quotidien, Avenir Climatique et l’ADEME ont développé un outil qui s'appelle </a:t>
            </a:r>
            <a:r>
              <a:rPr lang="fr-FR" sz="1000" kern="1200" dirty="0" err="1">
                <a:solidFill>
                  <a:schemeClr val="tx1"/>
                </a:solidFill>
                <a:effectLst/>
                <a:latin typeface="Arial" panose="020B0604020202020204" pitchFamily="34" charset="0"/>
                <a:ea typeface="+mn-ea"/>
                <a:cs typeface="Arial" panose="020B0604020202020204" pitchFamily="34" charset="0"/>
              </a:rPr>
              <a:t>NosGestesClimat</a:t>
            </a:r>
            <a:r>
              <a:rPr lang="fr-FR" sz="1000" kern="1200" dirty="0">
                <a:solidFill>
                  <a:schemeClr val="tx1"/>
                </a:solidFill>
                <a:effectLst/>
                <a:latin typeface="Arial" panose="020B0604020202020204" pitchFamily="34" charset="0"/>
                <a:ea typeface="+mn-ea"/>
                <a:cs typeface="Arial" panose="020B0604020202020204" pitchFamily="34" charset="0"/>
              </a:rPr>
              <a:t>, qui te permettra de connaître ton empreinte carbone personnelle par an après avoir répondu à quelques questions et pourra t'orienter sur tes choix de mode de vie. C'est rapide, c'est simple, c'est gratuit, et c'est sur le site d'Avenir Climatique !</a:t>
            </a:r>
          </a:p>
          <a:p>
            <a:endParaRPr lang="fr-FR" sz="1000" kern="1200" dirty="0">
              <a:solidFill>
                <a:schemeClr val="tx1"/>
              </a:solidFill>
              <a:effectLst/>
              <a:latin typeface="Arial" panose="020B0604020202020204" pitchFamily="34" charset="0"/>
              <a:ea typeface="+mn-ea"/>
              <a:cs typeface="Arial" panose="020B0604020202020204" pitchFamily="34" charset="0"/>
            </a:endParaRPr>
          </a:p>
          <a:p>
            <a:r>
              <a:rPr lang="fr-FR" sz="1000" kern="1200" dirty="0">
                <a:solidFill>
                  <a:schemeClr val="tx1"/>
                </a:solidFill>
                <a:effectLst/>
                <a:latin typeface="Arial" panose="020B0604020202020204" pitchFamily="34" charset="0"/>
                <a:ea typeface="+mn-ea"/>
                <a:cs typeface="Arial" panose="020B0604020202020204" pitchFamily="34" charset="0"/>
              </a:rPr>
              <a:t>Ici on voit les différents ordres de grandeurs qui concerne la mobilité. </a:t>
            </a:r>
          </a:p>
          <a:p>
            <a:endParaRPr lang="fr-FR" sz="1000" kern="1200" dirty="0">
              <a:solidFill>
                <a:schemeClr val="tx1"/>
              </a:solidFill>
              <a:effectLst/>
              <a:latin typeface="Arial" panose="020B0604020202020204" pitchFamily="34" charset="0"/>
              <a:ea typeface="+mn-ea"/>
              <a:cs typeface="Arial" panose="020B0604020202020204" pitchFamily="34" charset="0"/>
            </a:endParaRPr>
          </a:p>
          <a:p>
            <a:r>
              <a:rPr lang="fr-FR" sz="1000" kern="1200" dirty="0">
                <a:solidFill>
                  <a:schemeClr val="tx1"/>
                </a:solidFill>
                <a:effectLst/>
                <a:latin typeface="Arial" panose="020B0604020202020204" pitchFamily="34" charset="0"/>
                <a:ea typeface="+mn-ea"/>
                <a:cs typeface="Arial" panose="020B0604020202020204" pitchFamily="34" charset="0"/>
              </a:rPr>
              <a:t>On voit de façon flagrante qu'un seul aller retour Paris/New York pendant l'année, dépasse déjà à lui seul la totalité du budget carbone alloué par personne et par an !</a:t>
            </a:r>
          </a:p>
          <a:p>
            <a:pPr marL="0" marR="0" lvl="0" indent="0" algn="l" defTabSz="914400" rtl="0" eaLnBrk="1" fontAlgn="base" latinLnBrk="0" hangingPunct="1">
              <a:lnSpc>
                <a:spcPct val="100000"/>
              </a:lnSpc>
              <a:spcBef>
                <a:spcPct val="30000"/>
              </a:spcBef>
              <a:spcAft>
                <a:spcPct val="0"/>
              </a:spcAft>
              <a:buClrTx/>
              <a:buSzTx/>
              <a:buFontTx/>
              <a:buNone/>
              <a:tabLst/>
              <a:defRPr/>
            </a:pPr>
            <a:r>
              <a:rPr lang="fr-FR" sz="1000" kern="1200" dirty="0">
                <a:solidFill>
                  <a:schemeClr val="tx1"/>
                </a:solidFill>
                <a:effectLst/>
                <a:latin typeface="Arial" panose="020B0604020202020204" pitchFamily="34" charset="0"/>
                <a:ea typeface="+mn-ea"/>
                <a:cs typeface="Arial" panose="020B0604020202020204" pitchFamily="34" charset="0"/>
              </a:rPr>
              <a:t>Avec 30 km par jour en voiture on est à la limite et on a plus grand-chose pour se nourrir, se loger… etc. On peut privilégier les transports en commun ou le vélo pour les déplacements en ville, et faire du covoiturage si un déplacement en voiture est vraiment nécessaire... L’</a:t>
            </a:r>
            <a:r>
              <a:rPr lang="fr-FR" sz="1000" kern="1200" dirty="0" err="1">
                <a:solidFill>
                  <a:schemeClr val="tx1"/>
                </a:solidFill>
                <a:effectLst/>
                <a:latin typeface="Arial" panose="020B0604020202020204" pitchFamily="34" charset="0"/>
                <a:ea typeface="+mn-ea"/>
                <a:cs typeface="Arial" panose="020B0604020202020204" pitchFamily="34" charset="0"/>
              </a:rPr>
              <a:t>éco-conduite</a:t>
            </a:r>
            <a:r>
              <a:rPr lang="fr-FR" sz="1000" kern="1200" dirty="0">
                <a:solidFill>
                  <a:schemeClr val="tx1"/>
                </a:solidFill>
                <a:effectLst/>
                <a:latin typeface="Arial" panose="020B0604020202020204" pitchFamily="34" charset="0"/>
                <a:ea typeface="+mn-ea"/>
                <a:cs typeface="Arial" panose="020B0604020202020204" pitchFamily="34" charset="0"/>
              </a:rPr>
              <a:t> permet aussi de réduire sa consommation de près de 30%. </a:t>
            </a:r>
            <a:endParaRPr lang="en-US" sz="1000" kern="1200" dirty="0">
              <a:solidFill>
                <a:schemeClr val="tx1"/>
              </a:solidFill>
              <a:effectLst/>
              <a:latin typeface="Arial" panose="020B0604020202020204" pitchFamily="34" charset="0"/>
              <a:ea typeface="+mn-ea"/>
              <a:cs typeface="Arial" panose="020B0604020202020204" pitchFamily="34" charset="0"/>
            </a:endParaRPr>
          </a:p>
          <a:p>
            <a:endParaRPr lang="en-US" sz="1000" kern="1200" dirty="0">
              <a:solidFill>
                <a:schemeClr val="tx1"/>
              </a:solidFill>
              <a:effectLst/>
              <a:latin typeface="Arial" panose="020B0604020202020204" pitchFamily="34" charset="0"/>
              <a:ea typeface="+mn-ea"/>
              <a:cs typeface="Arial" panose="020B0604020202020204" pitchFamily="34" charset="0"/>
            </a:endParaRPr>
          </a:p>
          <a:p>
            <a:pPr marL="0" indent="0">
              <a:lnSpc>
                <a:spcPct val="80000"/>
              </a:lnSpc>
              <a:spcBef>
                <a:spcPts val="325"/>
              </a:spcBef>
              <a:buSzPct val="45000"/>
              <a:buFont typeface="Arial" panose="020B0604020202020204" pitchFamily="34" charset="0"/>
              <a:buNone/>
            </a:pPr>
            <a:endParaRPr lang="fr-FR" altLang="fr-FR" sz="1000" b="0" baseline="0" dirty="0">
              <a:latin typeface="Arial" panose="020B0604020202020204" pitchFamily="34" charset="0"/>
              <a:ea typeface="WenQuanYi Micro Hei"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fr-FR" altLang="fr-FR" sz="1000" b="1" u="sng" dirty="0">
                <a:solidFill>
                  <a:srgbClr val="000000"/>
                </a:solidFill>
                <a:latin typeface="Arial" panose="020B0604020202020204" pitchFamily="34" charset="0"/>
                <a:ea typeface="WenQuanYi Micro Hei" charset="0"/>
                <a:cs typeface="Arial" panose="020B0604020202020204" pitchFamily="34" charset="0"/>
              </a:rPr>
              <a:t>Messages clés :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fr-FR" altLang="fr-FR" sz="1000" b="0" u="none" baseline="0" dirty="0">
                <a:solidFill>
                  <a:srgbClr val="000000"/>
                </a:solidFill>
                <a:latin typeface="Arial" panose="020B0604020202020204" pitchFamily="34" charset="0"/>
                <a:ea typeface="WenQuanYi Micro Hei" charset="0"/>
                <a:cs typeface="Arial" panose="020B0604020202020204" pitchFamily="34" charset="0"/>
              </a:rPr>
              <a:t>Dans nos choix quotidiens, nous avons déjà le pouvoir de réduire de manière importante notre empreinte carbone qui correspond à notre impact sur le climat.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fr-FR" altLang="fr-FR" sz="1000" b="0" dirty="0">
                <a:latin typeface="Arial" panose="020B0604020202020204" pitchFamily="34" charset="0"/>
                <a:ea typeface="WenQuanYi Micro Hei" charset="0"/>
                <a:cs typeface="Arial" panose="020B0604020202020204" pitchFamily="34" charset="0"/>
              </a:rPr>
              <a:t>Le chauffage du logement, l’alimentation</a:t>
            </a:r>
            <a:r>
              <a:rPr lang="fr-FR" altLang="fr-FR" sz="1000" b="0" baseline="0" dirty="0">
                <a:latin typeface="Arial" panose="020B0604020202020204" pitchFamily="34" charset="0"/>
                <a:ea typeface="WenQuanYi Micro Hei" charset="0"/>
                <a:cs typeface="Arial" panose="020B0604020202020204" pitchFamily="34" charset="0"/>
              </a:rPr>
              <a:t> et le transport sont les postes les plus émetteurs</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fr-FR" altLang="fr-FR" sz="1000" b="0" baseline="0" dirty="0">
                <a:latin typeface="Arial" panose="020B0604020202020204" pitchFamily="34" charset="0"/>
                <a:ea typeface="WenQuanYi Micro Hei" charset="0"/>
                <a:cs typeface="Arial" panose="020B0604020202020204" pitchFamily="34" charset="0"/>
              </a:rPr>
              <a:t>Avenir Climatique a développé un outil pour évaluer son empreinte carbone personnelle. </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fr-FR" altLang="fr-FR" sz="1000" b="0" u="sng" baseline="0" dirty="0">
              <a:solidFill>
                <a:srgbClr val="000000"/>
              </a:solidFill>
              <a:latin typeface="Arial" panose="020B0604020202020204" pitchFamily="34" charset="0"/>
              <a:ea typeface="WenQuanYi Micro Hei" charset="0"/>
              <a:cs typeface="Arial" panose="020B0604020202020204" pitchFamily="34" charset="0"/>
            </a:endParaRP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fr-FR" altLang="fr-FR" sz="1000" b="0" u="sng" baseline="0" dirty="0">
              <a:solidFill>
                <a:srgbClr val="000000"/>
              </a:solidFill>
              <a:latin typeface="Arial" panose="020B0604020202020204" pitchFamily="34" charset="0"/>
              <a:ea typeface="WenQuanYi Micro Hei" charset="0"/>
              <a:cs typeface="Arial" panose="020B0604020202020204" pitchFamily="34" charset="0"/>
            </a:endParaRPr>
          </a:p>
        </p:txBody>
      </p:sp>
      <p:sp>
        <p:nvSpPr>
          <p:cNvPr id="4" name="Espace réservé du numéro de diapositive 3"/>
          <p:cNvSpPr>
            <a:spLocks noGrp="1"/>
          </p:cNvSpPr>
          <p:nvPr>
            <p:ph type="sldNum" sz="quarter" idx="10"/>
          </p:nvPr>
        </p:nvSpPr>
        <p:spPr/>
        <p:txBody>
          <a:bodyPr/>
          <a:lstStyle/>
          <a:p>
            <a:fld id="{A6F118AE-E6EF-8F41-B352-DCE215D81188}" type="slidenum">
              <a:rPr lang="fr-FR">
                <a:solidFill>
                  <a:prstClr val="black"/>
                </a:solidFill>
                <a:latin typeface="Calibri"/>
              </a:rPr>
              <a:pPr/>
              <a:t>29</a:t>
            </a:fld>
            <a:endParaRPr lang="fr-FR">
              <a:solidFill>
                <a:prstClr val="black"/>
              </a:solidFill>
              <a:latin typeface="Calibri"/>
            </a:endParaRPr>
          </a:p>
        </p:txBody>
      </p:sp>
    </p:spTree>
    <p:extLst>
      <p:ext uri="{BB962C8B-B14F-4D97-AF65-F5344CB8AC3E}">
        <p14:creationId xmlns:p14="http://schemas.microsoft.com/office/powerpoint/2010/main" val="39075392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65138" y="682625"/>
            <a:ext cx="6061075" cy="3409950"/>
          </a:xfrm>
        </p:spPr>
      </p:sp>
      <p:sp>
        <p:nvSpPr>
          <p:cNvPr id="3" name="Espace réservé des commentaires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altLang="fr-FR" sz="1000" b="1" u="sng" dirty="0">
                <a:solidFill>
                  <a:srgbClr val="000000"/>
                </a:solidFill>
                <a:latin typeface="Arial" panose="020B0604020202020204" pitchFamily="34" charset="0"/>
                <a:ea typeface="WenQuanYi Micro Hei" charset="0"/>
                <a:cs typeface="Arial" panose="020B0604020202020204" pitchFamily="34" charset="0"/>
              </a:rPr>
              <a:t>Explications</a:t>
            </a:r>
            <a:r>
              <a:rPr lang="fr-FR" altLang="fr-FR" sz="1000" b="1" u="sng" baseline="0" dirty="0">
                <a:solidFill>
                  <a:srgbClr val="000000"/>
                </a:solidFill>
                <a:latin typeface="Arial" panose="020B0604020202020204" pitchFamily="34" charset="0"/>
                <a:ea typeface="WenQuanYi Micro Hei" charset="0"/>
                <a:cs typeface="Arial" panose="020B0604020202020204"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kern="1200" dirty="0">
                <a:solidFill>
                  <a:schemeClr val="tx1"/>
                </a:solidFill>
                <a:effectLst/>
                <a:latin typeface="Arial" panose="020B0604020202020204" pitchFamily="34" charset="0"/>
                <a:ea typeface="+mn-ea"/>
                <a:cs typeface="Arial" panose="020B0604020202020204" pitchFamily="34" charset="0"/>
              </a:rPr>
              <a:t>Ici on voit les différents ordres de grandeurs qui concerne les biens et services. </a:t>
            </a:r>
          </a:p>
          <a:p>
            <a:pPr marL="0" marR="0" indent="0" algn="l" defTabSz="914400" rtl="0" eaLnBrk="1" fontAlgn="auto" latinLnBrk="0" hangingPunct="1">
              <a:lnSpc>
                <a:spcPct val="100000"/>
              </a:lnSpc>
              <a:spcBef>
                <a:spcPts val="0"/>
              </a:spcBef>
              <a:spcAft>
                <a:spcPts val="0"/>
              </a:spcAft>
              <a:buClrTx/>
              <a:buSzTx/>
              <a:buFontTx/>
              <a:buNone/>
              <a:tabLst/>
              <a:defRPr/>
            </a:pPr>
            <a:endParaRPr lang="fr-FR" altLang="fr-FR" sz="1000" b="1" u="sng" baseline="0" dirty="0">
              <a:solidFill>
                <a:srgbClr val="000000"/>
              </a:solidFill>
              <a:latin typeface="Arial" panose="020B0604020202020204" pitchFamily="34" charset="0"/>
              <a:ea typeface="WenQuanYi Micro Hei"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kern="1200" dirty="0">
                <a:solidFill>
                  <a:schemeClr val="tx1"/>
                </a:solidFill>
                <a:effectLst/>
                <a:latin typeface="Arial" panose="020B0604020202020204" pitchFamily="34" charset="0"/>
                <a:ea typeface="+mn-ea"/>
                <a:cs typeface="Arial" panose="020B0604020202020204" pitchFamily="34" charset="0"/>
              </a:rPr>
              <a:t>Tu peux  encore privilégier l'achat de biens d'occasion ou reconditionnés, ou choisir des produits dont la durée de vie est plus importante. Les usages numériques prennent de plus en plus de place dans nos vies mais ont un impact très important. Regarder un film à la TV c’est beaucoup moins émetteur que du streaming. Lire un livre pendant 1h émet 10 fois moins de CO2 que de regarder 1H de vidéo sur internet.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000" kern="1200" dirty="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kern="1200" dirty="0">
                <a:solidFill>
                  <a:schemeClr val="tx1"/>
                </a:solidFill>
                <a:effectLst/>
                <a:latin typeface="Arial" panose="020B0604020202020204" pitchFamily="34" charset="0"/>
                <a:ea typeface="+mn-ea"/>
                <a:cs typeface="Arial" panose="020B0604020202020204" pitchFamily="34" charset="0"/>
              </a:rPr>
              <a:t>Les services publics sont également un poste important de nos émissions. Se soigner, s’éduquer, la défense, tout ça produit des émissions de gaz à effet de serre. C’est pourquoi les gestes individuels ne sont pas suffisants et que toute la société doit faire sa transition. </a:t>
            </a:r>
            <a:endParaRPr lang="en-US" sz="1000" kern="1200" dirty="0">
              <a:solidFill>
                <a:schemeClr val="tx1"/>
              </a:solidFill>
              <a:effectLst/>
              <a:latin typeface="Arial" panose="020B0604020202020204" pitchFamily="34" charset="0"/>
              <a:ea typeface="+mn-ea"/>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fr-FR" altLang="fr-FR" sz="1000" b="1" u="sng" baseline="0" dirty="0">
              <a:solidFill>
                <a:srgbClr val="000000"/>
              </a:solidFill>
              <a:latin typeface="Arial" panose="020B0604020202020204" pitchFamily="34" charset="0"/>
              <a:ea typeface="WenQuanYi Micro Hei" charset="0"/>
              <a:cs typeface="Arial" panose="020B0604020202020204" pitchFamily="34" charset="0"/>
            </a:endParaRPr>
          </a:p>
        </p:txBody>
      </p:sp>
      <p:sp>
        <p:nvSpPr>
          <p:cNvPr id="4" name="Espace réservé du numéro de diapositive 3"/>
          <p:cNvSpPr>
            <a:spLocks noGrp="1"/>
          </p:cNvSpPr>
          <p:nvPr>
            <p:ph type="sldNum" sz="quarter" idx="10"/>
          </p:nvPr>
        </p:nvSpPr>
        <p:spPr/>
        <p:txBody>
          <a:bodyPr/>
          <a:lstStyle/>
          <a:p>
            <a:fld id="{A6F118AE-E6EF-8F41-B352-DCE215D81188}" type="slidenum">
              <a:rPr lang="fr-FR">
                <a:solidFill>
                  <a:prstClr val="black"/>
                </a:solidFill>
                <a:latin typeface="Calibri"/>
              </a:rPr>
              <a:pPr/>
              <a:t>30</a:t>
            </a:fld>
            <a:endParaRPr lang="fr-FR">
              <a:solidFill>
                <a:prstClr val="black"/>
              </a:solidFill>
              <a:latin typeface="Calibri"/>
            </a:endParaRPr>
          </a:p>
        </p:txBody>
      </p:sp>
    </p:spTree>
    <p:extLst>
      <p:ext uri="{BB962C8B-B14F-4D97-AF65-F5344CB8AC3E}">
        <p14:creationId xmlns:p14="http://schemas.microsoft.com/office/powerpoint/2010/main" val="38007757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65138" y="682625"/>
            <a:ext cx="6061075" cy="3409950"/>
          </a:xfrm>
        </p:spPr>
      </p:sp>
      <p:sp>
        <p:nvSpPr>
          <p:cNvPr id="3" name="Espace réservé des commentaires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altLang="fr-FR" sz="1000" b="1" u="sng" dirty="0">
                <a:solidFill>
                  <a:srgbClr val="000000"/>
                </a:solidFill>
                <a:latin typeface="Arial" panose="020B0604020202020204" pitchFamily="34" charset="0"/>
                <a:ea typeface="WenQuanYi Micro Hei" charset="0"/>
                <a:cs typeface="Arial" panose="020B0604020202020204" pitchFamily="34" charset="0"/>
              </a:rPr>
              <a:t>Explications</a:t>
            </a:r>
            <a:r>
              <a:rPr lang="fr-FR" altLang="fr-FR" sz="1000" b="1" u="sng" baseline="0" dirty="0">
                <a:solidFill>
                  <a:srgbClr val="000000"/>
                </a:solidFill>
                <a:latin typeface="Arial" panose="020B0604020202020204" pitchFamily="34" charset="0"/>
                <a:ea typeface="WenQuanYi Micro Hei" charset="0"/>
                <a:cs typeface="Arial" panose="020B0604020202020204"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kern="1200" dirty="0">
                <a:solidFill>
                  <a:schemeClr val="tx1"/>
                </a:solidFill>
                <a:effectLst/>
                <a:latin typeface="Arial" panose="020B0604020202020204" pitchFamily="34" charset="0"/>
                <a:ea typeface="+mn-ea"/>
                <a:cs typeface="Arial" panose="020B0604020202020204" pitchFamily="34" charset="0"/>
              </a:rPr>
              <a:t>Ici on voit les différents ordres de grandeurs qui concerne l’alimentation.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000" kern="1200" dirty="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kern="1200" dirty="0">
                <a:solidFill>
                  <a:schemeClr val="tx1"/>
                </a:solidFill>
                <a:effectLst/>
                <a:latin typeface="Arial" panose="020B0604020202020204" pitchFamily="34" charset="0"/>
                <a:ea typeface="+mn-ea"/>
                <a:cs typeface="Arial" panose="020B0604020202020204" pitchFamily="34" charset="0"/>
              </a:rPr>
              <a:t>Pour réduire son empreinte carbone, on peut par exemple commencer par privilégier les fruits et légumes de saison, au transport de fruits et légumes qui viennent de l'autre bout de la planète ou au chauffage des serres en hiver. Il s’agit aussi de réduire sa consommation de viande notamment la viande rouge qui est fortement émettrice de gaz à effet de serre.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000" kern="1200" dirty="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kern="1200" dirty="0">
                <a:solidFill>
                  <a:schemeClr val="tx1"/>
                </a:solidFill>
                <a:effectLst/>
                <a:latin typeface="Arial" panose="020B0604020202020204" pitchFamily="34" charset="0"/>
                <a:ea typeface="+mn-ea"/>
                <a:cs typeface="Arial" panose="020B0604020202020204" pitchFamily="34" charset="0"/>
              </a:rPr>
              <a:t>Les démarches zéro déchet ne sont pas à négliger. Elles ont un intérêt d’un point de vue de préservation des ressources et de protection des </a:t>
            </a:r>
            <a:r>
              <a:rPr lang="fr-FR" sz="1000" kern="1200" dirty="0" err="1">
                <a:solidFill>
                  <a:schemeClr val="tx1"/>
                </a:solidFill>
                <a:effectLst/>
                <a:latin typeface="Arial" panose="020B0604020202020204" pitchFamily="34" charset="0"/>
                <a:ea typeface="+mn-ea"/>
                <a:cs typeface="Arial" panose="020B0604020202020204" pitchFamily="34" charset="0"/>
              </a:rPr>
              <a:t>éco-systèmes</a:t>
            </a:r>
            <a:r>
              <a:rPr lang="fr-FR" sz="1000" kern="1200" dirty="0">
                <a:solidFill>
                  <a:schemeClr val="tx1"/>
                </a:solidFill>
                <a:effectLst/>
                <a:latin typeface="Arial" panose="020B0604020202020204" pitchFamily="34" charset="0"/>
                <a:ea typeface="+mn-ea"/>
                <a:cs typeface="Arial" panose="020B0604020202020204" pitchFamily="34" charset="0"/>
              </a:rPr>
              <a:t> mais cela n’a que peu d’impact sur le climat. C’est l’occasion de mettre en avant que lorsqu’on est focalisé sur un seul problème (le climat), on peut rapidement en oublier d’autres qui sont également importants. Quand on compte du carbone, on ne s’intéresse qu’au climat.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000" kern="1200" dirty="0">
              <a:solidFill>
                <a:schemeClr val="tx1"/>
              </a:solidFill>
              <a:effectLst/>
              <a:latin typeface="Arial" panose="020B0604020202020204" pitchFamily="34" charset="0"/>
              <a:ea typeface="+mn-ea"/>
              <a:cs typeface="Arial" panose="020B0604020202020204" pitchFamily="34" charset="0"/>
            </a:endParaRPr>
          </a:p>
        </p:txBody>
      </p:sp>
      <p:sp>
        <p:nvSpPr>
          <p:cNvPr id="4" name="Espace réservé du numéro de diapositive 3"/>
          <p:cNvSpPr>
            <a:spLocks noGrp="1"/>
          </p:cNvSpPr>
          <p:nvPr>
            <p:ph type="sldNum" sz="quarter" idx="10"/>
          </p:nvPr>
        </p:nvSpPr>
        <p:spPr/>
        <p:txBody>
          <a:bodyPr/>
          <a:lstStyle/>
          <a:p>
            <a:fld id="{A6F118AE-E6EF-8F41-B352-DCE215D81188}" type="slidenum">
              <a:rPr lang="fr-FR">
                <a:solidFill>
                  <a:prstClr val="black"/>
                </a:solidFill>
                <a:latin typeface="Calibri"/>
              </a:rPr>
              <a:pPr/>
              <a:t>31</a:t>
            </a:fld>
            <a:endParaRPr lang="fr-FR">
              <a:solidFill>
                <a:prstClr val="black"/>
              </a:solidFill>
              <a:latin typeface="Calibri"/>
            </a:endParaRPr>
          </a:p>
        </p:txBody>
      </p:sp>
    </p:spTree>
    <p:extLst>
      <p:ext uri="{BB962C8B-B14F-4D97-AF65-F5344CB8AC3E}">
        <p14:creationId xmlns:p14="http://schemas.microsoft.com/office/powerpoint/2010/main" val="7651053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65138" y="682625"/>
            <a:ext cx="6061075" cy="3409950"/>
          </a:xfrm>
        </p:spPr>
      </p:sp>
      <p:sp>
        <p:nvSpPr>
          <p:cNvPr id="3" name="Espace réservé des commentaires 2"/>
          <p:cNvSpPr>
            <a:spLocks noGrp="1"/>
          </p:cNvSpPr>
          <p:nvPr>
            <p:ph type="body" idx="1"/>
          </p:nvPr>
        </p:nvSpPr>
        <p:spPr/>
        <p:txBody>
          <a:bodyPr>
            <a:normAutofit lnSpcReduction="1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altLang="fr-FR" sz="1000" b="1" u="sng" dirty="0">
                <a:solidFill>
                  <a:srgbClr val="000000"/>
                </a:solidFill>
                <a:latin typeface="Arial" panose="020B0604020202020204" pitchFamily="34" charset="0"/>
                <a:ea typeface="WenQuanYi Micro Hei" charset="0"/>
                <a:cs typeface="Arial" panose="020B0604020202020204" pitchFamily="34" charset="0"/>
              </a:rPr>
              <a:t>Explications</a:t>
            </a:r>
            <a:r>
              <a:rPr lang="fr-FR" altLang="fr-FR" sz="1000" b="1" u="sng" baseline="0" dirty="0">
                <a:solidFill>
                  <a:srgbClr val="000000"/>
                </a:solidFill>
                <a:latin typeface="Arial" panose="020B0604020202020204" pitchFamily="34" charset="0"/>
                <a:ea typeface="WenQuanYi Micro Hei" charset="0"/>
                <a:cs typeface="Arial" panose="020B0604020202020204"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kern="1200" dirty="0">
                <a:solidFill>
                  <a:schemeClr val="tx1"/>
                </a:solidFill>
                <a:effectLst/>
                <a:latin typeface="Arial" panose="020B0604020202020204" pitchFamily="34" charset="0"/>
                <a:ea typeface="+mn-ea"/>
                <a:cs typeface="Arial" panose="020B0604020202020204" pitchFamily="34" charset="0"/>
              </a:rPr>
              <a:t>Ici on voit les différents ordres de grandeurs qui concernent le logement. </a:t>
            </a:r>
          </a:p>
          <a:p>
            <a:pPr marL="0" marR="0" indent="0" algn="l" defTabSz="914400" rtl="0" eaLnBrk="1" fontAlgn="auto" latinLnBrk="0" hangingPunct="1">
              <a:lnSpc>
                <a:spcPct val="100000"/>
              </a:lnSpc>
              <a:spcBef>
                <a:spcPts val="0"/>
              </a:spcBef>
              <a:spcAft>
                <a:spcPts val="0"/>
              </a:spcAft>
              <a:buClrTx/>
              <a:buSzTx/>
              <a:buFontTx/>
              <a:buNone/>
              <a:tabLst/>
              <a:defRPr/>
            </a:pPr>
            <a:endParaRPr lang="fr-FR" altLang="fr-FR" sz="1000" b="1" dirty="0">
              <a:latin typeface="Arial" panose="020B0604020202020204" pitchFamily="34" charset="0"/>
              <a:ea typeface="WenQuanYi Micro Hei"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kern="1200" dirty="0">
                <a:solidFill>
                  <a:schemeClr val="tx1"/>
                </a:solidFill>
                <a:effectLst/>
                <a:latin typeface="Arial" panose="020B0604020202020204" pitchFamily="34" charset="0"/>
                <a:ea typeface="+mn-ea"/>
                <a:cs typeface="Arial" panose="020B0604020202020204" pitchFamily="34" charset="0"/>
              </a:rPr>
              <a:t>Coté logement, la clé c’est de rénover le bâtiment pour moins consommer d’énergie. De changer sa chaudière fioul et gaz par une alternative bas carbone comme le bois ou la pompe à chaleur et d’être sobre dans son usage du chauffage (baisse de la température, réduction de la surface à chauffer…).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000" kern="1200" dirty="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kern="1200" dirty="0">
                <a:solidFill>
                  <a:schemeClr val="tx1"/>
                </a:solidFill>
                <a:effectLst/>
                <a:latin typeface="Arial" panose="020B0604020202020204" pitchFamily="34" charset="0"/>
                <a:ea typeface="+mn-ea"/>
                <a:cs typeface="Arial" panose="020B0604020202020204" pitchFamily="34" charset="0"/>
              </a:rPr>
              <a:t>La construction de logement coute cher en gaz à effet de serre car elle sollicite beaucoup de matières premières et d’énergie. Pourtant, il y a beaucoup de logements vacants. La mode des pavillons individuels est difficilement compatible avec une limitation du réchauffement climatique. D’autres solutions comme l’habitat léger permette de vivre très confortablement sans bétonner des terres agricoles ou des espaces naturels.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000" kern="1200" dirty="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kern="1200" dirty="0">
                <a:solidFill>
                  <a:schemeClr val="tx1"/>
                </a:solidFill>
                <a:effectLst/>
                <a:latin typeface="Arial" panose="020B0604020202020204" pitchFamily="34" charset="0"/>
                <a:ea typeface="+mn-ea"/>
                <a:cs typeface="Arial" panose="020B0604020202020204" pitchFamily="34" charset="0"/>
              </a:rPr>
              <a:t>Les petits </a:t>
            </a:r>
            <a:r>
              <a:rPr lang="fr-FR" sz="1000" kern="1200" dirty="0" err="1">
                <a:solidFill>
                  <a:schemeClr val="tx1"/>
                </a:solidFill>
                <a:effectLst/>
                <a:latin typeface="Arial" panose="020B0604020202020204" pitchFamily="34" charset="0"/>
                <a:ea typeface="+mn-ea"/>
                <a:cs typeface="Arial" panose="020B0604020202020204" pitchFamily="34" charset="0"/>
              </a:rPr>
              <a:t>éco-gestes</a:t>
            </a:r>
            <a:r>
              <a:rPr lang="fr-FR" sz="1000" kern="1200" dirty="0">
                <a:solidFill>
                  <a:schemeClr val="tx1"/>
                </a:solidFill>
                <a:effectLst/>
                <a:latin typeface="Arial" panose="020B0604020202020204" pitchFamily="34" charset="0"/>
                <a:ea typeface="+mn-ea"/>
                <a:cs typeface="Arial" panose="020B0604020202020204" pitchFamily="34" charset="0"/>
              </a:rPr>
              <a:t> (comme éteindre la lumière ou la multiprise) sont déjà une bonne base pour s'éduquer et commencer à changer ses habitudes au quotidien, mais n'ont que très peu d'impact en matière d'émission de GES.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000" b="1" u="sng" kern="1200" dirty="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b="1" u="sng" kern="1200" dirty="0">
                <a:solidFill>
                  <a:schemeClr val="tx1"/>
                </a:solidFill>
                <a:effectLst/>
                <a:latin typeface="Arial" panose="020B0604020202020204" pitchFamily="34" charset="0"/>
                <a:ea typeface="+mn-ea"/>
                <a:cs typeface="Arial" panose="020B0604020202020204" pitchFamily="34" charset="0"/>
              </a:rPr>
              <a:t>Pour aller plus loin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kern="1200" dirty="0">
                <a:solidFill>
                  <a:schemeClr val="tx1"/>
                </a:solidFill>
                <a:effectLst/>
                <a:latin typeface="Arial" panose="020B0604020202020204" pitchFamily="34" charset="0"/>
                <a:ea typeface="+mn-ea"/>
                <a:cs typeface="Arial" panose="020B0604020202020204" pitchFamily="34" charset="0"/>
              </a:rPr>
              <a:t>Le bilan carbone ne s’intéresse qu’à un seul indicateur : l’impact de nos activités sur le climat. Cependant, il est bon de garder en tête que le problème est plus large que cela. Par exemple, se chauffer à l’</a:t>
            </a:r>
            <a:r>
              <a:rPr lang="fr-FR" sz="1000" kern="1200" dirty="0" err="1">
                <a:solidFill>
                  <a:schemeClr val="tx1"/>
                </a:solidFill>
                <a:effectLst/>
                <a:latin typeface="Arial" panose="020B0604020202020204" pitchFamily="34" charset="0"/>
                <a:ea typeface="+mn-ea"/>
                <a:cs typeface="Arial" panose="020B0604020202020204" pitchFamily="34" charset="0"/>
              </a:rPr>
              <a:t>electricité</a:t>
            </a:r>
            <a:r>
              <a:rPr lang="fr-FR" sz="1000" kern="1200" dirty="0">
                <a:solidFill>
                  <a:schemeClr val="tx1"/>
                </a:solidFill>
                <a:effectLst/>
                <a:latin typeface="Arial" panose="020B0604020202020204" pitchFamily="34" charset="0"/>
                <a:ea typeface="+mn-ea"/>
                <a:cs typeface="Arial" panose="020B0604020202020204" pitchFamily="34" charset="0"/>
              </a:rPr>
              <a:t> est assez propre d’un point de vu carbone mais cela revient beaucoup plus cher économiquement pour un ménage. En France 5 millions de ménages sont en situation de précarité énergétique en partie à cause de chauffages électriques et d’un logement mal isolé.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000" kern="1200" dirty="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kern="1200" dirty="0">
                <a:solidFill>
                  <a:schemeClr val="tx1"/>
                </a:solidFill>
                <a:effectLst/>
                <a:latin typeface="Arial" panose="020B0604020202020204" pitchFamily="34" charset="0"/>
                <a:ea typeface="+mn-ea"/>
                <a:cs typeface="Arial" panose="020B0604020202020204" pitchFamily="34" charset="0"/>
              </a:rPr>
              <a:t>Voir : </a:t>
            </a:r>
            <a:r>
              <a:rPr lang="fr-FR" sz="1000" dirty="0">
                <a:hlinkClick r:id="rId3"/>
              </a:rPr>
              <a:t>https://www.ademe.fr/expertises/batiment/quoi-parle-t/precarite-energetique</a:t>
            </a:r>
            <a:endParaRPr lang="en-US" sz="1000" kern="1200" dirty="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000" kern="1200" dirty="0">
              <a:solidFill>
                <a:schemeClr val="tx1"/>
              </a:solidFill>
              <a:effectLst/>
              <a:latin typeface="Arial" panose="020B0604020202020204" pitchFamily="34" charset="0"/>
              <a:ea typeface="+mn-ea"/>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fr-FR" altLang="fr-FR" sz="1000" b="1" dirty="0">
              <a:latin typeface="Arial" panose="020B0604020202020204" pitchFamily="34" charset="0"/>
              <a:ea typeface="WenQuanYi Micro Hei" charset="0"/>
              <a:cs typeface="Arial" panose="020B0604020202020204" pitchFamily="34" charset="0"/>
            </a:endParaRPr>
          </a:p>
        </p:txBody>
      </p:sp>
      <p:sp>
        <p:nvSpPr>
          <p:cNvPr id="4" name="Espace réservé du numéro de diapositive 3"/>
          <p:cNvSpPr>
            <a:spLocks noGrp="1"/>
          </p:cNvSpPr>
          <p:nvPr>
            <p:ph type="sldNum" sz="quarter" idx="10"/>
          </p:nvPr>
        </p:nvSpPr>
        <p:spPr/>
        <p:txBody>
          <a:bodyPr/>
          <a:lstStyle/>
          <a:p>
            <a:fld id="{A6F118AE-E6EF-8F41-B352-DCE215D81188}" type="slidenum">
              <a:rPr lang="fr-FR">
                <a:solidFill>
                  <a:prstClr val="black"/>
                </a:solidFill>
                <a:latin typeface="Calibri"/>
              </a:rPr>
              <a:pPr/>
              <a:t>32</a:t>
            </a:fld>
            <a:endParaRPr lang="fr-FR">
              <a:solidFill>
                <a:prstClr val="black"/>
              </a:solidFill>
              <a:latin typeface="Calibri"/>
            </a:endParaRPr>
          </a:p>
        </p:txBody>
      </p:sp>
    </p:spTree>
    <p:extLst>
      <p:ext uri="{BB962C8B-B14F-4D97-AF65-F5344CB8AC3E}">
        <p14:creationId xmlns:p14="http://schemas.microsoft.com/office/powerpoint/2010/main" val="36969843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65138" y="682625"/>
            <a:ext cx="6061075" cy="3409950"/>
          </a:xfrm>
        </p:spPr>
      </p:sp>
      <p:sp>
        <p:nvSpPr>
          <p:cNvPr id="3" name="Espace réservé des commentaires 2"/>
          <p:cNvSpPr>
            <a:spLocks noGrp="1"/>
          </p:cNvSpPr>
          <p:nvPr>
            <p:ph type="body" idx="1"/>
          </p:nvPr>
        </p:nvSpPr>
        <p:spPr/>
        <p:txBody>
          <a:bodyPr>
            <a:normAutofit lnSpcReduction="1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altLang="fr-FR" sz="1000" b="1" u="sng" dirty="0">
                <a:solidFill>
                  <a:srgbClr val="000000"/>
                </a:solidFill>
                <a:latin typeface="Arial" panose="020B0604020202020204" pitchFamily="34" charset="0"/>
                <a:ea typeface="WenQuanYi Micro Hei" charset="0"/>
                <a:cs typeface="Arial" panose="020B0604020202020204" pitchFamily="34" charset="0"/>
              </a:rPr>
              <a:t>Explications</a:t>
            </a:r>
            <a:r>
              <a:rPr lang="fr-FR" altLang="fr-FR" sz="1000" b="1" u="sng" baseline="0" dirty="0">
                <a:solidFill>
                  <a:srgbClr val="000000"/>
                </a:solidFill>
                <a:latin typeface="Arial" panose="020B0604020202020204" pitchFamily="34" charset="0"/>
                <a:ea typeface="WenQuanYi Micro Hei" charset="0"/>
                <a:cs typeface="Arial" panose="020B0604020202020204"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kern="1200" dirty="0">
                <a:solidFill>
                  <a:schemeClr val="tx1"/>
                </a:solidFill>
                <a:effectLst/>
                <a:latin typeface="Arial" panose="020B0604020202020204" pitchFamily="34" charset="0"/>
                <a:ea typeface="+mn-ea"/>
                <a:cs typeface="Arial" panose="020B0604020202020204" pitchFamily="34" charset="0"/>
              </a:rPr>
              <a:t>Ici on voit les différents ordres de grandeurs qui concernent le logement. </a:t>
            </a:r>
          </a:p>
          <a:p>
            <a:pPr marL="0" marR="0" indent="0" algn="l" defTabSz="914400" rtl="0" eaLnBrk="1" fontAlgn="auto" latinLnBrk="0" hangingPunct="1">
              <a:lnSpc>
                <a:spcPct val="100000"/>
              </a:lnSpc>
              <a:spcBef>
                <a:spcPts val="0"/>
              </a:spcBef>
              <a:spcAft>
                <a:spcPts val="0"/>
              </a:spcAft>
              <a:buClrTx/>
              <a:buSzTx/>
              <a:buFontTx/>
              <a:buNone/>
              <a:tabLst/>
              <a:defRPr/>
            </a:pPr>
            <a:endParaRPr lang="fr-FR" altLang="fr-FR" sz="1000" b="1" dirty="0">
              <a:latin typeface="Arial" panose="020B0604020202020204" pitchFamily="34" charset="0"/>
              <a:ea typeface="WenQuanYi Micro Hei"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kern="1200" dirty="0">
                <a:solidFill>
                  <a:schemeClr val="tx1"/>
                </a:solidFill>
                <a:effectLst/>
                <a:latin typeface="Arial" panose="020B0604020202020204" pitchFamily="34" charset="0"/>
                <a:ea typeface="+mn-ea"/>
                <a:cs typeface="Arial" panose="020B0604020202020204" pitchFamily="34" charset="0"/>
              </a:rPr>
              <a:t>Coté logement, la clé c’est de rénover le bâtiment pour moins consommer d’énergie. De changer sa chaudière fioul et gaz par une alternative bas carbone comme le bois ou la pompe à chaleur et d’être sobre dans son usage du chauffage (baisse de la température, réduction de la surface à chauffer…).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000" kern="1200" dirty="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kern="1200" dirty="0">
                <a:solidFill>
                  <a:schemeClr val="tx1"/>
                </a:solidFill>
                <a:effectLst/>
                <a:latin typeface="Arial" panose="020B0604020202020204" pitchFamily="34" charset="0"/>
                <a:ea typeface="+mn-ea"/>
                <a:cs typeface="Arial" panose="020B0604020202020204" pitchFamily="34" charset="0"/>
              </a:rPr>
              <a:t>La construction de logement coute cher en gaz à effet de serre car elle sollicite beaucoup de matières premières et d’énergie. Pourtant, il y a beaucoup de logements vacants. La mode des pavillons individuels est difficilement compatible avec une limitation du réchauffement climatique. D’autres solutions comme l’habitat léger permette de vivre très confortablement sans bétonner des terres agricoles ou des espaces naturels.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000" kern="1200" dirty="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kern="1200" dirty="0">
                <a:solidFill>
                  <a:schemeClr val="tx1"/>
                </a:solidFill>
                <a:effectLst/>
                <a:latin typeface="Arial" panose="020B0604020202020204" pitchFamily="34" charset="0"/>
                <a:ea typeface="+mn-ea"/>
                <a:cs typeface="Arial" panose="020B0604020202020204" pitchFamily="34" charset="0"/>
              </a:rPr>
              <a:t>Les petits </a:t>
            </a:r>
            <a:r>
              <a:rPr lang="fr-FR" sz="1000" kern="1200" dirty="0" err="1">
                <a:solidFill>
                  <a:schemeClr val="tx1"/>
                </a:solidFill>
                <a:effectLst/>
                <a:latin typeface="Arial" panose="020B0604020202020204" pitchFamily="34" charset="0"/>
                <a:ea typeface="+mn-ea"/>
                <a:cs typeface="Arial" panose="020B0604020202020204" pitchFamily="34" charset="0"/>
              </a:rPr>
              <a:t>éco-gestes</a:t>
            </a:r>
            <a:r>
              <a:rPr lang="fr-FR" sz="1000" kern="1200" dirty="0">
                <a:solidFill>
                  <a:schemeClr val="tx1"/>
                </a:solidFill>
                <a:effectLst/>
                <a:latin typeface="Arial" panose="020B0604020202020204" pitchFamily="34" charset="0"/>
                <a:ea typeface="+mn-ea"/>
                <a:cs typeface="Arial" panose="020B0604020202020204" pitchFamily="34" charset="0"/>
              </a:rPr>
              <a:t> (comme éteindre la lumière ou la multiprise) sont déjà une bonne base pour s'éduquer et commencer à changer ses habitudes au quotidien, mais n'ont que très peu d'impact en matière d'émission de GES.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000" b="1" u="sng" kern="1200" dirty="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b="1" u="sng" kern="1200" dirty="0">
                <a:solidFill>
                  <a:schemeClr val="tx1"/>
                </a:solidFill>
                <a:effectLst/>
                <a:latin typeface="Arial" panose="020B0604020202020204" pitchFamily="34" charset="0"/>
                <a:ea typeface="+mn-ea"/>
                <a:cs typeface="Arial" panose="020B0604020202020204" pitchFamily="34" charset="0"/>
              </a:rPr>
              <a:t>Pour aller plus loin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kern="1200" dirty="0">
                <a:solidFill>
                  <a:schemeClr val="tx1"/>
                </a:solidFill>
                <a:effectLst/>
                <a:latin typeface="Arial" panose="020B0604020202020204" pitchFamily="34" charset="0"/>
                <a:ea typeface="+mn-ea"/>
                <a:cs typeface="Arial" panose="020B0604020202020204" pitchFamily="34" charset="0"/>
              </a:rPr>
              <a:t>Le bilan carbone ne s’intéresse qu’à un seul indicateur : l’impact de nos activités sur le climat. Cependant, il est bon de garder en tête que le problème est plus large que cela. Par exemple, se chauffer à l’</a:t>
            </a:r>
            <a:r>
              <a:rPr lang="fr-FR" sz="1000" kern="1200" dirty="0" err="1">
                <a:solidFill>
                  <a:schemeClr val="tx1"/>
                </a:solidFill>
                <a:effectLst/>
                <a:latin typeface="Arial" panose="020B0604020202020204" pitchFamily="34" charset="0"/>
                <a:ea typeface="+mn-ea"/>
                <a:cs typeface="Arial" panose="020B0604020202020204" pitchFamily="34" charset="0"/>
              </a:rPr>
              <a:t>electricité</a:t>
            </a:r>
            <a:r>
              <a:rPr lang="fr-FR" sz="1000" kern="1200" dirty="0">
                <a:solidFill>
                  <a:schemeClr val="tx1"/>
                </a:solidFill>
                <a:effectLst/>
                <a:latin typeface="Arial" panose="020B0604020202020204" pitchFamily="34" charset="0"/>
                <a:ea typeface="+mn-ea"/>
                <a:cs typeface="Arial" panose="020B0604020202020204" pitchFamily="34" charset="0"/>
              </a:rPr>
              <a:t> est assez propre d’un point de vu carbone mais cela revient beaucoup plus cher économiquement pour un ménage. En France 5 millions de ménages sont en situation de précarité énergétique en partie à cause de chauffages électriques et d’un logement mal isolé.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000" kern="1200" dirty="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kern="1200" dirty="0">
                <a:solidFill>
                  <a:schemeClr val="tx1"/>
                </a:solidFill>
                <a:effectLst/>
                <a:latin typeface="Arial" panose="020B0604020202020204" pitchFamily="34" charset="0"/>
                <a:ea typeface="+mn-ea"/>
                <a:cs typeface="Arial" panose="020B0604020202020204" pitchFamily="34" charset="0"/>
              </a:rPr>
              <a:t>Voir : </a:t>
            </a:r>
            <a:r>
              <a:rPr lang="fr-FR" sz="1000" dirty="0">
                <a:hlinkClick r:id="rId3"/>
              </a:rPr>
              <a:t>https://www.ademe.fr/expertises/batiment/quoi-parle-t/precarite-energetique</a:t>
            </a:r>
            <a:endParaRPr lang="en-US" sz="1000" kern="1200" dirty="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000" kern="1200" dirty="0">
              <a:solidFill>
                <a:schemeClr val="tx1"/>
              </a:solidFill>
              <a:effectLst/>
              <a:latin typeface="Arial" panose="020B0604020202020204" pitchFamily="34" charset="0"/>
              <a:ea typeface="+mn-ea"/>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fr-FR" altLang="fr-FR" sz="1000" b="1" dirty="0">
              <a:latin typeface="Arial" panose="020B0604020202020204" pitchFamily="34" charset="0"/>
              <a:ea typeface="WenQuanYi Micro Hei" charset="0"/>
              <a:cs typeface="Arial" panose="020B0604020202020204" pitchFamily="34" charset="0"/>
            </a:endParaRPr>
          </a:p>
        </p:txBody>
      </p:sp>
      <p:sp>
        <p:nvSpPr>
          <p:cNvPr id="4" name="Espace réservé du numéro de diapositive 3"/>
          <p:cNvSpPr>
            <a:spLocks noGrp="1"/>
          </p:cNvSpPr>
          <p:nvPr>
            <p:ph type="sldNum" sz="quarter" idx="10"/>
          </p:nvPr>
        </p:nvSpPr>
        <p:spPr/>
        <p:txBody>
          <a:bodyPr/>
          <a:lstStyle/>
          <a:p>
            <a:fld id="{A6F118AE-E6EF-8F41-B352-DCE215D81188}" type="slidenum">
              <a:rPr lang="fr-FR">
                <a:solidFill>
                  <a:prstClr val="black"/>
                </a:solidFill>
                <a:latin typeface="Calibri"/>
              </a:rPr>
              <a:pPr/>
              <a:t>33</a:t>
            </a:fld>
            <a:endParaRPr lang="fr-FR">
              <a:solidFill>
                <a:prstClr val="black"/>
              </a:solidFill>
              <a:latin typeface="Calibri"/>
            </a:endParaRPr>
          </a:p>
        </p:txBody>
      </p:sp>
    </p:spTree>
    <p:extLst>
      <p:ext uri="{BB962C8B-B14F-4D97-AF65-F5344CB8AC3E}">
        <p14:creationId xmlns:p14="http://schemas.microsoft.com/office/powerpoint/2010/main" val="34829345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ec8223986c_1_955:notes"/>
          <p:cNvSpPr>
            <a:spLocks noGrp="1" noRot="1" noChangeAspect="1"/>
          </p:cNvSpPr>
          <p:nvPr>
            <p:ph type="sldImg" idx="2"/>
          </p:nvPr>
        </p:nvSpPr>
        <p:spPr>
          <a:xfrm>
            <a:off x="106363" y="739775"/>
            <a:ext cx="6584950"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93" name="Google Shape;293;gec8223986c_1_955:notes"/>
          <p:cNvSpPr txBox="1">
            <a:spLocks noGrp="1"/>
          </p:cNvSpPr>
          <p:nvPr>
            <p:ph type="body" idx="1"/>
          </p:nvPr>
        </p:nvSpPr>
        <p:spPr>
          <a:xfrm>
            <a:off x="679766" y="4690263"/>
            <a:ext cx="5438068" cy="44434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000">
              <a:latin typeface="Arial"/>
              <a:ea typeface="Arial"/>
              <a:cs typeface="Arial"/>
              <a:sym typeface="Arial"/>
            </a:endParaRPr>
          </a:p>
        </p:txBody>
      </p:sp>
      <p:sp>
        <p:nvSpPr>
          <p:cNvPr id="294" name="Google Shape;294;gec8223986c_1_955:notes"/>
          <p:cNvSpPr txBox="1">
            <a:spLocks noGrp="1"/>
          </p:cNvSpPr>
          <p:nvPr>
            <p:ph type="sldNum" idx="12"/>
          </p:nvPr>
        </p:nvSpPr>
        <p:spPr>
          <a:xfrm>
            <a:off x="3850435" y="9378813"/>
            <a:ext cx="2945620" cy="493581"/>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fr-FR"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34</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ec8223986c_1_1033:notes"/>
          <p:cNvSpPr>
            <a:spLocks noGrp="1" noRot="1" noChangeAspect="1"/>
          </p:cNvSpPr>
          <p:nvPr>
            <p:ph type="sldImg" idx="2"/>
          </p:nvPr>
        </p:nvSpPr>
        <p:spPr>
          <a:xfrm>
            <a:off x="106363" y="739775"/>
            <a:ext cx="6584950"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06" name="Google Shape;306;gec8223986c_1_1033:notes"/>
          <p:cNvSpPr txBox="1">
            <a:spLocks noGrp="1"/>
          </p:cNvSpPr>
          <p:nvPr>
            <p:ph type="body" idx="1"/>
          </p:nvPr>
        </p:nvSpPr>
        <p:spPr>
          <a:xfrm>
            <a:off x="679766" y="4690263"/>
            <a:ext cx="5438068" cy="44434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000">
              <a:latin typeface="Arial"/>
              <a:ea typeface="Arial"/>
              <a:cs typeface="Arial"/>
              <a:sym typeface="Arial"/>
            </a:endParaRPr>
          </a:p>
        </p:txBody>
      </p:sp>
      <p:sp>
        <p:nvSpPr>
          <p:cNvPr id="307" name="Google Shape;307;gec8223986c_1_1033:notes"/>
          <p:cNvSpPr txBox="1">
            <a:spLocks noGrp="1"/>
          </p:cNvSpPr>
          <p:nvPr>
            <p:ph type="sldNum" idx="12"/>
          </p:nvPr>
        </p:nvSpPr>
        <p:spPr>
          <a:xfrm>
            <a:off x="3850435" y="9378813"/>
            <a:ext cx="2945620" cy="493581"/>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fr-FR"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35</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rgbClr val="C01D4A"/>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1"/>
          <p:cNvSpPr>
            <a:spLocks noGrp="1"/>
          </p:cNvSpPr>
          <p:nvPr>
            <p:ph type="ctrTitle"/>
          </p:nvPr>
        </p:nvSpPr>
        <p:spPr>
          <a:xfrm>
            <a:off x="1395046" y="1298448"/>
            <a:ext cx="6990002" cy="3255264"/>
          </a:xfrm>
        </p:spPr>
        <p:txBody>
          <a:bodyPr anchor="b">
            <a:normAutofit/>
          </a:bodyPr>
          <a:lstStyle>
            <a:lvl1pPr algn="l">
              <a:defRPr sz="5900" spc="-100" baseline="0">
                <a:solidFill>
                  <a:srgbClr val="FFFFFF"/>
                </a:solidFill>
              </a:defRPr>
            </a:lvl1pPr>
          </a:lstStyle>
          <a:p>
            <a:r>
              <a:rPr lang="fr-FR"/>
              <a:t>Modifiez le style du titre</a:t>
            </a:r>
            <a:endParaRPr lang="en-US"/>
          </a:p>
        </p:txBody>
      </p:sp>
      <p:sp>
        <p:nvSpPr>
          <p:cNvPr id="3" name="Subtitle 2"/>
          <p:cNvSpPr>
            <a:spLocks noGrp="1"/>
          </p:cNvSpPr>
          <p:nvPr>
            <p:ph type="subTitle" idx="1"/>
          </p:nvPr>
        </p:nvSpPr>
        <p:spPr>
          <a:xfrm>
            <a:off x="1395045" y="4670246"/>
            <a:ext cx="7020169"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a:t>Modifiez le style des sous-titres du masque</a:t>
            </a:r>
            <a:endParaRPr lang="en-US"/>
          </a:p>
        </p:txBody>
      </p:sp>
      <p:sp>
        <p:nvSpPr>
          <p:cNvPr id="5" name="Footer Placeholder 4"/>
          <p:cNvSpPr>
            <a:spLocks noGrp="1"/>
          </p:cNvSpPr>
          <p:nvPr>
            <p:ph type="ftr" sz="quarter" idx="11"/>
          </p:nvPr>
        </p:nvSpPr>
        <p:spPr/>
        <p:txBody>
          <a:bodyPr/>
          <a:lstStyle>
            <a:lvl1pPr>
              <a:defRPr/>
            </a:lvl1pPr>
          </a:lstStyle>
          <a:p>
            <a:endParaRPr lang="en-US"/>
          </a:p>
        </p:txBody>
      </p:sp>
      <p:pic>
        <p:nvPicPr>
          <p:cNvPr id="11" name="Image 10">
            <a:extLst>
              <a:ext uri="{FF2B5EF4-FFF2-40B4-BE49-F238E27FC236}">
                <a16:creationId xmlns:a16="http://schemas.microsoft.com/office/drawing/2014/main" id="{85876702-F6C4-974D-A1AC-205746E9A78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4428"/>
            <a:ext cx="1501442" cy="2991678"/>
          </a:xfrm>
          <a:prstGeom prst="rect">
            <a:avLst/>
          </a:prstGeom>
          <a:effectLst>
            <a:outerShdw blurRad="50800" dist="38100" algn="l" rotWithShape="0">
              <a:prstClr val="black">
                <a:alpha val="40000"/>
              </a:prstClr>
            </a:outerShdw>
          </a:effectLst>
        </p:spPr>
      </p:pic>
    </p:spTree>
    <p:extLst>
      <p:ext uri="{BB962C8B-B14F-4D97-AF65-F5344CB8AC3E}">
        <p14:creationId xmlns:p14="http://schemas.microsoft.com/office/powerpoint/2010/main" val="2742432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idx="1"/>
          </p:nvPr>
        </p:nvSpPr>
        <p:spPr/>
        <p:txBody>
          <a:bodyPr/>
          <a:lstStyle/>
          <a:p>
            <a:pPr lvl="0"/>
            <a:r>
              <a:rPr lang="fr-FR"/>
              <a:t>Modifier les styles du texte du masque
Deuxième niveau
Troisième niveau
Quatrième niveau
Cinquième niveau</a:t>
            </a:r>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159723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fr-FR"/>
              <a:t>Modifiez le style du titre</a:t>
            </a:r>
            <a:endParaRPr lang="en-US"/>
          </a:p>
        </p:txBody>
      </p:sp>
      <p:sp>
        <p:nvSpPr>
          <p:cNvPr id="3" name="Text Placeholder 2"/>
          <p:cNvSpPr>
            <a:spLocks noGrp="1"/>
          </p:cNvSpPr>
          <p:nvPr>
            <p:ph type="body" idx="1"/>
          </p:nvPr>
        </p:nvSpPr>
        <p:spPr>
          <a:xfrm>
            <a:off x="3886200" y="4672584"/>
            <a:ext cx="7315200" cy="914400"/>
          </a:xfrm>
        </p:spPr>
        <p:txBody>
          <a:bodyPr anchor="t">
            <a:noAutofit/>
          </a:bodyPr>
          <a:lstStyle>
            <a:lvl1pPr marL="0" indent="0">
              <a:buNone/>
              <a:defRPr sz="18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
Deuxième niveau
Troisième niveau
Quatrième niveau
Cinquième niveau</a:t>
            </a:r>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473268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252919" y="1655545"/>
            <a:ext cx="2947482" cy="4069475"/>
          </a:xfrm>
        </p:spPr>
        <p:txBody>
          <a:bodyPr/>
          <a:lstStyle/>
          <a:p>
            <a:r>
              <a:rPr lang="fr-FR"/>
              <a:t>Modifiez le style du titre</a:t>
            </a:r>
            <a:endParaRPr lang="en-US"/>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fr-FR"/>
              <a:t>Modifier les styles du texte du masque
Deuxième niveau
Troisième niveau
Quatrième niveau
Cinquième niveau</a:t>
            </a:r>
            <a:endParaRPr lang="en-US"/>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fr-FR"/>
              <a:t>Modifier les styles du texte du masque
Deuxième niveau
Troisième niveau
Quatrième niveau
Cinquième niveau</a:t>
            </a:r>
            <a:endParaRPr lang="en-US"/>
          </a:p>
        </p:txBody>
      </p:sp>
      <p:sp>
        <p:nvSpPr>
          <p:cNvPr id="9" name="Footer Placeholder 8"/>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4126273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252919" y="1655545"/>
            <a:ext cx="2947482" cy="4069475"/>
          </a:xfrm>
        </p:spPr>
        <p:txBody>
          <a:bodyPr/>
          <a:lstStyle/>
          <a:p>
            <a:r>
              <a:rPr lang="fr-FR"/>
              <a:t>Modifiez le style du titre</a:t>
            </a:r>
            <a:endParaRPr lang="en-US"/>
          </a:p>
        </p:txBody>
      </p:sp>
      <p:sp>
        <p:nvSpPr>
          <p:cNvPr id="3" name="Content Placeholder 2"/>
          <p:cNvSpPr>
            <a:spLocks noGrp="1"/>
          </p:cNvSpPr>
          <p:nvPr>
            <p:ph sz="half" idx="1"/>
          </p:nvPr>
        </p:nvSpPr>
        <p:spPr>
          <a:xfrm>
            <a:off x="3669632" y="712269"/>
            <a:ext cx="4011328" cy="2716732"/>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fr-FR"/>
              <a:t>Modifier les styles du texte du masque
Deuxième niveau
Troisième niveau
Quatrième niveau
Cinquième niveau</a:t>
            </a:r>
            <a:endParaRPr lang="en-US"/>
          </a:p>
        </p:txBody>
      </p:sp>
      <p:sp>
        <p:nvSpPr>
          <p:cNvPr id="4" name="Content Placeholder 3"/>
          <p:cNvSpPr>
            <a:spLocks noGrp="1"/>
          </p:cNvSpPr>
          <p:nvPr>
            <p:ph sz="half" idx="2"/>
          </p:nvPr>
        </p:nvSpPr>
        <p:spPr>
          <a:xfrm>
            <a:off x="7818120" y="3570973"/>
            <a:ext cx="4373880" cy="2521819"/>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fr-FR"/>
              <a:t>Modifier les styles du texte du masque
Deuxième niveau
Troisième niveau
Quatrième niveau
Cinquième niveau</a:t>
            </a:r>
            <a:endParaRPr lang="en-US"/>
          </a:p>
        </p:txBody>
      </p:sp>
      <p:sp>
        <p:nvSpPr>
          <p:cNvPr id="9" name="Footer Placeholder 8"/>
          <p:cNvSpPr>
            <a:spLocks noGrp="1"/>
          </p:cNvSpPr>
          <p:nvPr>
            <p:ph type="ftr" sz="quarter" idx="11"/>
          </p:nvPr>
        </p:nvSpPr>
        <p:spPr/>
        <p:txBody>
          <a:bodyPr/>
          <a:lstStyle/>
          <a:p>
            <a:endParaRPr lang="en-US"/>
          </a:p>
        </p:txBody>
      </p:sp>
      <p:sp>
        <p:nvSpPr>
          <p:cNvPr id="6" name="Espace réservé du texte 5">
            <a:extLst>
              <a:ext uri="{FF2B5EF4-FFF2-40B4-BE49-F238E27FC236}">
                <a16:creationId xmlns:a16="http://schemas.microsoft.com/office/drawing/2014/main" id="{12D5C837-A31F-4425-A823-73929DEF147D}"/>
              </a:ext>
            </a:extLst>
          </p:cNvPr>
          <p:cNvSpPr>
            <a:spLocks noGrp="1"/>
          </p:cNvSpPr>
          <p:nvPr>
            <p:ph type="body" sz="quarter" idx="12"/>
          </p:nvPr>
        </p:nvSpPr>
        <p:spPr>
          <a:xfrm>
            <a:off x="3669633" y="3570974"/>
            <a:ext cx="4011328" cy="2521819"/>
          </a:xfrm>
          <a:solidFill>
            <a:schemeClr val="bg1"/>
          </a:solidFill>
        </p:spPr>
        <p:txBody>
          <a:bodyPr/>
          <a:lstStyle>
            <a:lvl2pPr>
              <a:defRPr/>
            </a:lvl2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Espace réservé du texte 7">
            <a:extLst>
              <a:ext uri="{FF2B5EF4-FFF2-40B4-BE49-F238E27FC236}">
                <a16:creationId xmlns:a16="http://schemas.microsoft.com/office/drawing/2014/main" id="{6383775D-FBE4-485D-839E-1A9EE4786015}"/>
              </a:ext>
            </a:extLst>
          </p:cNvPr>
          <p:cNvSpPr>
            <a:spLocks noGrp="1"/>
          </p:cNvSpPr>
          <p:nvPr>
            <p:ph type="body" sz="quarter" idx="13"/>
          </p:nvPr>
        </p:nvSpPr>
        <p:spPr>
          <a:xfrm>
            <a:off x="7818120" y="712269"/>
            <a:ext cx="4373880" cy="2716731"/>
          </a:xfrm>
          <a:solidFill>
            <a:schemeClr val="bg1"/>
          </a:solidFill>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790670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
Deuxième niveau
Troisième niveau
Quatrième niveau
Cinquième niveau</a:t>
            </a:r>
            <a:endParaRPr lang="en-US"/>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fr-FR"/>
              <a:t>Modifier les styles du texte du masque
Deuxième niveau
Troisième niveau
Quatrième niveau
Cinquième niveau</a:t>
            </a:r>
            <a:endParaRPr lang="en-US"/>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
Deuxième niveau
Troisième niveau
Quatrième niveau
Cinquième niveau</a:t>
            </a:r>
            <a:endParaRPr lang="en-US"/>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fr-FR"/>
              <a:t>Modifier les styles du texte du masque
Deuxième niveau
Troisième niveau
Quatrième niveau
Cinquième niveau</a:t>
            </a:r>
            <a:endParaRPr lang="en-US"/>
          </a:p>
        </p:txBody>
      </p:sp>
      <p:sp>
        <p:nvSpPr>
          <p:cNvPr id="11" name="Footer Placeholder 10"/>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9789434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fr-FR"/>
              <a:t>Modifiez le style du titre</a:t>
            </a:r>
            <a:endParaRPr lang="en-US"/>
          </a:p>
        </p:txBody>
      </p:sp>
      <p:sp>
        <p:nvSpPr>
          <p:cNvPr id="7" name="Footer Placeholder 6"/>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9553880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917403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fr-FR"/>
              <a:t>Modifiez le style du titre</a:t>
            </a:r>
            <a:endParaRPr lang="en-US"/>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fr-FR"/>
              <a:t>Modifier les styles du texte du masque
Deuxième niveau
Troisième niveau
Quatrième niveau
Cinquième niveau</a:t>
            </a:r>
            <a:endParaRPr lang="en-US"/>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
Deuxième niveau
Troisième niveau
Quatrième niveau
Cinquième niveau</a:t>
            </a:r>
            <a:endParaRPr lang="en-US"/>
          </a:p>
        </p:txBody>
      </p:sp>
      <p:sp>
        <p:nvSpPr>
          <p:cNvPr id="9" name="Footer Placeholder 8"/>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125637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6032" y="1636296"/>
            <a:ext cx="2834640" cy="4398744"/>
          </a:xfrm>
        </p:spPr>
        <p:txBody>
          <a:bodyPr anchor="ctr">
            <a:normAutofit/>
          </a:bodyPr>
          <a:lstStyle>
            <a:lvl1pPr>
              <a:defRPr sz="3200" b="0"/>
            </a:lvl1pPr>
          </a:lstStyle>
          <a:p>
            <a:r>
              <a:rPr lang="fr-FR"/>
              <a:t>Modifiez le style du titre</a:t>
            </a:r>
            <a:endParaRPr lang="en-US"/>
          </a:p>
        </p:txBody>
      </p:sp>
      <p:sp>
        <p:nvSpPr>
          <p:cNvPr id="3" name="Picture Placeholder 2"/>
          <p:cNvSpPr>
            <a:spLocks noGrp="1" noChangeAspect="1"/>
          </p:cNvSpPr>
          <p:nvPr>
            <p:ph type="pic" idx="1"/>
          </p:nvPr>
        </p:nvSpPr>
        <p:spPr>
          <a:xfrm>
            <a:off x="3570644" y="767419"/>
            <a:ext cx="8621356"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a:p>
        </p:txBody>
      </p:sp>
      <p:sp>
        <p:nvSpPr>
          <p:cNvPr id="9" name="Footer Placeholder 8"/>
          <p:cNvSpPr>
            <a:spLocks noGrp="1"/>
          </p:cNvSpPr>
          <p:nvPr>
            <p:ph type="ftr" sz="quarter" idx="11"/>
          </p:nvPr>
        </p:nvSpPr>
        <p:spPr>
          <a:xfrm>
            <a:off x="3499101" y="6356350"/>
            <a:ext cx="5911517" cy="365125"/>
          </a:xfrm>
        </p:spPr>
        <p:txBody>
          <a:bodyPr/>
          <a:lstStyle/>
          <a:p>
            <a:endParaRPr lang="en-US"/>
          </a:p>
        </p:txBody>
      </p:sp>
    </p:spTree>
    <p:extLst>
      <p:ext uri="{BB962C8B-B14F-4D97-AF65-F5344CB8AC3E}">
        <p14:creationId xmlns:p14="http://schemas.microsoft.com/office/powerpoint/2010/main" val="3670404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Vertical Text Placeholder 2"/>
          <p:cNvSpPr>
            <a:spLocks noGrp="1"/>
          </p:cNvSpPr>
          <p:nvPr>
            <p:ph type="body" orient="vert" idx="1"/>
          </p:nvPr>
        </p:nvSpPr>
        <p:spPr/>
        <p:txBody>
          <a:bodyPr vert="eaVert" anchor="t"/>
          <a:lstStyle/>
          <a:p>
            <a:pPr lvl="0"/>
            <a:r>
              <a:rPr lang="fr-FR"/>
              <a:t>Modifier les styles du texte du masque
Deuxième niveau
Troisième niveau
Quatrième niveau
Cinquième niveau</a:t>
            </a:r>
            <a:endParaRPr lang="en-US"/>
          </a:p>
        </p:txBody>
      </p:sp>
      <p:sp>
        <p:nvSpPr>
          <p:cNvPr id="7" name="Date Placeholder 6"/>
          <p:cNvSpPr>
            <a:spLocks noGrp="1"/>
          </p:cNvSpPr>
          <p:nvPr>
            <p:ph type="dt" sz="half" idx="10"/>
          </p:nvPr>
        </p:nvSpPr>
        <p:spPr>
          <a:xfrm>
            <a:off x="262465" y="6356350"/>
            <a:ext cx="2743200" cy="365125"/>
          </a:xfrm>
          <a:prstGeom prst="rect">
            <a:avLst/>
          </a:prstGeom>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10634135" y="6356350"/>
            <a:ext cx="1530927" cy="365125"/>
          </a:xfrm>
          <a:prstGeom prst="rect">
            <a:avLst/>
          </a:prstGeom>
        </p:spPr>
        <p:txBody>
          <a:bodyPr/>
          <a:lstStyle/>
          <a:p>
            <a:fld id="{4FAB73BC-B049-4115-A692-8D63A059BFB8}" type="slidenum">
              <a:rPr lang="en-US" dirty="0"/>
              <a:pPr/>
              <a:t>‹N°›</a:t>
            </a:fld>
            <a:endParaRPr lang="en-US"/>
          </a:p>
        </p:txBody>
      </p:sp>
    </p:spTree>
    <p:extLst>
      <p:ext uri="{BB962C8B-B14F-4D97-AF65-F5344CB8AC3E}">
        <p14:creationId xmlns:p14="http://schemas.microsoft.com/office/powerpoint/2010/main" val="18461662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fr-FR"/>
              <a:t>Modifiez le style du titre</a:t>
            </a:r>
            <a:endParaRPr lang="en-US"/>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fr-FR"/>
              <a:t>Modifier les styles du texte du masque
Deuxième niveau
Troisième niveau
Quatrième niveau
Cinquième niveau</a:t>
            </a:r>
            <a:endParaRPr lang="en-US"/>
          </a:p>
        </p:txBody>
      </p:sp>
      <p:sp>
        <p:nvSpPr>
          <p:cNvPr id="7" name="Date Placeholder 6"/>
          <p:cNvSpPr>
            <a:spLocks noGrp="1"/>
          </p:cNvSpPr>
          <p:nvPr>
            <p:ph type="dt" sz="half" idx="10"/>
          </p:nvPr>
        </p:nvSpPr>
        <p:spPr>
          <a:xfrm>
            <a:off x="262465" y="6356350"/>
            <a:ext cx="2743200" cy="365125"/>
          </a:xfrm>
          <a:prstGeom prst="rect">
            <a:avLst/>
          </a:prstGeom>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10634135" y="6356350"/>
            <a:ext cx="1530927" cy="365125"/>
          </a:xfrm>
          <a:prstGeom prst="rect">
            <a:avLst/>
          </a:prstGeom>
        </p:spPr>
        <p:txBody>
          <a:bodyPr/>
          <a:lstStyle/>
          <a:p>
            <a:fld id="{4FAB73BC-B049-4115-A692-8D63A059BFB8}" type="slidenum">
              <a:rPr lang="en-US" dirty="0"/>
              <a:pPr/>
              <a:t>‹N°›</a:t>
            </a:fld>
            <a:endParaRPr lang="en-US"/>
          </a:p>
        </p:txBody>
      </p:sp>
    </p:spTree>
    <p:extLst>
      <p:ext uri="{BB962C8B-B14F-4D97-AF65-F5344CB8AC3E}">
        <p14:creationId xmlns:p14="http://schemas.microsoft.com/office/powerpoint/2010/main" val="23794057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Fait à mettre en avant">
  <p:cSld name="Fait à mettre en avant">
    <p:spTree>
      <p:nvGrpSpPr>
        <p:cNvPr id="1" name="Shape 17"/>
        <p:cNvGrpSpPr/>
        <p:nvPr/>
      </p:nvGrpSpPr>
      <p:grpSpPr>
        <a:xfrm>
          <a:off x="0" y="0"/>
          <a:ext cx="0" cy="0"/>
          <a:chOff x="0" y="0"/>
          <a:chExt cx="0" cy="0"/>
        </a:xfrm>
      </p:grpSpPr>
      <p:sp>
        <p:nvSpPr>
          <p:cNvPr id="18" name="Google Shape;18;p167"/>
          <p:cNvSpPr/>
          <p:nvPr/>
        </p:nvSpPr>
        <p:spPr>
          <a:xfrm>
            <a:off x="0" y="0"/>
            <a:ext cx="12192000" cy="6957392"/>
          </a:xfrm>
          <a:prstGeom prst="rect">
            <a:avLst/>
          </a:prstGeom>
          <a:solidFill>
            <a:schemeClr val="lt1"/>
          </a:solidFill>
          <a:ln>
            <a:noFill/>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19" name="Google Shape;19;p167"/>
          <p:cNvSpPr txBox="1">
            <a:spLocks noGrp="1"/>
          </p:cNvSpPr>
          <p:nvPr>
            <p:ph type="body" idx="1"/>
          </p:nvPr>
        </p:nvSpPr>
        <p:spPr>
          <a:xfrm>
            <a:off x="0" y="2492897"/>
            <a:ext cx="10363200" cy="1500187"/>
          </a:xfrm>
          <a:prstGeom prst="rect">
            <a:avLst/>
          </a:prstGeom>
          <a:solidFill>
            <a:srgbClr val="F6AB38"/>
          </a:solidFill>
          <a:ln>
            <a:noFill/>
          </a:ln>
        </p:spPr>
        <p:txBody>
          <a:bodyPr spcFirstLastPara="1" wrap="square" lIns="216000" tIns="45700" rIns="91425" bIns="45700" anchor="ctr" anchorCtr="0">
            <a:normAutofit/>
          </a:bodyPr>
          <a:lstStyle>
            <a:lvl1pPr marL="457200" marR="0" lvl="0" indent="-228600" algn="l" rtl="0">
              <a:spcBef>
                <a:spcPts val="800"/>
              </a:spcBef>
              <a:spcAft>
                <a:spcPts val="0"/>
              </a:spcAft>
              <a:buClr>
                <a:srgbClr val="F79124"/>
              </a:buClr>
              <a:buSzPts val="4000"/>
              <a:buFont typeface="Arial"/>
              <a:buNone/>
              <a:defRPr sz="4000" b="1" i="0" u="none" strike="noStrike" cap="none">
                <a:solidFill>
                  <a:schemeClr val="lt1"/>
                </a:solidFill>
                <a:latin typeface="Century Gothic"/>
                <a:ea typeface="Century Gothic"/>
                <a:cs typeface="Century Gothic"/>
                <a:sym typeface="Century Gothic"/>
              </a:defRPr>
            </a:lvl1pPr>
            <a:lvl2pPr marL="914400" marR="0" lvl="1" indent="-228600" algn="l" rtl="0">
              <a:spcBef>
                <a:spcPts val="360"/>
              </a:spcBef>
              <a:spcAft>
                <a:spcPts val="0"/>
              </a:spcAft>
              <a:buClr>
                <a:srgbClr val="888888"/>
              </a:buClr>
              <a:buSzPts val="1800"/>
              <a:buFont typeface="Arial"/>
              <a:buNone/>
              <a:defRPr sz="1800" b="0" i="0" u="none" strike="noStrike" cap="none">
                <a:solidFill>
                  <a:srgbClr val="888888"/>
                </a:solidFill>
                <a:latin typeface="Century Gothic"/>
                <a:ea typeface="Century Gothic"/>
                <a:cs typeface="Century Gothic"/>
                <a:sym typeface="Century Gothic"/>
              </a:defRPr>
            </a:lvl2pPr>
            <a:lvl3pPr marL="1371600" marR="0" lvl="2" indent="-228600" algn="l" rtl="0">
              <a:spcBef>
                <a:spcPts val="320"/>
              </a:spcBef>
              <a:spcAft>
                <a:spcPts val="0"/>
              </a:spcAft>
              <a:buClr>
                <a:srgbClr val="888888"/>
              </a:buClr>
              <a:buSzPts val="1600"/>
              <a:buFont typeface="Arial"/>
              <a:buNone/>
              <a:defRPr sz="1600" b="0" i="0" u="none" strike="noStrike" cap="none">
                <a:solidFill>
                  <a:srgbClr val="888888"/>
                </a:solidFill>
                <a:latin typeface="Century Gothic"/>
                <a:ea typeface="Century Gothic"/>
                <a:cs typeface="Century Gothic"/>
                <a:sym typeface="Century Gothic"/>
              </a:defRPr>
            </a:lvl3pPr>
            <a:lvl4pPr marL="1828800" marR="0" lvl="3" indent="-228600" algn="l" rtl="0">
              <a:spcBef>
                <a:spcPts val="280"/>
              </a:spcBef>
              <a:spcAft>
                <a:spcPts val="0"/>
              </a:spcAft>
              <a:buClr>
                <a:srgbClr val="888888"/>
              </a:buClr>
              <a:buSzPts val="1400"/>
              <a:buFont typeface="Arial"/>
              <a:buNone/>
              <a:defRPr sz="1400" b="0" i="0" u="none" strike="noStrike" cap="none">
                <a:solidFill>
                  <a:srgbClr val="888888"/>
                </a:solidFill>
                <a:latin typeface="Century Gothic"/>
                <a:ea typeface="Century Gothic"/>
                <a:cs typeface="Century Gothic"/>
                <a:sym typeface="Century Gothic"/>
              </a:defRPr>
            </a:lvl4pPr>
            <a:lvl5pPr marL="2286000" marR="0" lvl="4" indent="-228600" algn="l" rtl="0">
              <a:spcBef>
                <a:spcPts val="280"/>
              </a:spcBef>
              <a:spcAft>
                <a:spcPts val="0"/>
              </a:spcAft>
              <a:buClr>
                <a:srgbClr val="888888"/>
              </a:buClr>
              <a:buSzPts val="1400"/>
              <a:buFont typeface="Arial"/>
              <a:buNone/>
              <a:defRPr sz="1400" b="0" i="0" u="none" strike="noStrike" cap="none">
                <a:solidFill>
                  <a:srgbClr val="888888"/>
                </a:solidFill>
                <a:latin typeface="Century Gothic"/>
                <a:ea typeface="Century Gothic"/>
                <a:cs typeface="Century Gothic"/>
                <a:sym typeface="Century Gothic"/>
              </a:defRPr>
            </a:lvl5pPr>
            <a:lvl6pPr marL="2743200" marR="0" lvl="5"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9985405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ait à mettre en avant">
  <p:cSld name="Fait à mettre en avant">
    <p:spTree>
      <p:nvGrpSpPr>
        <p:cNvPr id="1" name="Shape 79"/>
        <p:cNvGrpSpPr/>
        <p:nvPr/>
      </p:nvGrpSpPr>
      <p:grpSpPr>
        <a:xfrm>
          <a:off x="0" y="0"/>
          <a:ext cx="0" cy="0"/>
          <a:chOff x="0" y="0"/>
          <a:chExt cx="0" cy="0"/>
        </a:xfrm>
      </p:grpSpPr>
      <p:sp>
        <p:nvSpPr>
          <p:cNvPr id="80" name="Google Shape;80;gec8223986c_1_1052"/>
          <p:cNvSpPr/>
          <p:nvPr/>
        </p:nvSpPr>
        <p:spPr>
          <a:xfrm>
            <a:off x="0" y="0"/>
            <a:ext cx="12192000" cy="6957300"/>
          </a:xfrm>
          <a:prstGeom prst="rect">
            <a:avLst/>
          </a:prstGeom>
          <a:solidFill>
            <a:schemeClr val="lt1"/>
          </a:solidFill>
          <a:ln>
            <a:noFill/>
          </a:ln>
          <a:effectLst>
            <a:outerShdw blurRad="40000" dist="20000" dir="5400000" rotWithShape="0">
              <a:srgbClr val="000000">
                <a:alpha val="3765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81" name="Google Shape;81;gec8223986c_1_1052"/>
          <p:cNvSpPr txBox="1">
            <a:spLocks noGrp="1"/>
          </p:cNvSpPr>
          <p:nvPr>
            <p:ph type="body" idx="1"/>
          </p:nvPr>
        </p:nvSpPr>
        <p:spPr>
          <a:xfrm>
            <a:off x="0" y="2492897"/>
            <a:ext cx="10363200" cy="1500300"/>
          </a:xfrm>
          <a:prstGeom prst="rect">
            <a:avLst/>
          </a:prstGeom>
          <a:solidFill>
            <a:srgbClr val="F6AB38"/>
          </a:solidFill>
          <a:ln>
            <a:noFill/>
          </a:ln>
        </p:spPr>
        <p:txBody>
          <a:bodyPr spcFirstLastPara="1" wrap="square" lIns="216000" tIns="45700" rIns="91425" bIns="45700" anchor="ctr" anchorCtr="0">
            <a:normAutofit/>
          </a:bodyPr>
          <a:lstStyle>
            <a:lvl1pPr marL="457200" marR="0" lvl="0" indent="-228600" algn="l" rtl="0">
              <a:spcBef>
                <a:spcPts val="800"/>
              </a:spcBef>
              <a:spcAft>
                <a:spcPts val="0"/>
              </a:spcAft>
              <a:buClr>
                <a:srgbClr val="F79124"/>
              </a:buClr>
              <a:buSzPts val="4000"/>
              <a:buFont typeface="Arial"/>
              <a:buNone/>
              <a:defRPr sz="4000" b="1" i="0" u="none" strike="noStrike" cap="none">
                <a:solidFill>
                  <a:schemeClr val="lt1"/>
                </a:solidFill>
                <a:latin typeface="Century Gothic"/>
                <a:ea typeface="Century Gothic"/>
                <a:cs typeface="Century Gothic"/>
                <a:sym typeface="Century Gothic"/>
              </a:defRPr>
            </a:lvl1pPr>
            <a:lvl2pPr marL="914400" marR="0" lvl="1" indent="-228600" algn="l" rtl="0">
              <a:spcBef>
                <a:spcPts val="360"/>
              </a:spcBef>
              <a:spcAft>
                <a:spcPts val="0"/>
              </a:spcAft>
              <a:buClr>
                <a:srgbClr val="888888"/>
              </a:buClr>
              <a:buSzPts val="1800"/>
              <a:buFont typeface="Arial"/>
              <a:buNone/>
              <a:defRPr sz="1800" b="0" i="0" u="none" strike="noStrike" cap="none">
                <a:solidFill>
                  <a:srgbClr val="888888"/>
                </a:solidFill>
                <a:latin typeface="Century Gothic"/>
                <a:ea typeface="Century Gothic"/>
                <a:cs typeface="Century Gothic"/>
                <a:sym typeface="Century Gothic"/>
              </a:defRPr>
            </a:lvl2pPr>
            <a:lvl3pPr marL="1371600" marR="0" lvl="2" indent="-228600" algn="l" rtl="0">
              <a:spcBef>
                <a:spcPts val="320"/>
              </a:spcBef>
              <a:spcAft>
                <a:spcPts val="0"/>
              </a:spcAft>
              <a:buClr>
                <a:srgbClr val="888888"/>
              </a:buClr>
              <a:buSzPts val="1600"/>
              <a:buFont typeface="Arial"/>
              <a:buNone/>
              <a:defRPr sz="1600" b="0" i="0" u="none" strike="noStrike" cap="none">
                <a:solidFill>
                  <a:srgbClr val="888888"/>
                </a:solidFill>
                <a:latin typeface="Century Gothic"/>
                <a:ea typeface="Century Gothic"/>
                <a:cs typeface="Century Gothic"/>
                <a:sym typeface="Century Gothic"/>
              </a:defRPr>
            </a:lvl3pPr>
            <a:lvl4pPr marL="1828800" marR="0" lvl="3" indent="-228600" algn="l" rtl="0">
              <a:spcBef>
                <a:spcPts val="280"/>
              </a:spcBef>
              <a:spcAft>
                <a:spcPts val="0"/>
              </a:spcAft>
              <a:buClr>
                <a:srgbClr val="888888"/>
              </a:buClr>
              <a:buSzPts val="1400"/>
              <a:buFont typeface="Arial"/>
              <a:buNone/>
              <a:defRPr sz="1400" b="0" i="0" u="none" strike="noStrike" cap="none">
                <a:solidFill>
                  <a:srgbClr val="888888"/>
                </a:solidFill>
                <a:latin typeface="Century Gothic"/>
                <a:ea typeface="Century Gothic"/>
                <a:cs typeface="Century Gothic"/>
                <a:sym typeface="Century Gothic"/>
              </a:defRPr>
            </a:lvl4pPr>
            <a:lvl5pPr marL="2286000" marR="0" lvl="4" indent="-228600" algn="l" rtl="0">
              <a:spcBef>
                <a:spcPts val="280"/>
              </a:spcBef>
              <a:spcAft>
                <a:spcPts val="0"/>
              </a:spcAft>
              <a:buClr>
                <a:srgbClr val="888888"/>
              </a:buClr>
              <a:buSzPts val="1400"/>
              <a:buFont typeface="Arial"/>
              <a:buNone/>
              <a:defRPr sz="1400" b="0" i="0" u="none" strike="noStrike" cap="none">
                <a:solidFill>
                  <a:srgbClr val="888888"/>
                </a:solidFill>
                <a:latin typeface="Century Gothic"/>
                <a:ea typeface="Century Gothic"/>
                <a:cs typeface="Century Gothic"/>
                <a:sym typeface="Century Gothic"/>
              </a:defRPr>
            </a:lvl5pPr>
            <a:lvl6pPr marL="2743200" marR="0" lvl="5"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2679736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re et contenu" type="obj">
  <p:cSld name="Titre et contenu">
    <p:spTree>
      <p:nvGrpSpPr>
        <p:cNvPr id="1" name="Shape 82"/>
        <p:cNvGrpSpPr/>
        <p:nvPr/>
      </p:nvGrpSpPr>
      <p:grpSpPr>
        <a:xfrm>
          <a:off x="0" y="0"/>
          <a:ext cx="0" cy="0"/>
          <a:chOff x="0" y="0"/>
          <a:chExt cx="0" cy="0"/>
        </a:xfrm>
      </p:grpSpPr>
      <p:sp>
        <p:nvSpPr>
          <p:cNvPr id="83" name="Google Shape;83;gec8223986c_1_1055"/>
          <p:cNvSpPr txBox="1">
            <a:spLocks noGrp="1"/>
          </p:cNvSpPr>
          <p:nvPr>
            <p:ph type="title"/>
          </p:nvPr>
        </p:nvSpPr>
        <p:spPr>
          <a:xfrm>
            <a:off x="2027548" y="0"/>
            <a:ext cx="8028900" cy="98070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SzPts val="1400"/>
              <a:buNone/>
              <a:defRPr sz="2400" b="1" i="0" u="none" strike="noStrike" cap="none">
                <a:solidFill>
                  <a:srgbClr val="085160"/>
                </a:solidFill>
                <a:latin typeface="Century Gothic"/>
                <a:ea typeface="Century Gothic"/>
                <a:cs typeface="Century Gothic"/>
                <a:sym typeface="Century Gothic"/>
              </a:defRPr>
            </a:lvl1pPr>
            <a:lvl2pPr marR="0" lvl="1" algn="l" rtl="0">
              <a:spcBef>
                <a:spcPts val="0"/>
              </a:spcBef>
              <a:spcAft>
                <a:spcPts val="0"/>
              </a:spcAft>
              <a:buSzPts val="1400"/>
              <a:buNone/>
              <a:defRPr sz="3200" b="1" i="0" u="none" strike="noStrike" cap="none">
                <a:solidFill>
                  <a:srgbClr val="08516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08516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08516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08516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08516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08516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08516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085160"/>
                </a:solidFill>
                <a:latin typeface="Arial"/>
                <a:ea typeface="Arial"/>
                <a:cs typeface="Arial"/>
                <a:sym typeface="Arial"/>
              </a:defRPr>
            </a:lvl9pPr>
          </a:lstStyle>
          <a:p>
            <a:endParaRPr/>
          </a:p>
        </p:txBody>
      </p:sp>
      <p:sp>
        <p:nvSpPr>
          <p:cNvPr id="84" name="Google Shape;84;gec8223986c_1_1055"/>
          <p:cNvSpPr txBox="1">
            <a:spLocks noGrp="1"/>
          </p:cNvSpPr>
          <p:nvPr>
            <p:ph type="body" idx="1"/>
          </p:nvPr>
        </p:nvSpPr>
        <p:spPr>
          <a:xfrm>
            <a:off x="609600" y="1268760"/>
            <a:ext cx="10972800" cy="48573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80"/>
              </a:spcBef>
              <a:spcAft>
                <a:spcPts val="0"/>
              </a:spcAft>
              <a:buClr>
                <a:srgbClr val="F79124"/>
              </a:buClr>
              <a:buSzPts val="2400"/>
              <a:buFont typeface="Arial"/>
              <a:buNone/>
              <a:defRPr sz="2400" b="1" i="0" u="none" strike="noStrike" cap="none">
                <a:solidFill>
                  <a:srgbClr val="085160"/>
                </a:solidFill>
                <a:latin typeface="Century Gothic"/>
                <a:ea typeface="Century Gothic"/>
                <a:cs typeface="Century Gothic"/>
                <a:sym typeface="Century Gothic"/>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85" name="Google Shape;85;gec8223986c_1_1055" descr="\\GOFLEX_HOME\GoFlex Home Public\00_Documents communs\06_Communication\5. Identité visuelle\Logos\logo-ABC.png"/>
          <p:cNvPicPr preferRelativeResize="0"/>
          <p:nvPr/>
        </p:nvPicPr>
        <p:blipFill rotWithShape="1">
          <a:blip r:embed="rId2">
            <a:alphaModFix/>
          </a:blip>
          <a:srcRect/>
          <a:stretch/>
        </p:blipFill>
        <p:spPr>
          <a:xfrm>
            <a:off x="10272464" y="260600"/>
            <a:ext cx="1737098" cy="553895"/>
          </a:xfrm>
          <a:prstGeom prst="rect">
            <a:avLst/>
          </a:prstGeom>
          <a:noFill/>
          <a:ln>
            <a:noFill/>
          </a:ln>
        </p:spPr>
      </p:pic>
    </p:spTree>
    <p:extLst>
      <p:ext uri="{BB962C8B-B14F-4D97-AF65-F5344CB8AC3E}">
        <p14:creationId xmlns:p14="http://schemas.microsoft.com/office/powerpoint/2010/main" val="20025338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apositive Titre">
  <p:cSld name="Diapositive Titre">
    <p:spTree>
      <p:nvGrpSpPr>
        <p:cNvPr id="1" name="Shape 86"/>
        <p:cNvGrpSpPr/>
        <p:nvPr/>
      </p:nvGrpSpPr>
      <p:grpSpPr>
        <a:xfrm>
          <a:off x="0" y="0"/>
          <a:ext cx="0" cy="0"/>
          <a:chOff x="0" y="0"/>
          <a:chExt cx="0" cy="0"/>
        </a:xfrm>
      </p:grpSpPr>
      <p:sp>
        <p:nvSpPr>
          <p:cNvPr id="87" name="Google Shape;87;gec8223986c_1_1059"/>
          <p:cNvSpPr/>
          <p:nvPr/>
        </p:nvSpPr>
        <p:spPr>
          <a:xfrm>
            <a:off x="0" y="6092826"/>
            <a:ext cx="12192000" cy="765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8" name="Google Shape;88;gec8223986c_1_1059"/>
          <p:cNvSpPr/>
          <p:nvPr/>
        </p:nvSpPr>
        <p:spPr>
          <a:xfrm>
            <a:off x="0" y="1"/>
            <a:ext cx="12192000" cy="2003400"/>
          </a:xfrm>
          <a:prstGeom prst="rect">
            <a:avLst/>
          </a:prstGeom>
          <a:solidFill>
            <a:srgbClr val="085160"/>
          </a:solidFill>
          <a:ln>
            <a:noFill/>
          </a:ln>
          <a:effectLst>
            <a:outerShdw blurRad="40000" dist="20000" dir="5400000" rotWithShape="0">
              <a:srgbClr val="000000">
                <a:alpha val="3765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89" name="Google Shape;89;gec8223986c_1_1059"/>
          <p:cNvSpPr/>
          <p:nvPr/>
        </p:nvSpPr>
        <p:spPr>
          <a:xfrm rot="2700000">
            <a:off x="6704775" y="1577089"/>
            <a:ext cx="636396" cy="851074"/>
          </a:xfrm>
          <a:prstGeom prst="rect">
            <a:avLst/>
          </a:prstGeom>
          <a:solidFill>
            <a:srgbClr val="085160"/>
          </a:solidFill>
          <a:ln>
            <a:noFill/>
          </a:ln>
          <a:effectLst>
            <a:outerShdw blurRad="40000" dist="20000" dir="5400000" rotWithShape="0">
              <a:srgbClr val="000000">
                <a:alpha val="3765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pic>
        <p:nvPicPr>
          <p:cNvPr id="90" name="Google Shape;90;gec8223986c_1_1059" descr="Logo AC Blanc.png"/>
          <p:cNvPicPr preferRelativeResize="0"/>
          <p:nvPr/>
        </p:nvPicPr>
        <p:blipFill rotWithShape="1">
          <a:blip r:embed="rId2">
            <a:alphaModFix/>
          </a:blip>
          <a:srcRect/>
          <a:stretch/>
        </p:blipFill>
        <p:spPr>
          <a:xfrm>
            <a:off x="328085" y="258764"/>
            <a:ext cx="3823699" cy="1393825"/>
          </a:xfrm>
          <a:prstGeom prst="rect">
            <a:avLst/>
          </a:prstGeom>
          <a:noFill/>
          <a:ln>
            <a:noFill/>
          </a:ln>
        </p:spPr>
      </p:pic>
      <p:sp>
        <p:nvSpPr>
          <p:cNvPr id="91" name="Google Shape;91;gec8223986c_1_1059"/>
          <p:cNvSpPr txBox="1">
            <a:spLocks noGrp="1"/>
          </p:cNvSpPr>
          <p:nvPr>
            <p:ph type="ctrTitle"/>
          </p:nvPr>
        </p:nvSpPr>
        <p:spPr>
          <a:xfrm>
            <a:off x="431371" y="2492897"/>
            <a:ext cx="9985200" cy="147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4400" b="1" i="0" u="none" strike="noStrike" cap="none">
                <a:solidFill>
                  <a:srgbClr val="F6AB38"/>
                </a:solidFill>
                <a:latin typeface="Century Gothic"/>
                <a:ea typeface="Century Gothic"/>
                <a:cs typeface="Century Gothic"/>
                <a:sym typeface="Century Gothic"/>
              </a:defRPr>
            </a:lvl1pPr>
            <a:lvl2pPr marR="0" lvl="1" algn="l" rtl="0">
              <a:spcBef>
                <a:spcPts val="0"/>
              </a:spcBef>
              <a:spcAft>
                <a:spcPts val="0"/>
              </a:spcAft>
              <a:buSzPts val="1400"/>
              <a:buNone/>
              <a:defRPr sz="3200" b="1" i="0" u="none" strike="noStrike" cap="none">
                <a:solidFill>
                  <a:srgbClr val="08516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08516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08516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08516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08516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08516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08516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085160"/>
                </a:solidFill>
                <a:latin typeface="Arial"/>
                <a:ea typeface="Arial"/>
                <a:cs typeface="Arial"/>
                <a:sym typeface="Arial"/>
              </a:defRPr>
            </a:lvl9pPr>
          </a:lstStyle>
          <a:p>
            <a:endParaRPr/>
          </a:p>
        </p:txBody>
      </p:sp>
      <p:sp>
        <p:nvSpPr>
          <p:cNvPr id="92" name="Google Shape;92;gec8223986c_1_1059"/>
          <p:cNvSpPr txBox="1">
            <a:spLocks noGrp="1"/>
          </p:cNvSpPr>
          <p:nvPr>
            <p:ph type="subTitle" idx="1"/>
          </p:nvPr>
        </p:nvSpPr>
        <p:spPr>
          <a:xfrm>
            <a:off x="431371" y="4005064"/>
            <a:ext cx="7200900" cy="1127100"/>
          </a:xfrm>
          <a:prstGeom prst="rect">
            <a:avLst/>
          </a:prstGeom>
          <a:noFill/>
          <a:ln>
            <a:noFill/>
          </a:ln>
        </p:spPr>
        <p:txBody>
          <a:bodyPr spcFirstLastPara="1" wrap="square" lIns="91425" tIns="45700" rIns="91425" bIns="45700" anchor="t" anchorCtr="0">
            <a:normAutofit/>
          </a:bodyPr>
          <a:lstStyle>
            <a:lvl1pPr marR="0" lvl="0" algn="l" rtl="0">
              <a:spcBef>
                <a:spcPts val="700"/>
              </a:spcBef>
              <a:spcAft>
                <a:spcPts val="0"/>
              </a:spcAft>
              <a:buClr>
                <a:srgbClr val="F79124"/>
              </a:buClr>
              <a:buSzPts val="3500"/>
              <a:buFont typeface="Arial"/>
              <a:buNone/>
              <a:defRPr sz="3500" b="1" i="0" u="none" strike="noStrike" cap="none">
                <a:solidFill>
                  <a:srgbClr val="085160"/>
                </a:solidFill>
                <a:latin typeface="Century Gothic"/>
                <a:ea typeface="Century Gothic"/>
                <a:cs typeface="Century Gothic"/>
                <a:sym typeface="Century Gothic"/>
              </a:defRPr>
            </a:lvl1pPr>
            <a:lvl2pPr marR="0" lvl="1" algn="ctr" rtl="0">
              <a:spcBef>
                <a:spcPts val="400"/>
              </a:spcBef>
              <a:spcAft>
                <a:spcPts val="0"/>
              </a:spcAft>
              <a:buClr>
                <a:srgbClr val="888888"/>
              </a:buClr>
              <a:buSzPts val="2000"/>
              <a:buFont typeface="Arial"/>
              <a:buNone/>
              <a:defRPr sz="2000" b="0" i="0" u="none" strike="noStrike" cap="none">
                <a:solidFill>
                  <a:srgbClr val="888888"/>
                </a:solidFill>
                <a:latin typeface="Century Gothic"/>
                <a:ea typeface="Century Gothic"/>
                <a:cs typeface="Century Gothic"/>
                <a:sym typeface="Century Gothic"/>
              </a:defRPr>
            </a:lvl2pPr>
            <a:lvl3pPr marR="0" lvl="2" algn="ctr" rtl="0">
              <a:spcBef>
                <a:spcPts val="400"/>
              </a:spcBef>
              <a:spcAft>
                <a:spcPts val="0"/>
              </a:spcAft>
              <a:buClr>
                <a:srgbClr val="888888"/>
              </a:buClr>
              <a:buSzPts val="2000"/>
              <a:buFont typeface="Arial"/>
              <a:buNone/>
              <a:defRPr sz="2000" b="0" i="0" u="none" strike="noStrike" cap="none">
                <a:solidFill>
                  <a:srgbClr val="888888"/>
                </a:solidFill>
                <a:latin typeface="Century Gothic"/>
                <a:ea typeface="Century Gothic"/>
                <a:cs typeface="Century Gothic"/>
                <a:sym typeface="Century Gothic"/>
              </a:defRPr>
            </a:lvl3pPr>
            <a:lvl4pPr marR="0" lvl="3" algn="ctr" rtl="0">
              <a:spcBef>
                <a:spcPts val="360"/>
              </a:spcBef>
              <a:spcAft>
                <a:spcPts val="0"/>
              </a:spcAft>
              <a:buClr>
                <a:srgbClr val="888888"/>
              </a:buClr>
              <a:buSzPts val="1800"/>
              <a:buFont typeface="Arial"/>
              <a:buNone/>
              <a:defRPr sz="1800" b="0" i="0" u="none" strike="noStrike" cap="none">
                <a:solidFill>
                  <a:srgbClr val="888888"/>
                </a:solidFill>
                <a:latin typeface="Century Gothic"/>
                <a:ea typeface="Century Gothic"/>
                <a:cs typeface="Century Gothic"/>
                <a:sym typeface="Century Gothic"/>
              </a:defRPr>
            </a:lvl4pPr>
            <a:lvl5pPr marR="0" lvl="4" algn="ctr" rtl="0">
              <a:spcBef>
                <a:spcPts val="320"/>
              </a:spcBef>
              <a:spcAft>
                <a:spcPts val="0"/>
              </a:spcAft>
              <a:buClr>
                <a:srgbClr val="888888"/>
              </a:buClr>
              <a:buSzPts val="1600"/>
              <a:buFont typeface="Arial"/>
              <a:buNone/>
              <a:defRPr sz="1600" b="0" i="0" u="none" strike="noStrike" cap="none">
                <a:solidFill>
                  <a:srgbClr val="888888"/>
                </a:solidFill>
                <a:latin typeface="Century Gothic"/>
                <a:ea typeface="Century Gothic"/>
                <a:cs typeface="Century Gothic"/>
                <a:sym typeface="Century Gothic"/>
              </a:defRPr>
            </a:lvl5pPr>
            <a:lvl6pPr marR="0" lvl="5"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93" name="Google Shape;93;gec8223986c_1_1059"/>
          <p:cNvSpPr txBox="1">
            <a:spLocks noGrp="1"/>
          </p:cNvSpPr>
          <p:nvPr>
            <p:ph type="body" idx="2"/>
          </p:nvPr>
        </p:nvSpPr>
        <p:spPr>
          <a:xfrm>
            <a:off x="527382" y="5634038"/>
            <a:ext cx="6816900" cy="6753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80"/>
              </a:spcBef>
              <a:spcAft>
                <a:spcPts val="0"/>
              </a:spcAft>
              <a:buClr>
                <a:srgbClr val="F79124"/>
              </a:buClr>
              <a:buSzPts val="2400"/>
              <a:buFont typeface="Arial"/>
              <a:buNone/>
              <a:defRPr sz="2400" b="1" i="0" u="none" strike="noStrike" cap="none">
                <a:solidFill>
                  <a:schemeClr val="dk1"/>
                </a:solidFill>
                <a:latin typeface="Century Gothic"/>
                <a:ea typeface="Century Gothic"/>
                <a:cs typeface="Century Gothic"/>
                <a:sym typeface="Century Gothic"/>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3241327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re seul" type="titleOnly">
  <p:cSld name="Titre seul">
    <p:spTree>
      <p:nvGrpSpPr>
        <p:cNvPr id="1" name="Shape 94"/>
        <p:cNvGrpSpPr/>
        <p:nvPr/>
      </p:nvGrpSpPr>
      <p:grpSpPr>
        <a:xfrm>
          <a:off x="0" y="0"/>
          <a:ext cx="0" cy="0"/>
          <a:chOff x="0" y="0"/>
          <a:chExt cx="0" cy="0"/>
        </a:xfrm>
      </p:grpSpPr>
      <p:sp>
        <p:nvSpPr>
          <p:cNvPr id="95" name="Google Shape;95;gec8223986c_1_1067"/>
          <p:cNvSpPr txBox="1">
            <a:spLocks noGrp="1"/>
          </p:cNvSpPr>
          <p:nvPr>
            <p:ph type="title"/>
          </p:nvPr>
        </p:nvSpPr>
        <p:spPr>
          <a:xfrm>
            <a:off x="2351585" y="0"/>
            <a:ext cx="9506100" cy="980700"/>
          </a:xfrm>
          <a:prstGeom prst="rect">
            <a:avLst/>
          </a:prstGeom>
          <a:noFill/>
          <a:ln>
            <a:noFill/>
          </a:ln>
        </p:spPr>
        <p:txBody>
          <a:bodyPr spcFirstLastPara="1" wrap="square" lIns="91425" tIns="45700" rIns="91425" bIns="45700" anchor="t" anchorCtr="0">
            <a:normAutofit/>
          </a:bodyPr>
          <a:lstStyle>
            <a:lvl1pPr marR="0" lvl="0" algn="r" rtl="0">
              <a:spcBef>
                <a:spcPts val="0"/>
              </a:spcBef>
              <a:spcAft>
                <a:spcPts val="0"/>
              </a:spcAft>
              <a:buSzPts val="1400"/>
              <a:buNone/>
              <a:defRPr sz="2800" b="1" i="0" u="none" strike="noStrike" cap="none">
                <a:solidFill>
                  <a:srgbClr val="085160"/>
                </a:solidFill>
                <a:latin typeface="Century Gothic"/>
                <a:ea typeface="Century Gothic"/>
                <a:cs typeface="Century Gothic"/>
                <a:sym typeface="Century Gothic"/>
              </a:defRPr>
            </a:lvl1pPr>
            <a:lvl2pPr marR="0" lvl="1" algn="l" rtl="0">
              <a:spcBef>
                <a:spcPts val="0"/>
              </a:spcBef>
              <a:spcAft>
                <a:spcPts val="0"/>
              </a:spcAft>
              <a:buSzPts val="1400"/>
              <a:buNone/>
              <a:defRPr sz="3200" b="1" i="0" u="none" strike="noStrike" cap="none">
                <a:solidFill>
                  <a:srgbClr val="08516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08516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08516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08516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08516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08516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08516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085160"/>
                </a:solidFill>
                <a:latin typeface="Arial"/>
                <a:ea typeface="Arial"/>
                <a:cs typeface="Arial"/>
                <a:sym typeface="Arial"/>
              </a:defRPr>
            </a:lvl9pPr>
          </a:lstStyle>
          <a:p>
            <a:endParaRPr/>
          </a:p>
        </p:txBody>
      </p:sp>
    </p:spTree>
    <p:extLst>
      <p:ext uri="{BB962C8B-B14F-4D97-AF65-F5344CB8AC3E}">
        <p14:creationId xmlns:p14="http://schemas.microsoft.com/office/powerpoint/2010/main" val="41857183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Vide" type="blank">
  <p:cSld name="Vide">
    <p:spTree>
      <p:nvGrpSpPr>
        <p:cNvPr id="1" name="Shape 96"/>
        <p:cNvGrpSpPr/>
        <p:nvPr/>
      </p:nvGrpSpPr>
      <p:grpSpPr>
        <a:xfrm>
          <a:off x="0" y="0"/>
          <a:ext cx="0" cy="0"/>
          <a:chOff x="0" y="0"/>
          <a:chExt cx="0" cy="0"/>
        </a:xfrm>
      </p:grpSpPr>
    </p:spTree>
    <p:extLst>
      <p:ext uri="{BB962C8B-B14F-4D97-AF65-F5344CB8AC3E}">
        <p14:creationId xmlns:p14="http://schemas.microsoft.com/office/powerpoint/2010/main" val="33259478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Diapositive de titre">
  <p:cSld name="Diapositive de titre">
    <p:spTree>
      <p:nvGrpSpPr>
        <p:cNvPr id="1" name="Shape 97"/>
        <p:cNvGrpSpPr/>
        <p:nvPr/>
      </p:nvGrpSpPr>
      <p:grpSpPr>
        <a:xfrm>
          <a:off x="0" y="0"/>
          <a:ext cx="0" cy="0"/>
          <a:chOff x="0" y="0"/>
          <a:chExt cx="0" cy="0"/>
        </a:xfrm>
      </p:grpSpPr>
    </p:spTree>
    <p:extLst>
      <p:ext uri="{BB962C8B-B14F-4D97-AF65-F5344CB8AC3E}">
        <p14:creationId xmlns:p14="http://schemas.microsoft.com/office/powerpoint/2010/main" val="21093005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_Diapositive de titre" type="title">
  <p:cSld name="1_Diapositive de titre">
    <p:spTree>
      <p:nvGrpSpPr>
        <p:cNvPr id="1" name="Shape 98"/>
        <p:cNvGrpSpPr/>
        <p:nvPr/>
      </p:nvGrpSpPr>
      <p:grpSpPr>
        <a:xfrm>
          <a:off x="0" y="0"/>
          <a:ext cx="0" cy="0"/>
          <a:chOff x="0" y="0"/>
          <a:chExt cx="0" cy="0"/>
        </a:xfrm>
      </p:grpSpPr>
      <p:sp>
        <p:nvSpPr>
          <p:cNvPr id="99" name="Google Shape;99;gec8223986c_1_1071"/>
          <p:cNvSpPr txBox="1">
            <a:spLocks noGrp="1"/>
          </p:cNvSpPr>
          <p:nvPr>
            <p:ph type="ctrTitle"/>
          </p:nvPr>
        </p:nvSpPr>
        <p:spPr>
          <a:xfrm>
            <a:off x="914400" y="2130426"/>
            <a:ext cx="10363200" cy="147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3200" b="1" i="0" u="none" strike="noStrike" cap="none">
                <a:solidFill>
                  <a:srgbClr val="085160"/>
                </a:solidFill>
                <a:latin typeface="Century Gothic"/>
                <a:ea typeface="Century Gothic"/>
                <a:cs typeface="Century Gothic"/>
                <a:sym typeface="Century Gothic"/>
              </a:defRPr>
            </a:lvl1pPr>
            <a:lvl2pPr marR="0" lvl="1" algn="l" rtl="0">
              <a:spcBef>
                <a:spcPts val="0"/>
              </a:spcBef>
              <a:spcAft>
                <a:spcPts val="0"/>
              </a:spcAft>
              <a:buSzPts val="1400"/>
              <a:buNone/>
              <a:defRPr sz="3200" b="1" i="0" u="none" strike="noStrike" cap="none">
                <a:solidFill>
                  <a:srgbClr val="08516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08516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08516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08516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08516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08516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08516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085160"/>
                </a:solidFill>
                <a:latin typeface="Arial"/>
                <a:ea typeface="Arial"/>
                <a:cs typeface="Arial"/>
                <a:sym typeface="Arial"/>
              </a:defRPr>
            </a:lvl9pPr>
          </a:lstStyle>
          <a:p>
            <a:endParaRPr/>
          </a:p>
        </p:txBody>
      </p:sp>
      <p:sp>
        <p:nvSpPr>
          <p:cNvPr id="100" name="Google Shape;100;gec8223986c_1_1071"/>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Autofit/>
          </a:bodyPr>
          <a:lstStyle>
            <a:lvl1pPr marR="0" lvl="0" algn="ctr" rtl="0">
              <a:spcBef>
                <a:spcPts val="480"/>
              </a:spcBef>
              <a:spcAft>
                <a:spcPts val="0"/>
              </a:spcAft>
              <a:buClr>
                <a:srgbClr val="F79124"/>
              </a:buClr>
              <a:buSzPts val="2400"/>
              <a:buFont typeface="Arial"/>
              <a:buNone/>
              <a:defRPr sz="2400" b="1" i="0" u="none" strike="noStrike" cap="none">
                <a:solidFill>
                  <a:srgbClr val="085160"/>
                </a:solidFill>
                <a:latin typeface="Century Gothic"/>
                <a:ea typeface="Century Gothic"/>
                <a:cs typeface="Century Gothic"/>
                <a:sym typeface="Century Gothic"/>
              </a:defRPr>
            </a:lvl1pPr>
            <a:lvl2pPr marR="0" lvl="1" algn="ctr" rtl="0">
              <a:spcBef>
                <a:spcPts val="400"/>
              </a:spcBef>
              <a:spcAft>
                <a:spcPts val="0"/>
              </a:spcAft>
              <a:buClr>
                <a:schemeClr val="dk1"/>
              </a:buClr>
              <a:buSzPts val="2000"/>
              <a:buFont typeface="Arial"/>
              <a:buNone/>
              <a:defRPr sz="2000" b="0" i="0" u="none" strike="noStrike" cap="none">
                <a:solidFill>
                  <a:schemeClr val="dk1"/>
                </a:solidFill>
                <a:latin typeface="Century Gothic"/>
                <a:ea typeface="Century Gothic"/>
                <a:cs typeface="Century Gothic"/>
                <a:sym typeface="Century Gothic"/>
              </a:defRPr>
            </a:lvl2pPr>
            <a:lvl3pPr marR="0" lvl="2" algn="ctr" rtl="0">
              <a:spcBef>
                <a:spcPts val="400"/>
              </a:spcBef>
              <a:spcAft>
                <a:spcPts val="0"/>
              </a:spcAft>
              <a:buClr>
                <a:schemeClr val="dk1"/>
              </a:buClr>
              <a:buSzPts val="2000"/>
              <a:buFont typeface="Arial"/>
              <a:buNone/>
              <a:defRPr sz="2000" b="0" i="0" u="none" strike="noStrike" cap="none">
                <a:solidFill>
                  <a:schemeClr val="dk1"/>
                </a:solidFill>
                <a:latin typeface="Century Gothic"/>
                <a:ea typeface="Century Gothic"/>
                <a:cs typeface="Century Gothic"/>
                <a:sym typeface="Century Gothic"/>
              </a:defRPr>
            </a:lvl3pPr>
            <a:lvl4pPr marR="0" lvl="3" algn="ctr" rtl="0">
              <a:spcBef>
                <a:spcPts val="360"/>
              </a:spcBef>
              <a:spcAft>
                <a:spcPts val="0"/>
              </a:spcAft>
              <a:buClr>
                <a:schemeClr val="dk1"/>
              </a:buClr>
              <a:buSzPts val="1800"/>
              <a:buFont typeface="Arial"/>
              <a:buNone/>
              <a:defRPr sz="1800" b="0" i="0" u="none" strike="noStrike" cap="none">
                <a:solidFill>
                  <a:schemeClr val="dk1"/>
                </a:solidFill>
                <a:latin typeface="Century Gothic"/>
                <a:ea typeface="Century Gothic"/>
                <a:cs typeface="Century Gothic"/>
                <a:sym typeface="Century Gothic"/>
              </a:defRPr>
            </a:lvl4pPr>
            <a:lvl5pPr marR="0" lvl="4" algn="ctr" rtl="0">
              <a:spcBef>
                <a:spcPts val="320"/>
              </a:spcBef>
              <a:spcAft>
                <a:spcPts val="0"/>
              </a:spcAft>
              <a:buClr>
                <a:schemeClr val="dk1"/>
              </a:buClr>
              <a:buSzPts val="1600"/>
              <a:buFont typeface="Arial"/>
              <a:buNone/>
              <a:defRPr sz="1600" b="0" i="0" u="none" strike="noStrike" cap="none">
                <a:solidFill>
                  <a:schemeClr val="dk1"/>
                </a:solidFill>
                <a:latin typeface="Century Gothic"/>
                <a:ea typeface="Century Gothic"/>
                <a:cs typeface="Century Gothic"/>
                <a:sym typeface="Century Gothic"/>
              </a:defRPr>
            </a:lvl5pPr>
            <a:lvl6pPr marR="0" lvl="5" algn="ctr"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ctr"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ctr"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ctr"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101" name="Google Shape;101;gec8223986c_1_1071"/>
          <p:cNvSpPr txBox="1">
            <a:spLocks noGrp="1"/>
          </p:cNvSpPr>
          <p:nvPr>
            <p:ph type="dt" idx="10"/>
          </p:nvPr>
        </p:nvSpPr>
        <p:spPr>
          <a:xfrm>
            <a:off x="239184" y="6597650"/>
            <a:ext cx="1439400" cy="2604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2" name="Google Shape;102;gec8223986c_1_1071"/>
          <p:cNvSpPr txBox="1">
            <a:spLocks noGrp="1"/>
          </p:cNvSpPr>
          <p:nvPr>
            <p:ph type="ftr" idx="11"/>
          </p:nvPr>
        </p:nvSpPr>
        <p:spPr>
          <a:xfrm>
            <a:off x="1871133" y="6453188"/>
            <a:ext cx="8544900" cy="4047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3" name="Google Shape;103;gec8223986c_1_1071"/>
          <p:cNvSpPr txBox="1">
            <a:spLocks noGrp="1"/>
          </p:cNvSpPr>
          <p:nvPr>
            <p:ph type="sldNum" idx="12"/>
          </p:nvPr>
        </p:nvSpPr>
        <p:spPr>
          <a:xfrm>
            <a:off x="11321727" y="6654869"/>
            <a:ext cx="864000" cy="20310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100" b="1">
                <a:solidFill>
                  <a:schemeClr val="lt1"/>
                </a:solidFill>
                <a:latin typeface="Arial"/>
                <a:ea typeface="Arial"/>
                <a:cs typeface="Arial"/>
                <a:sym typeface="Arial"/>
              </a:defRPr>
            </a:lvl1pPr>
            <a:lvl2pPr marL="0" marR="0" lvl="1" indent="0" algn="r" rtl="0">
              <a:spcBef>
                <a:spcPts val="0"/>
              </a:spcBef>
              <a:spcAft>
                <a:spcPts val="0"/>
              </a:spcAft>
              <a:buNone/>
              <a:defRPr sz="1100" b="1">
                <a:solidFill>
                  <a:schemeClr val="lt1"/>
                </a:solidFill>
                <a:latin typeface="Arial"/>
                <a:ea typeface="Arial"/>
                <a:cs typeface="Arial"/>
                <a:sym typeface="Arial"/>
              </a:defRPr>
            </a:lvl2pPr>
            <a:lvl3pPr marL="0" marR="0" lvl="2" indent="0" algn="r" rtl="0">
              <a:spcBef>
                <a:spcPts val="0"/>
              </a:spcBef>
              <a:spcAft>
                <a:spcPts val="0"/>
              </a:spcAft>
              <a:buNone/>
              <a:defRPr sz="1100" b="1">
                <a:solidFill>
                  <a:schemeClr val="lt1"/>
                </a:solidFill>
                <a:latin typeface="Arial"/>
                <a:ea typeface="Arial"/>
                <a:cs typeface="Arial"/>
                <a:sym typeface="Arial"/>
              </a:defRPr>
            </a:lvl3pPr>
            <a:lvl4pPr marL="0" marR="0" lvl="3" indent="0" algn="r" rtl="0">
              <a:spcBef>
                <a:spcPts val="0"/>
              </a:spcBef>
              <a:spcAft>
                <a:spcPts val="0"/>
              </a:spcAft>
              <a:buNone/>
              <a:defRPr sz="1100" b="1">
                <a:solidFill>
                  <a:schemeClr val="lt1"/>
                </a:solidFill>
                <a:latin typeface="Arial"/>
                <a:ea typeface="Arial"/>
                <a:cs typeface="Arial"/>
                <a:sym typeface="Arial"/>
              </a:defRPr>
            </a:lvl4pPr>
            <a:lvl5pPr marL="0" marR="0" lvl="4" indent="0" algn="r" rtl="0">
              <a:spcBef>
                <a:spcPts val="0"/>
              </a:spcBef>
              <a:spcAft>
                <a:spcPts val="0"/>
              </a:spcAft>
              <a:buNone/>
              <a:defRPr sz="1100" b="1">
                <a:solidFill>
                  <a:schemeClr val="lt1"/>
                </a:solidFill>
                <a:latin typeface="Arial"/>
                <a:ea typeface="Arial"/>
                <a:cs typeface="Arial"/>
                <a:sym typeface="Arial"/>
              </a:defRPr>
            </a:lvl5pPr>
            <a:lvl6pPr marL="0" marR="0" lvl="5" indent="0" algn="r" rtl="0">
              <a:spcBef>
                <a:spcPts val="0"/>
              </a:spcBef>
              <a:spcAft>
                <a:spcPts val="0"/>
              </a:spcAft>
              <a:buNone/>
              <a:defRPr sz="1100" b="1">
                <a:solidFill>
                  <a:schemeClr val="lt1"/>
                </a:solidFill>
                <a:latin typeface="Arial"/>
                <a:ea typeface="Arial"/>
                <a:cs typeface="Arial"/>
                <a:sym typeface="Arial"/>
              </a:defRPr>
            </a:lvl6pPr>
            <a:lvl7pPr marL="0" marR="0" lvl="6" indent="0" algn="r" rtl="0">
              <a:spcBef>
                <a:spcPts val="0"/>
              </a:spcBef>
              <a:spcAft>
                <a:spcPts val="0"/>
              </a:spcAft>
              <a:buNone/>
              <a:defRPr sz="1100" b="1">
                <a:solidFill>
                  <a:schemeClr val="lt1"/>
                </a:solidFill>
                <a:latin typeface="Arial"/>
                <a:ea typeface="Arial"/>
                <a:cs typeface="Arial"/>
                <a:sym typeface="Arial"/>
              </a:defRPr>
            </a:lvl7pPr>
            <a:lvl8pPr marL="0" marR="0" lvl="7" indent="0" algn="r" rtl="0">
              <a:spcBef>
                <a:spcPts val="0"/>
              </a:spcBef>
              <a:spcAft>
                <a:spcPts val="0"/>
              </a:spcAft>
              <a:buNone/>
              <a:defRPr sz="1100" b="1">
                <a:solidFill>
                  <a:schemeClr val="lt1"/>
                </a:solidFill>
                <a:latin typeface="Arial"/>
                <a:ea typeface="Arial"/>
                <a:cs typeface="Arial"/>
                <a:sym typeface="Arial"/>
              </a:defRPr>
            </a:lvl8pPr>
            <a:lvl9pPr marL="0" marR="0" lvl="8" indent="0" algn="r" rtl="0">
              <a:spcBef>
                <a:spcPts val="0"/>
              </a:spcBef>
              <a:spcAft>
                <a:spcPts val="0"/>
              </a:spcAft>
              <a:buNone/>
              <a:defRPr sz="1100" b="1">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r>
              <a:rPr lang="fr-FR"/>
              <a:t>/46</a:t>
            </a:r>
            <a:endParaRPr/>
          </a:p>
        </p:txBody>
      </p:sp>
      <p:sp>
        <p:nvSpPr>
          <p:cNvPr id="104" name="Google Shape;104;gec8223986c_1_1071"/>
          <p:cNvSpPr/>
          <p:nvPr/>
        </p:nvSpPr>
        <p:spPr>
          <a:xfrm>
            <a:off x="0" y="6453188"/>
            <a:ext cx="12192000" cy="404700"/>
          </a:xfrm>
          <a:prstGeom prst="rect">
            <a:avLst/>
          </a:prstGeom>
          <a:solidFill>
            <a:srgbClr val="F791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extLst>
      <p:ext uri="{BB962C8B-B14F-4D97-AF65-F5344CB8AC3E}">
        <p14:creationId xmlns:p14="http://schemas.microsoft.com/office/powerpoint/2010/main" val="30636665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13"/>
        <p:cNvGrpSpPr/>
        <p:nvPr/>
      </p:nvGrpSpPr>
      <p:grpSpPr>
        <a:xfrm>
          <a:off x="0" y="0"/>
          <a:ext cx="0" cy="0"/>
          <a:chOff x="0" y="0"/>
          <a:chExt cx="0" cy="0"/>
        </a:xfrm>
      </p:grpSpPr>
      <p:sp>
        <p:nvSpPr>
          <p:cNvPr id="14" name="Google Shape;14;p166"/>
          <p:cNvSpPr txBox="1">
            <a:spLocks noGrp="1"/>
          </p:cNvSpPr>
          <p:nvPr>
            <p:ph type="title"/>
          </p:nvPr>
        </p:nvSpPr>
        <p:spPr>
          <a:xfrm>
            <a:off x="2027548" y="0"/>
            <a:ext cx="8028892" cy="980728"/>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SzPts val="1400"/>
              <a:buNone/>
              <a:defRPr sz="2400" b="1" i="0" u="none" strike="noStrike" cap="none">
                <a:solidFill>
                  <a:srgbClr val="085160"/>
                </a:solidFill>
                <a:latin typeface="Century Gothic"/>
                <a:ea typeface="Century Gothic"/>
                <a:cs typeface="Century Gothic"/>
                <a:sym typeface="Century Gothic"/>
              </a:defRPr>
            </a:lvl1pPr>
            <a:lvl2pPr marR="0" lvl="1" algn="l" rtl="0">
              <a:spcBef>
                <a:spcPts val="0"/>
              </a:spcBef>
              <a:spcAft>
                <a:spcPts val="0"/>
              </a:spcAft>
              <a:buSzPts val="1400"/>
              <a:buNone/>
              <a:defRPr sz="3200" b="1" i="0" u="none" strike="noStrike" cap="none">
                <a:solidFill>
                  <a:srgbClr val="08516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08516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08516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08516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08516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08516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08516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085160"/>
                </a:solidFill>
                <a:latin typeface="Arial"/>
                <a:ea typeface="Arial"/>
                <a:cs typeface="Arial"/>
                <a:sym typeface="Arial"/>
              </a:defRPr>
            </a:lvl9pPr>
          </a:lstStyle>
          <a:p>
            <a:endParaRPr/>
          </a:p>
        </p:txBody>
      </p:sp>
      <p:sp>
        <p:nvSpPr>
          <p:cNvPr id="15" name="Google Shape;15;p166"/>
          <p:cNvSpPr txBox="1">
            <a:spLocks noGrp="1"/>
          </p:cNvSpPr>
          <p:nvPr>
            <p:ph type="body" idx="1"/>
          </p:nvPr>
        </p:nvSpPr>
        <p:spPr>
          <a:xfrm>
            <a:off x="609600" y="1268760"/>
            <a:ext cx="10972800" cy="485740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80"/>
              </a:spcBef>
              <a:spcAft>
                <a:spcPts val="0"/>
              </a:spcAft>
              <a:buClr>
                <a:srgbClr val="F79124"/>
              </a:buClr>
              <a:buSzPts val="2400"/>
              <a:buFont typeface="Arial"/>
              <a:buNone/>
              <a:defRPr sz="2400" b="1" i="0" u="none" strike="noStrike" cap="none">
                <a:solidFill>
                  <a:srgbClr val="085160"/>
                </a:solidFill>
                <a:latin typeface="Century Gothic"/>
                <a:ea typeface="Century Gothic"/>
                <a:cs typeface="Century Gothic"/>
                <a:sym typeface="Century Gothic"/>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16" name="Google Shape;16;p166" descr="\\GOFLEX_HOME\GoFlex Home Public\00_Documents communs\06_Communication\5. Identité visuelle\Logos\logo-ABC.png"/>
          <p:cNvPicPr preferRelativeResize="0"/>
          <p:nvPr/>
        </p:nvPicPr>
        <p:blipFill rotWithShape="1">
          <a:blip r:embed="rId2">
            <a:alphaModFix/>
          </a:blip>
          <a:srcRect/>
          <a:stretch/>
        </p:blipFill>
        <p:spPr>
          <a:xfrm>
            <a:off x="10272464" y="260600"/>
            <a:ext cx="1737098" cy="55389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Fait à mettre en avant">
  <p:cSld name="Fait à mettre en avant">
    <p:spTree>
      <p:nvGrpSpPr>
        <p:cNvPr id="1" name="Shape 17"/>
        <p:cNvGrpSpPr/>
        <p:nvPr/>
      </p:nvGrpSpPr>
      <p:grpSpPr>
        <a:xfrm>
          <a:off x="0" y="0"/>
          <a:ext cx="0" cy="0"/>
          <a:chOff x="0" y="0"/>
          <a:chExt cx="0" cy="0"/>
        </a:xfrm>
      </p:grpSpPr>
      <p:sp>
        <p:nvSpPr>
          <p:cNvPr id="18" name="Google Shape;18;p167"/>
          <p:cNvSpPr/>
          <p:nvPr/>
        </p:nvSpPr>
        <p:spPr>
          <a:xfrm>
            <a:off x="0" y="0"/>
            <a:ext cx="12192000" cy="6957392"/>
          </a:xfrm>
          <a:prstGeom prst="rect">
            <a:avLst/>
          </a:prstGeom>
          <a:solidFill>
            <a:schemeClr val="lt1"/>
          </a:solidFill>
          <a:ln>
            <a:noFill/>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19" name="Google Shape;19;p167"/>
          <p:cNvSpPr txBox="1">
            <a:spLocks noGrp="1"/>
          </p:cNvSpPr>
          <p:nvPr>
            <p:ph type="body" idx="1"/>
          </p:nvPr>
        </p:nvSpPr>
        <p:spPr>
          <a:xfrm>
            <a:off x="0" y="2492897"/>
            <a:ext cx="10363200" cy="1500187"/>
          </a:xfrm>
          <a:prstGeom prst="rect">
            <a:avLst/>
          </a:prstGeom>
          <a:solidFill>
            <a:srgbClr val="F6AB38"/>
          </a:solidFill>
          <a:ln>
            <a:noFill/>
          </a:ln>
        </p:spPr>
        <p:txBody>
          <a:bodyPr spcFirstLastPara="1" wrap="square" lIns="216000" tIns="45700" rIns="91425" bIns="45700" anchor="ctr" anchorCtr="0">
            <a:normAutofit/>
          </a:bodyPr>
          <a:lstStyle>
            <a:lvl1pPr marL="457200" marR="0" lvl="0" indent="-228600" algn="l" rtl="0">
              <a:spcBef>
                <a:spcPts val="800"/>
              </a:spcBef>
              <a:spcAft>
                <a:spcPts val="0"/>
              </a:spcAft>
              <a:buClr>
                <a:srgbClr val="F79124"/>
              </a:buClr>
              <a:buSzPts val="4000"/>
              <a:buFont typeface="Arial"/>
              <a:buNone/>
              <a:defRPr sz="4000" b="1" i="0" u="none" strike="noStrike" cap="none">
                <a:solidFill>
                  <a:schemeClr val="lt1"/>
                </a:solidFill>
                <a:latin typeface="Century Gothic"/>
                <a:ea typeface="Century Gothic"/>
                <a:cs typeface="Century Gothic"/>
                <a:sym typeface="Century Gothic"/>
              </a:defRPr>
            </a:lvl1pPr>
            <a:lvl2pPr marL="914400" marR="0" lvl="1" indent="-228600" algn="l" rtl="0">
              <a:spcBef>
                <a:spcPts val="360"/>
              </a:spcBef>
              <a:spcAft>
                <a:spcPts val="0"/>
              </a:spcAft>
              <a:buClr>
                <a:srgbClr val="888888"/>
              </a:buClr>
              <a:buSzPts val="1800"/>
              <a:buFont typeface="Arial"/>
              <a:buNone/>
              <a:defRPr sz="1800" b="0" i="0" u="none" strike="noStrike" cap="none">
                <a:solidFill>
                  <a:srgbClr val="888888"/>
                </a:solidFill>
                <a:latin typeface="Century Gothic"/>
                <a:ea typeface="Century Gothic"/>
                <a:cs typeface="Century Gothic"/>
                <a:sym typeface="Century Gothic"/>
              </a:defRPr>
            </a:lvl2pPr>
            <a:lvl3pPr marL="1371600" marR="0" lvl="2" indent="-228600" algn="l" rtl="0">
              <a:spcBef>
                <a:spcPts val="320"/>
              </a:spcBef>
              <a:spcAft>
                <a:spcPts val="0"/>
              </a:spcAft>
              <a:buClr>
                <a:srgbClr val="888888"/>
              </a:buClr>
              <a:buSzPts val="1600"/>
              <a:buFont typeface="Arial"/>
              <a:buNone/>
              <a:defRPr sz="1600" b="0" i="0" u="none" strike="noStrike" cap="none">
                <a:solidFill>
                  <a:srgbClr val="888888"/>
                </a:solidFill>
                <a:latin typeface="Century Gothic"/>
                <a:ea typeface="Century Gothic"/>
                <a:cs typeface="Century Gothic"/>
                <a:sym typeface="Century Gothic"/>
              </a:defRPr>
            </a:lvl3pPr>
            <a:lvl4pPr marL="1828800" marR="0" lvl="3" indent="-228600" algn="l" rtl="0">
              <a:spcBef>
                <a:spcPts val="280"/>
              </a:spcBef>
              <a:spcAft>
                <a:spcPts val="0"/>
              </a:spcAft>
              <a:buClr>
                <a:srgbClr val="888888"/>
              </a:buClr>
              <a:buSzPts val="1400"/>
              <a:buFont typeface="Arial"/>
              <a:buNone/>
              <a:defRPr sz="1400" b="0" i="0" u="none" strike="noStrike" cap="none">
                <a:solidFill>
                  <a:srgbClr val="888888"/>
                </a:solidFill>
                <a:latin typeface="Century Gothic"/>
                <a:ea typeface="Century Gothic"/>
                <a:cs typeface="Century Gothic"/>
                <a:sym typeface="Century Gothic"/>
              </a:defRPr>
            </a:lvl4pPr>
            <a:lvl5pPr marL="2286000" marR="0" lvl="4" indent="-228600" algn="l" rtl="0">
              <a:spcBef>
                <a:spcPts val="280"/>
              </a:spcBef>
              <a:spcAft>
                <a:spcPts val="0"/>
              </a:spcAft>
              <a:buClr>
                <a:srgbClr val="888888"/>
              </a:buClr>
              <a:buSzPts val="1400"/>
              <a:buFont typeface="Arial"/>
              <a:buNone/>
              <a:defRPr sz="1400" b="0" i="0" u="none" strike="noStrike" cap="none">
                <a:solidFill>
                  <a:srgbClr val="888888"/>
                </a:solidFill>
                <a:latin typeface="Century Gothic"/>
                <a:ea typeface="Century Gothic"/>
                <a:cs typeface="Century Gothic"/>
                <a:sym typeface="Century Gothic"/>
              </a:defRPr>
            </a:lvl5pPr>
            <a:lvl6pPr marL="2743200" marR="0" lvl="5"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Diapositive Titre">
  <p:cSld name="Diapositive Titre">
    <p:spTree>
      <p:nvGrpSpPr>
        <p:cNvPr id="1" name="Shape 21"/>
        <p:cNvGrpSpPr/>
        <p:nvPr/>
      </p:nvGrpSpPr>
      <p:grpSpPr>
        <a:xfrm>
          <a:off x="0" y="0"/>
          <a:ext cx="0" cy="0"/>
          <a:chOff x="0" y="0"/>
          <a:chExt cx="0" cy="0"/>
        </a:xfrm>
      </p:grpSpPr>
      <p:sp>
        <p:nvSpPr>
          <p:cNvPr id="22" name="Google Shape;22;p169"/>
          <p:cNvSpPr/>
          <p:nvPr/>
        </p:nvSpPr>
        <p:spPr>
          <a:xfrm>
            <a:off x="0" y="6092826"/>
            <a:ext cx="12192000" cy="76517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 name="Google Shape;23;p169"/>
          <p:cNvSpPr/>
          <p:nvPr/>
        </p:nvSpPr>
        <p:spPr>
          <a:xfrm>
            <a:off x="0" y="1"/>
            <a:ext cx="12192000" cy="2003425"/>
          </a:xfrm>
          <a:prstGeom prst="rect">
            <a:avLst/>
          </a:prstGeom>
          <a:solidFill>
            <a:srgbClr val="085160"/>
          </a:solidFill>
          <a:ln>
            <a:noFill/>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24" name="Google Shape;24;p169"/>
          <p:cNvSpPr/>
          <p:nvPr/>
        </p:nvSpPr>
        <p:spPr>
          <a:xfrm rot="2700000">
            <a:off x="6704808" y="1577182"/>
            <a:ext cx="636587" cy="850900"/>
          </a:xfrm>
          <a:prstGeom prst="rect">
            <a:avLst/>
          </a:prstGeom>
          <a:solidFill>
            <a:srgbClr val="085160"/>
          </a:solidFill>
          <a:ln>
            <a:noFill/>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pic>
        <p:nvPicPr>
          <p:cNvPr id="25" name="Google Shape;25;p169" descr="Logo AC Blanc.png"/>
          <p:cNvPicPr preferRelativeResize="0"/>
          <p:nvPr/>
        </p:nvPicPr>
        <p:blipFill rotWithShape="1">
          <a:blip r:embed="rId2">
            <a:alphaModFix/>
          </a:blip>
          <a:srcRect/>
          <a:stretch/>
        </p:blipFill>
        <p:spPr>
          <a:xfrm>
            <a:off x="328085" y="258764"/>
            <a:ext cx="3823700" cy="1393825"/>
          </a:xfrm>
          <a:prstGeom prst="rect">
            <a:avLst/>
          </a:prstGeom>
          <a:noFill/>
          <a:ln>
            <a:noFill/>
          </a:ln>
        </p:spPr>
      </p:pic>
      <p:sp>
        <p:nvSpPr>
          <p:cNvPr id="26" name="Google Shape;26;p169"/>
          <p:cNvSpPr txBox="1">
            <a:spLocks noGrp="1"/>
          </p:cNvSpPr>
          <p:nvPr>
            <p:ph type="ctrTitle"/>
          </p:nvPr>
        </p:nvSpPr>
        <p:spPr>
          <a:xfrm>
            <a:off x="431371" y="2492897"/>
            <a:ext cx="9985109" cy="14700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4400" b="1" i="0" u="none" strike="noStrike" cap="none">
                <a:solidFill>
                  <a:srgbClr val="F6AB38"/>
                </a:solidFill>
                <a:latin typeface="Century Gothic"/>
                <a:ea typeface="Century Gothic"/>
                <a:cs typeface="Century Gothic"/>
                <a:sym typeface="Century Gothic"/>
              </a:defRPr>
            </a:lvl1pPr>
            <a:lvl2pPr marR="0" lvl="1" algn="l" rtl="0">
              <a:spcBef>
                <a:spcPts val="0"/>
              </a:spcBef>
              <a:spcAft>
                <a:spcPts val="0"/>
              </a:spcAft>
              <a:buSzPts val="1400"/>
              <a:buNone/>
              <a:defRPr sz="3200" b="1" i="0" u="none" strike="noStrike" cap="none">
                <a:solidFill>
                  <a:srgbClr val="08516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08516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08516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08516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08516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08516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08516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085160"/>
                </a:solidFill>
                <a:latin typeface="Arial"/>
                <a:ea typeface="Arial"/>
                <a:cs typeface="Arial"/>
                <a:sym typeface="Arial"/>
              </a:defRPr>
            </a:lvl9pPr>
          </a:lstStyle>
          <a:p>
            <a:endParaRPr/>
          </a:p>
        </p:txBody>
      </p:sp>
      <p:sp>
        <p:nvSpPr>
          <p:cNvPr id="27" name="Google Shape;27;p169"/>
          <p:cNvSpPr txBox="1">
            <a:spLocks noGrp="1"/>
          </p:cNvSpPr>
          <p:nvPr>
            <p:ph type="subTitle" idx="1"/>
          </p:nvPr>
        </p:nvSpPr>
        <p:spPr>
          <a:xfrm>
            <a:off x="431371" y="4005064"/>
            <a:ext cx="7200800" cy="1126976"/>
          </a:xfrm>
          <a:prstGeom prst="rect">
            <a:avLst/>
          </a:prstGeom>
          <a:noFill/>
          <a:ln>
            <a:noFill/>
          </a:ln>
        </p:spPr>
        <p:txBody>
          <a:bodyPr spcFirstLastPara="1" wrap="square" lIns="91425" tIns="45700" rIns="91425" bIns="45700" anchor="t" anchorCtr="0">
            <a:normAutofit/>
          </a:bodyPr>
          <a:lstStyle>
            <a:lvl1pPr marR="0" lvl="0" algn="l" rtl="0">
              <a:spcBef>
                <a:spcPts val="700"/>
              </a:spcBef>
              <a:spcAft>
                <a:spcPts val="0"/>
              </a:spcAft>
              <a:buClr>
                <a:srgbClr val="F79124"/>
              </a:buClr>
              <a:buSzPts val="3500"/>
              <a:buFont typeface="Arial"/>
              <a:buNone/>
              <a:defRPr sz="3500" b="1" i="0" u="none" strike="noStrike" cap="none">
                <a:solidFill>
                  <a:srgbClr val="085160"/>
                </a:solidFill>
                <a:latin typeface="Century Gothic"/>
                <a:ea typeface="Century Gothic"/>
                <a:cs typeface="Century Gothic"/>
                <a:sym typeface="Century Gothic"/>
              </a:defRPr>
            </a:lvl1pPr>
            <a:lvl2pPr marR="0" lvl="1" algn="ctr" rtl="0">
              <a:spcBef>
                <a:spcPts val="400"/>
              </a:spcBef>
              <a:spcAft>
                <a:spcPts val="0"/>
              </a:spcAft>
              <a:buClr>
                <a:srgbClr val="888888"/>
              </a:buClr>
              <a:buSzPts val="2000"/>
              <a:buFont typeface="Arial"/>
              <a:buNone/>
              <a:defRPr sz="2000" b="0" i="0" u="none" strike="noStrike" cap="none">
                <a:solidFill>
                  <a:srgbClr val="888888"/>
                </a:solidFill>
                <a:latin typeface="Century Gothic"/>
                <a:ea typeface="Century Gothic"/>
                <a:cs typeface="Century Gothic"/>
                <a:sym typeface="Century Gothic"/>
              </a:defRPr>
            </a:lvl2pPr>
            <a:lvl3pPr marR="0" lvl="2" algn="ctr" rtl="0">
              <a:spcBef>
                <a:spcPts val="400"/>
              </a:spcBef>
              <a:spcAft>
                <a:spcPts val="0"/>
              </a:spcAft>
              <a:buClr>
                <a:srgbClr val="888888"/>
              </a:buClr>
              <a:buSzPts val="2000"/>
              <a:buFont typeface="Arial"/>
              <a:buNone/>
              <a:defRPr sz="2000" b="0" i="0" u="none" strike="noStrike" cap="none">
                <a:solidFill>
                  <a:srgbClr val="888888"/>
                </a:solidFill>
                <a:latin typeface="Century Gothic"/>
                <a:ea typeface="Century Gothic"/>
                <a:cs typeface="Century Gothic"/>
                <a:sym typeface="Century Gothic"/>
              </a:defRPr>
            </a:lvl3pPr>
            <a:lvl4pPr marR="0" lvl="3" algn="ctr" rtl="0">
              <a:spcBef>
                <a:spcPts val="360"/>
              </a:spcBef>
              <a:spcAft>
                <a:spcPts val="0"/>
              </a:spcAft>
              <a:buClr>
                <a:srgbClr val="888888"/>
              </a:buClr>
              <a:buSzPts val="1800"/>
              <a:buFont typeface="Arial"/>
              <a:buNone/>
              <a:defRPr sz="1800" b="0" i="0" u="none" strike="noStrike" cap="none">
                <a:solidFill>
                  <a:srgbClr val="888888"/>
                </a:solidFill>
                <a:latin typeface="Century Gothic"/>
                <a:ea typeface="Century Gothic"/>
                <a:cs typeface="Century Gothic"/>
                <a:sym typeface="Century Gothic"/>
              </a:defRPr>
            </a:lvl4pPr>
            <a:lvl5pPr marR="0" lvl="4" algn="ctr" rtl="0">
              <a:spcBef>
                <a:spcPts val="320"/>
              </a:spcBef>
              <a:spcAft>
                <a:spcPts val="0"/>
              </a:spcAft>
              <a:buClr>
                <a:srgbClr val="888888"/>
              </a:buClr>
              <a:buSzPts val="1600"/>
              <a:buFont typeface="Arial"/>
              <a:buNone/>
              <a:defRPr sz="1600" b="0" i="0" u="none" strike="noStrike" cap="none">
                <a:solidFill>
                  <a:srgbClr val="888888"/>
                </a:solidFill>
                <a:latin typeface="Century Gothic"/>
                <a:ea typeface="Century Gothic"/>
                <a:cs typeface="Century Gothic"/>
                <a:sym typeface="Century Gothic"/>
              </a:defRPr>
            </a:lvl5pPr>
            <a:lvl6pPr marR="0" lvl="5"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28" name="Google Shape;28;p169"/>
          <p:cNvSpPr txBox="1">
            <a:spLocks noGrp="1"/>
          </p:cNvSpPr>
          <p:nvPr>
            <p:ph type="body" idx="2"/>
          </p:nvPr>
        </p:nvSpPr>
        <p:spPr>
          <a:xfrm>
            <a:off x="527382" y="5634038"/>
            <a:ext cx="6816757" cy="675283"/>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80"/>
              </a:spcBef>
              <a:spcAft>
                <a:spcPts val="0"/>
              </a:spcAft>
              <a:buClr>
                <a:srgbClr val="F79124"/>
              </a:buClr>
              <a:buSzPts val="2400"/>
              <a:buFont typeface="Arial"/>
              <a:buNone/>
              <a:defRPr sz="2400" b="1" i="0" u="none" strike="noStrike" cap="none">
                <a:solidFill>
                  <a:schemeClr val="dk1"/>
                </a:solidFill>
                <a:latin typeface="Century Gothic"/>
                <a:ea typeface="Century Gothic"/>
                <a:cs typeface="Century Gothic"/>
                <a:sym typeface="Century Gothic"/>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re seul" type="titleOnly">
  <p:cSld name="TITLE_ONLY">
    <p:spTree>
      <p:nvGrpSpPr>
        <p:cNvPr id="1" name="Shape 29"/>
        <p:cNvGrpSpPr/>
        <p:nvPr/>
      </p:nvGrpSpPr>
      <p:grpSpPr>
        <a:xfrm>
          <a:off x="0" y="0"/>
          <a:ext cx="0" cy="0"/>
          <a:chOff x="0" y="0"/>
          <a:chExt cx="0" cy="0"/>
        </a:xfrm>
      </p:grpSpPr>
      <p:sp>
        <p:nvSpPr>
          <p:cNvPr id="30" name="Google Shape;30;p170"/>
          <p:cNvSpPr txBox="1">
            <a:spLocks noGrp="1"/>
          </p:cNvSpPr>
          <p:nvPr>
            <p:ph type="title"/>
          </p:nvPr>
        </p:nvSpPr>
        <p:spPr>
          <a:xfrm>
            <a:off x="2351585" y="0"/>
            <a:ext cx="9505983" cy="980728"/>
          </a:xfrm>
          <a:prstGeom prst="rect">
            <a:avLst/>
          </a:prstGeom>
          <a:noFill/>
          <a:ln>
            <a:noFill/>
          </a:ln>
        </p:spPr>
        <p:txBody>
          <a:bodyPr spcFirstLastPara="1" wrap="square" lIns="91425" tIns="45700" rIns="91425" bIns="45700" anchor="t" anchorCtr="0">
            <a:normAutofit/>
          </a:bodyPr>
          <a:lstStyle>
            <a:lvl1pPr marR="0" lvl="0" algn="r" rtl="0">
              <a:spcBef>
                <a:spcPts val="0"/>
              </a:spcBef>
              <a:spcAft>
                <a:spcPts val="0"/>
              </a:spcAft>
              <a:buSzPts val="1400"/>
              <a:buNone/>
              <a:defRPr sz="2800" b="1" i="0" u="none" strike="noStrike" cap="none">
                <a:solidFill>
                  <a:srgbClr val="085160"/>
                </a:solidFill>
                <a:latin typeface="Century Gothic"/>
                <a:ea typeface="Century Gothic"/>
                <a:cs typeface="Century Gothic"/>
                <a:sym typeface="Century Gothic"/>
              </a:defRPr>
            </a:lvl1pPr>
            <a:lvl2pPr marR="0" lvl="1" algn="l" rtl="0">
              <a:spcBef>
                <a:spcPts val="0"/>
              </a:spcBef>
              <a:spcAft>
                <a:spcPts val="0"/>
              </a:spcAft>
              <a:buSzPts val="1400"/>
              <a:buNone/>
              <a:defRPr sz="3200" b="1" i="0" u="none" strike="noStrike" cap="none">
                <a:solidFill>
                  <a:srgbClr val="08516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08516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08516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08516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08516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08516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08516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085160"/>
                </a:solidFill>
                <a:latin typeface="Arial"/>
                <a:ea typeface="Arial"/>
                <a:cs typeface="Arial"/>
                <a:sym typeface="Arial"/>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Vide" type="blank">
  <p:cSld name="BLANK">
    <p:spTree>
      <p:nvGrpSpPr>
        <p:cNvPr id="1" name="Shape 31"/>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1_Diapositive de titre" type="title">
  <p:cSld name="TITLE">
    <p:spTree>
      <p:nvGrpSpPr>
        <p:cNvPr id="1" name="Shape 32"/>
        <p:cNvGrpSpPr/>
        <p:nvPr/>
      </p:nvGrpSpPr>
      <p:grpSpPr>
        <a:xfrm>
          <a:off x="0" y="0"/>
          <a:ext cx="0" cy="0"/>
          <a:chOff x="0" y="0"/>
          <a:chExt cx="0" cy="0"/>
        </a:xfrm>
      </p:grpSpPr>
      <p:sp>
        <p:nvSpPr>
          <p:cNvPr id="33" name="Google Shape;33;p172"/>
          <p:cNvSpPr txBox="1">
            <a:spLocks noGrp="1"/>
          </p:cNvSpPr>
          <p:nvPr>
            <p:ph type="ctrTitle"/>
          </p:nvPr>
        </p:nvSpPr>
        <p:spPr>
          <a:xfrm>
            <a:off x="914400" y="2130426"/>
            <a:ext cx="10363200" cy="14700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3200" b="1" i="0" u="none" strike="noStrike" cap="none">
                <a:solidFill>
                  <a:srgbClr val="085160"/>
                </a:solidFill>
                <a:latin typeface="Century Gothic"/>
                <a:ea typeface="Century Gothic"/>
                <a:cs typeface="Century Gothic"/>
                <a:sym typeface="Century Gothic"/>
              </a:defRPr>
            </a:lvl1pPr>
            <a:lvl2pPr marR="0" lvl="1" algn="l" rtl="0">
              <a:spcBef>
                <a:spcPts val="0"/>
              </a:spcBef>
              <a:spcAft>
                <a:spcPts val="0"/>
              </a:spcAft>
              <a:buSzPts val="1400"/>
              <a:buNone/>
              <a:defRPr sz="3200" b="1" i="0" u="none" strike="noStrike" cap="none">
                <a:solidFill>
                  <a:srgbClr val="08516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08516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08516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08516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08516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08516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08516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085160"/>
                </a:solidFill>
                <a:latin typeface="Arial"/>
                <a:ea typeface="Arial"/>
                <a:cs typeface="Arial"/>
                <a:sym typeface="Arial"/>
              </a:defRPr>
            </a:lvl9pPr>
          </a:lstStyle>
          <a:p>
            <a:endParaRPr/>
          </a:p>
        </p:txBody>
      </p:sp>
      <p:sp>
        <p:nvSpPr>
          <p:cNvPr id="34" name="Google Shape;34;p172"/>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Autofit/>
          </a:bodyPr>
          <a:lstStyle>
            <a:lvl1pPr marR="0" lvl="0" algn="ctr" rtl="0">
              <a:spcBef>
                <a:spcPts val="480"/>
              </a:spcBef>
              <a:spcAft>
                <a:spcPts val="0"/>
              </a:spcAft>
              <a:buClr>
                <a:srgbClr val="F79124"/>
              </a:buClr>
              <a:buSzPts val="2400"/>
              <a:buFont typeface="Arial"/>
              <a:buNone/>
              <a:defRPr sz="2400" b="1" i="0" u="none" strike="noStrike" cap="none">
                <a:solidFill>
                  <a:srgbClr val="085160"/>
                </a:solidFill>
                <a:latin typeface="Century Gothic"/>
                <a:ea typeface="Century Gothic"/>
                <a:cs typeface="Century Gothic"/>
                <a:sym typeface="Century Gothic"/>
              </a:defRPr>
            </a:lvl1pPr>
            <a:lvl2pPr marR="0" lvl="1" algn="ctr" rtl="0">
              <a:spcBef>
                <a:spcPts val="400"/>
              </a:spcBef>
              <a:spcAft>
                <a:spcPts val="0"/>
              </a:spcAft>
              <a:buClr>
                <a:schemeClr val="dk1"/>
              </a:buClr>
              <a:buSzPts val="2000"/>
              <a:buFont typeface="Arial"/>
              <a:buNone/>
              <a:defRPr sz="2000" b="0" i="0" u="none" strike="noStrike" cap="none">
                <a:solidFill>
                  <a:schemeClr val="dk1"/>
                </a:solidFill>
                <a:latin typeface="Century Gothic"/>
                <a:ea typeface="Century Gothic"/>
                <a:cs typeface="Century Gothic"/>
                <a:sym typeface="Century Gothic"/>
              </a:defRPr>
            </a:lvl2pPr>
            <a:lvl3pPr marR="0" lvl="2" algn="ctr" rtl="0">
              <a:spcBef>
                <a:spcPts val="400"/>
              </a:spcBef>
              <a:spcAft>
                <a:spcPts val="0"/>
              </a:spcAft>
              <a:buClr>
                <a:schemeClr val="dk1"/>
              </a:buClr>
              <a:buSzPts val="2000"/>
              <a:buFont typeface="Arial"/>
              <a:buNone/>
              <a:defRPr sz="2000" b="0" i="0" u="none" strike="noStrike" cap="none">
                <a:solidFill>
                  <a:schemeClr val="dk1"/>
                </a:solidFill>
                <a:latin typeface="Century Gothic"/>
                <a:ea typeface="Century Gothic"/>
                <a:cs typeface="Century Gothic"/>
                <a:sym typeface="Century Gothic"/>
              </a:defRPr>
            </a:lvl3pPr>
            <a:lvl4pPr marR="0" lvl="3" algn="ctr" rtl="0">
              <a:spcBef>
                <a:spcPts val="360"/>
              </a:spcBef>
              <a:spcAft>
                <a:spcPts val="0"/>
              </a:spcAft>
              <a:buClr>
                <a:schemeClr val="dk1"/>
              </a:buClr>
              <a:buSzPts val="1800"/>
              <a:buFont typeface="Arial"/>
              <a:buNone/>
              <a:defRPr sz="1800" b="0" i="0" u="none" strike="noStrike" cap="none">
                <a:solidFill>
                  <a:schemeClr val="dk1"/>
                </a:solidFill>
                <a:latin typeface="Century Gothic"/>
                <a:ea typeface="Century Gothic"/>
                <a:cs typeface="Century Gothic"/>
                <a:sym typeface="Century Gothic"/>
              </a:defRPr>
            </a:lvl4pPr>
            <a:lvl5pPr marR="0" lvl="4" algn="ctr" rtl="0">
              <a:spcBef>
                <a:spcPts val="320"/>
              </a:spcBef>
              <a:spcAft>
                <a:spcPts val="0"/>
              </a:spcAft>
              <a:buClr>
                <a:schemeClr val="dk1"/>
              </a:buClr>
              <a:buSzPts val="1600"/>
              <a:buFont typeface="Arial"/>
              <a:buNone/>
              <a:defRPr sz="1600" b="0" i="0" u="none" strike="noStrike" cap="none">
                <a:solidFill>
                  <a:schemeClr val="dk1"/>
                </a:solidFill>
                <a:latin typeface="Century Gothic"/>
                <a:ea typeface="Century Gothic"/>
                <a:cs typeface="Century Gothic"/>
                <a:sym typeface="Century Gothic"/>
              </a:defRPr>
            </a:lvl5pPr>
            <a:lvl6pPr marR="0" lvl="5" algn="ctr"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ctr"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ctr"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ctr"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35" name="Google Shape;35;p172"/>
          <p:cNvSpPr txBox="1">
            <a:spLocks noGrp="1"/>
          </p:cNvSpPr>
          <p:nvPr>
            <p:ph type="dt" idx="10"/>
          </p:nvPr>
        </p:nvSpPr>
        <p:spPr>
          <a:xfrm>
            <a:off x="239184" y="6597650"/>
            <a:ext cx="1439333" cy="2603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6" name="Google Shape;36;p172"/>
          <p:cNvSpPr txBox="1">
            <a:spLocks noGrp="1"/>
          </p:cNvSpPr>
          <p:nvPr>
            <p:ph type="ftr" idx="11"/>
          </p:nvPr>
        </p:nvSpPr>
        <p:spPr>
          <a:xfrm>
            <a:off x="1871133" y="6453188"/>
            <a:ext cx="8544984" cy="40481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7" name="Google Shape;37;p172"/>
          <p:cNvSpPr txBox="1">
            <a:spLocks noGrp="1"/>
          </p:cNvSpPr>
          <p:nvPr>
            <p:ph type="sldNum" idx="12"/>
          </p:nvPr>
        </p:nvSpPr>
        <p:spPr>
          <a:xfrm>
            <a:off x="11321727" y="6654869"/>
            <a:ext cx="864096" cy="203132"/>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100" b="1">
                <a:solidFill>
                  <a:schemeClr val="lt1"/>
                </a:solidFill>
                <a:latin typeface="Arial"/>
                <a:ea typeface="Arial"/>
                <a:cs typeface="Arial"/>
                <a:sym typeface="Arial"/>
              </a:defRPr>
            </a:lvl1pPr>
            <a:lvl2pPr marL="0" marR="0" lvl="1" indent="0" algn="r">
              <a:spcBef>
                <a:spcPts val="0"/>
              </a:spcBef>
              <a:spcAft>
                <a:spcPts val="0"/>
              </a:spcAft>
              <a:buNone/>
              <a:defRPr sz="1100" b="1">
                <a:solidFill>
                  <a:schemeClr val="lt1"/>
                </a:solidFill>
                <a:latin typeface="Arial"/>
                <a:ea typeface="Arial"/>
                <a:cs typeface="Arial"/>
                <a:sym typeface="Arial"/>
              </a:defRPr>
            </a:lvl2pPr>
            <a:lvl3pPr marL="0" marR="0" lvl="2" indent="0" algn="r">
              <a:spcBef>
                <a:spcPts val="0"/>
              </a:spcBef>
              <a:spcAft>
                <a:spcPts val="0"/>
              </a:spcAft>
              <a:buNone/>
              <a:defRPr sz="1100" b="1">
                <a:solidFill>
                  <a:schemeClr val="lt1"/>
                </a:solidFill>
                <a:latin typeface="Arial"/>
                <a:ea typeface="Arial"/>
                <a:cs typeface="Arial"/>
                <a:sym typeface="Arial"/>
              </a:defRPr>
            </a:lvl3pPr>
            <a:lvl4pPr marL="0" marR="0" lvl="3" indent="0" algn="r">
              <a:spcBef>
                <a:spcPts val="0"/>
              </a:spcBef>
              <a:spcAft>
                <a:spcPts val="0"/>
              </a:spcAft>
              <a:buNone/>
              <a:defRPr sz="1100" b="1">
                <a:solidFill>
                  <a:schemeClr val="lt1"/>
                </a:solidFill>
                <a:latin typeface="Arial"/>
                <a:ea typeface="Arial"/>
                <a:cs typeface="Arial"/>
                <a:sym typeface="Arial"/>
              </a:defRPr>
            </a:lvl4pPr>
            <a:lvl5pPr marL="0" marR="0" lvl="4" indent="0" algn="r">
              <a:spcBef>
                <a:spcPts val="0"/>
              </a:spcBef>
              <a:spcAft>
                <a:spcPts val="0"/>
              </a:spcAft>
              <a:buNone/>
              <a:defRPr sz="1100" b="1">
                <a:solidFill>
                  <a:schemeClr val="lt1"/>
                </a:solidFill>
                <a:latin typeface="Arial"/>
                <a:ea typeface="Arial"/>
                <a:cs typeface="Arial"/>
                <a:sym typeface="Arial"/>
              </a:defRPr>
            </a:lvl5pPr>
            <a:lvl6pPr marL="0" marR="0" lvl="5" indent="0" algn="r">
              <a:spcBef>
                <a:spcPts val="0"/>
              </a:spcBef>
              <a:spcAft>
                <a:spcPts val="0"/>
              </a:spcAft>
              <a:buNone/>
              <a:defRPr sz="1100" b="1">
                <a:solidFill>
                  <a:schemeClr val="lt1"/>
                </a:solidFill>
                <a:latin typeface="Arial"/>
                <a:ea typeface="Arial"/>
                <a:cs typeface="Arial"/>
                <a:sym typeface="Arial"/>
              </a:defRPr>
            </a:lvl6pPr>
            <a:lvl7pPr marL="0" marR="0" lvl="6" indent="0" algn="r">
              <a:spcBef>
                <a:spcPts val="0"/>
              </a:spcBef>
              <a:spcAft>
                <a:spcPts val="0"/>
              </a:spcAft>
              <a:buNone/>
              <a:defRPr sz="1100" b="1">
                <a:solidFill>
                  <a:schemeClr val="lt1"/>
                </a:solidFill>
                <a:latin typeface="Arial"/>
                <a:ea typeface="Arial"/>
                <a:cs typeface="Arial"/>
                <a:sym typeface="Arial"/>
              </a:defRPr>
            </a:lvl7pPr>
            <a:lvl8pPr marL="0" marR="0" lvl="7" indent="0" algn="r">
              <a:spcBef>
                <a:spcPts val="0"/>
              </a:spcBef>
              <a:spcAft>
                <a:spcPts val="0"/>
              </a:spcAft>
              <a:buNone/>
              <a:defRPr sz="1100" b="1">
                <a:solidFill>
                  <a:schemeClr val="lt1"/>
                </a:solidFill>
                <a:latin typeface="Arial"/>
                <a:ea typeface="Arial"/>
                <a:cs typeface="Arial"/>
                <a:sym typeface="Arial"/>
              </a:defRPr>
            </a:lvl8pPr>
            <a:lvl9pPr marL="0" marR="0" lvl="8" indent="0" algn="r">
              <a:spcBef>
                <a:spcPts val="0"/>
              </a:spcBef>
              <a:spcAft>
                <a:spcPts val="0"/>
              </a:spcAft>
              <a:buNone/>
              <a:defRPr sz="1100" b="1">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r>
              <a:rPr lang="fr-FR"/>
              <a:t>/46</a:t>
            </a:r>
            <a:endParaRPr/>
          </a:p>
        </p:txBody>
      </p:sp>
      <p:sp>
        <p:nvSpPr>
          <p:cNvPr id="38" name="Google Shape;38;p172"/>
          <p:cNvSpPr/>
          <p:nvPr/>
        </p:nvSpPr>
        <p:spPr>
          <a:xfrm>
            <a:off x="0" y="6453188"/>
            <a:ext cx="12192000" cy="404812"/>
          </a:xfrm>
          <a:prstGeom prst="rect">
            <a:avLst/>
          </a:prstGeom>
          <a:solidFill>
            <a:srgbClr val="F791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9"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23.xml"/><Relationship Id="rId7" Type="http://schemas.openxmlformats.org/officeDocument/2006/relationships/theme" Target="../theme/theme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rgbClr val="C01D4A"/>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2554357"/>
            <a:ext cx="2947482" cy="3170663"/>
          </a:xfrm>
          <a:prstGeom prst="rect">
            <a:avLst/>
          </a:prstGeom>
        </p:spPr>
        <p:txBody>
          <a:bodyPr vert="horz" lIns="91440" tIns="45720" rIns="91440" bIns="45720" rtlCol="0" anchor="ctr">
            <a:normAutofit/>
          </a:bodyPr>
          <a:lstStyle/>
          <a:p>
            <a:r>
              <a:rPr lang="fr-FR"/>
              <a:t>Modifiez le style du titre</a:t>
            </a:r>
            <a:endParaRPr lang="en-US"/>
          </a:p>
        </p:txBody>
      </p:sp>
      <p:sp>
        <p:nvSpPr>
          <p:cNvPr id="38" name="Rectangle 37"/>
          <p:cNvSpPr/>
          <p:nvPr/>
        </p:nvSpPr>
        <p:spPr>
          <a:xfrm>
            <a:off x="11815864" y="758952"/>
            <a:ext cx="384048" cy="5330952"/>
          </a:xfrm>
          <a:prstGeom prst="rect">
            <a:avLst/>
          </a:prstGeom>
          <a:solidFill>
            <a:srgbClr val="9C8CA8"/>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fr-FR"/>
              <a:t>Modifier les styles du texte du masque
Deuxième niveau
Troisième niveau
Quatrième niveau
Cinquième niveau</a:t>
            </a:r>
            <a:endParaRPr lang="en-US"/>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latin typeface="Arial" panose="020B0604020202020204" pitchFamily="34" charset="0"/>
                <a:cs typeface="Arial" panose="020B0604020202020204" pitchFamily="34" charset="0"/>
              </a:defRPr>
            </a:lvl1pPr>
          </a:lstStyle>
          <a:p>
            <a:endParaRPr lang="en-US"/>
          </a:p>
        </p:txBody>
      </p:sp>
      <p:pic>
        <p:nvPicPr>
          <p:cNvPr id="9" name="Image 8">
            <a:extLst>
              <a:ext uri="{FF2B5EF4-FFF2-40B4-BE49-F238E27FC236}">
                <a16:creationId xmlns:a16="http://schemas.microsoft.com/office/drawing/2014/main" id="{920A48A9-80F8-2440-9D12-B1AF370A63B0}"/>
              </a:ext>
            </a:extLst>
          </p:cNvPr>
          <p:cNvPicPr>
            <a:picLocks noChangeAspect="1"/>
          </p:cNvPicPr>
          <p:nvPr userDrawn="1"/>
        </p:nvPicPr>
        <p:blipFill>
          <a:blip r:embed="rId15" cstate="screen">
            <a:extLst>
              <a:ext uri="{28A0092B-C50C-407E-A947-70E740481C1C}">
                <a14:useLocalDpi xmlns:a14="http://schemas.microsoft.com/office/drawing/2010/main"/>
              </a:ext>
            </a:extLst>
          </a:blip>
          <a:stretch>
            <a:fillRect/>
          </a:stretch>
        </p:blipFill>
        <p:spPr>
          <a:xfrm>
            <a:off x="0" y="4428"/>
            <a:ext cx="1501442" cy="2991678"/>
          </a:xfrm>
          <a:prstGeom prst="rect">
            <a:avLst/>
          </a:prstGeom>
          <a:effectLst>
            <a:outerShdw blurRad="50800" dist="38100" algn="l" rotWithShape="0">
              <a:prstClr val="black">
                <a:alpha val="40000"/>
              </a:prstClr>
            </a:outerShdw>
          </a:effectLst>
        </p:spPr>
      </p:pic>
      <p:sp>
        <p:nvSpPr>
          <p:cNvPr id="4" name="Espace réservé du numéro de diapositive 3">
            <a:extLst>
              <a:ext uri="{FF2B5EF4-FFF2-40B4-BE49-F238E27FC236}">
                <a16:creationId xmlns:a16="http://schemas.microsoft.com/office/drawing/2014/main" id="{446C5D48-2414-40C8-ACD1-D4E2F25BC20A}"/>
              </a:ext>
            </a:extLst>
          </p:cNvPr>
          <p:cNvSpPr>
            <a:spLocks noGrp="1"/>
          </p:cNvSpPr>
          <p:nvPr>
            <p:ph type="sldNum" sz="quarter" idx="4"/>
          </p:nvPr>
        </p:nvSpPr>
        <p:spPr>
          <a:xfrm>
            <a:off x="312187" y="6262565"/>
            <a:ext cx="46306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61AC1C-37A3-4202-973C-6E4509C893D3}" type="slidenum">
              <a:rPr lang="fr-FR" smtClean="0"/>
              <a:t>‹N°›</a:t>
            </a:fld>
            <a:endParaRPr lang="fr-FR" dirty="0"/>
          </a:p>
        </p:txBody>
      </p:sp>
    </p:spTree>
    <p:extLst>
      <p:ext uri="{BB962C8B-B14F-4D97-AF65-F5344CB8AC3E}">
        <p14:creationId xmlns:p14="http://schemas.microsoft.com/office/powerpoint/2010/main" val="4180404926"/>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 id="2147483859" r:id="rId6"/>
    <p:sldLayoutId id="2147483860" r:id="rId7"/>
    <p:sldLayoutId id="2147483861" r:id="rId8"/>
    <p:sldLayoutId id="2147483862" r:id="rId9"/>
    <p:sldLayoutId id="2147483863" r:id="rId10"/>
    <p:sldLayoutId id="2147483864" r:id="rId11"/>
    <p:sldLayoutId id="2147483865" r:id="rId12"/>
    <p:sldLayoutId id="2147483874" r:id="rId13"/>
  </p:sldLayoutIdLst>
  <p:hf hdr="0" ftr="0" dt="0"/>
  <p:txStyles>
    <p:titleStyle>
      <a:lvl1pPr algn="l" defTabSz="914400" rtl="0" eaLnBrk="1" latinLnBrk="0" hangingPunct="1">
        <a:lnSpc>
          <a:spcPct val="90000"/>
        </a:lnSpc>
        <a:spcBef>
          <a:spcPct val="0"/>
        </a:spcBef>
        <a:buNone/>
        <a:defRPr sz="3600" b="0" i="0" kern="1200" spc="-60" baseline="0">
          <a:solidFill>
            <a:srgbClr val="FFFFFF"/>
          </a:solidFill>
          <a:latin typeface="Helvetica Light" panose="020B0403020202020204" pitchFamily="34" charset="0"/>
          <a:ea typeface="+mj-ea"/>
          <a:cs typeface="+mj-cs"/>
        </a:defRPr>
      </a:lvl1pPr>
    </p:titleStyle>
    <p:bodyStyle>
      <a:lvl1pPr marL="182880" indent="-182880" algn="l" defTabSz="914400" rtl="0" eaLnBrk="1" latinLnBrk="0" hangingPunct="1">
        <a:lnSpc>
          <a:spcPct val="90000"/>
        </a:lnSpc>
        <a:spcBef>
          <a:spcPts val="1200"/>
        </a:spcBef>
        <a:buClr>
          <a:srgbClr val="C01D4A"/>
        </a:buClr>
        <a:buSzPct val="150000"/>
        <a:buFont typeface="Wingdings 2" pitchFamily="18" charset="2"/>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5"/>
        <p:cNvGrpSpPr/>
        <p:nvPr/>
      </p:nvGrpSpPr>
      <p:grpSpPr>
        <a:xfrm>
          <a:off x="0" y="0"/>
          <a:ext cx="0" cy="0"/>
          <a:chOff x="0" y="0"/>
          <a:chExt cx="0" cy="0"/>
        </a:xfrm>
      </p:grpSpPr>
      <p:pic>
        <p:nvPicPr>
          <p:cNvPr id="76" name="Google Shape;76;gec8223986c_1_1048" descr="1-Logo AC.png"/>
          <p:cNvPicPr preferRelativeResize="0"/>
          <p:nvPr/>
        </p:nvPicPr>
        <p:blipFill rotWithShape="1">
          <a:blip r:embed="rId9">
            <a:alphaModFix/>
          </a:blip>
          <a:srcRect/>
          <a:stretch/>
        </p:blipFill>
        <p:spPr>
          <a:xfrm>
            <a:off x="187111" y="230973"/>
            <a:ext cx="1656183" cy="553263"/>
          </a:xfrm>
          <a:prstGeom prst="rect">
            <a:avLst/>
          </a:prstGeom>
          <a:noFill/>
          <a:ln>
            <a:noFill/>
          </a:ln>
        </p:spPr>
      </p:pic>
      <p:sp>
        <p:nvSpPr>
          <p:cNvPr id="77" name="Google Shape;77;gec8223986c_1_1048"/>
          <p:cNvSpPr txBox="1"/>
          <p:nvPr/>
        </p:nvSpPr>
        <p:spPr>
          <a:xfrm>
            <a:off x="0" y="6654869"/>
            <a:ext cx="12192000" cy="234900"/>
          </a:xfrm>
          <a:prstGeom prst="rect">
            <a:avLst/>
          </a:prstGeom>
          <a:solidFill>
            <a:srgbClr val="F6AB38"/>
          </a:solidFill>
          <a:ln>
            <a:noFill/>
          </a:ln>
        </p:spPr>
        <p:txBody>
          <a:bodyPr spcFirstLastPara="1" wrap="square" lIns="0" tIns="0" rIns="0" bIns="0" anchor="ctr" anchorCtr="0">
            <a:normAutofit fontScale="85000" lnSpcReduction="20000"/>
          </a:bodyPr>
          <a:lstStyle/>
          <a:p>
            <a:pPr marL="0" marR="0" lvl="0" indent="0" algn="ctr" rtl="0">
              <a:lnSpc>
                <a:spcPct val="90000"/>
              </a:lnSpc>
              <a:spcBef>
                <a:spcPts val="0"/>
              </a:spcBef>
              <a:spcAft>
                <a:spcPts val="0"/>
              </a:spcAft>
              <a:buClr>
                <a:srgbClr val="1B687F"/>
              </a:buClr>
              <a:buSzPct val="100000"/>
              <a:buFont typeface="Arial"/>
              <a:buNone/>
            </a:pPr>
            <a:endParaRPr sz="2400" b="1" i="0" u="none" strike="noStrike" cap="none">
              <a:solidFill>
                <a:schemeClr val="lt1"/>
              </a:solidFill>
              <a:latin typeface="Century Gothic"/>
              <a:ea typeface="Century Gothic"/>
              <a:cs typeface="Century Gothic"/>
              <a:sym typeface="Century Gothic"/>
            </a:endParaRPr>
          </a:p>
        </p:txBody>
      </p:sp>
      <p:sp>
        <p:nvSpPr>
          <p:cNvPr id="78" name="Google Shape;78;gec8223986c_1_1048"/>
          <p:cNvSpPr txBox="1">
            <a:spLocks noGrp="1"/>
          </p:cNvSpPr>
          <p:nvPr>
            <p:ph type="sldNum" idx="12"/>
          </p:nvPr>
        </p:nvSpPr>
        <p:spPr>
          <a:xfrm>
            <a:off x="11321727" y="6654869"/>
            <a:ext cx="864000" cy="20310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100" b="1" i="0" u="none" strike="noStrike" cap="none">
                <a:solidFill>
                  <a:schemeClr val="lt1"/>
                </a:solidFill>
                <a:latin typeface="Arial"/>
                <a:ea typeface="Arial"/>
                <a:cs typeface="Arial"/>
                <a:sym typeface="Arial"/>
              </a:defRPr>
            </a:lvl1pPr>
            <a:lvl2pPr marL="0" marR="0" lvl="1" indent="0" algn="r" rtl="0">
              <a:spcBef>
                <a:spcPts val="0"/>
              </a:spcBef>
              <a:spcAft>
                <a:spcPts val="0"/>
              </a:spcAft>
              <a:buNone/>
              <a:defRPr sz="1100" b="1" i="0" u="none" strike="noStrike" cap="none">
                <a:solidFill>
                  <a:schemeClr val="lt1"/>
                </a:solidFill>
                <a:latin typeface="Arial"/>
                <a:ea typeface="Arial"/>
                <a:cs typeface="Arial"/>
                <a:sym typeface="Arial"/>
              </a:defRPr>
            </a:lvl2pPr>
            <a:lvl3pPr marL="0" marR="0" lvl="2" indent="0" algn="r" rtl="0">
              <a:spcBef>
                <a:spcPts val="0"/>
              </a:spcBef>
              <a:spcAft>
                <a:spcPts val="0"/>
              </a:spcAft>
              <a:buNone/>
              <a:defRPr sz="1100" b="1" i="0" u="none" strike="noStrike" cap="none">
                <a:solidFill>
                  <a:schemeClr val="lt1"/>
                </a:solidFill>
                <a:latin typeface="Arial"/>
                <a:ea typeface="Arial"/>
                <a:cs typeface="Arial"/>
                <a:sym typeface="Arial"/>
              </a:defRPr>
            </a:lvl3pPr>
            <a:lvl4pPr marL="0" marR="0" lvl="3" indent="0" algn="r" rtl="0">
              <a:spcBef>
                <a:spcPts val="0"/>
              </a:spcBef>
              <a:spcAft>
                <a:spcPts val="0"/>
              </a:spcAft>
              <a:buNone/>
              <a:defRPr sz="1100" b="1" i="0" u="none" strike="noStrike" cap="none">
                <a:solidFill>
                  <a:schemeClr val="lt1"/>
                </a:solidFill>
                <a:latin typeface="Arial"/>
                <a:ea typeface="Arial"/>
                <a:cs typeface="Arial"/>
                <a:sym typeface="Arial"/>
              </a:defRPr>
            </a:lvl4pPr>
            <a:lvl5pPr marL="0" marR="0" lvl="4" indent="0" algn="r" rtl="0">
              <a:spcBef>
                <a:spcPts val="0"/>
              </a:spcBef>
              <a:spcAft>
                <a:spcPts val="0"/>
              </a:spcAft>
              <a:buNone/>
              <a:defRPr sz="1100" b="1" i="0" u="none" strike="noStrike" cap="none">
                <a:solidFill>
                  <a:schemeClr val="lt1"/>
                </a:solidFill>
                <a:latin typeface="Arial"/>
                <a:ea typeface="Arial"/>
                <a:cs typeface="Arial"/>
                <a:sym typeface="Arial"/>
              </a:defRPr>
            </a:lvl5pPr>
            <a:lvl6pPr marL="0" marR="0" lvl="5" indent="0" algn="r" rtl="0">
              <a:spcBef>
                <a:spcPts val="0"/>
              </a:spcBef>
              <a:spcAft>
                <a:spcPts val="0"/>
              </a:spcAft>
              <a:buNone/>
              <a:defRPr sz="1100" b="1" i="0" u="none" strike="noStrike" cap="none">
                <a:solidFill>
                  <a:schemeClr val="lt1"/>
                </a:solidFill>
                <a:latin typeface="Arial"/>
                <a:ea typeface="Arial"/>
                <a:cs typeface="Arial"/>
                <a:sym typeface="Arial"/>
              </a:defRPr>
            </a:lvl6pPr>
            <a:lvl7pPr marL="0" marR="0" lvl="6" indent="0" algn="r" rtl="0">
              <a:spcBef>
                <a:spcPts val="0"/>
              </a:spcBef>
              <a:spcAft>
                <a:spcPts val="0"/>
              </a:spcAft>
              <a:buNone/>
              <a:defRPr sz="1100" b="1" i="0" u="none" strike="noStrike" cap="none">
                <a:solidFill>
                  <a:schemeClr val="lt1"/>
                </a:solidFill>
                <a:latin typeface="Arial"/>
                <a:ea typeface="Arial"/>
                <a:cs typeface="Arial"/>
                <a:sym typeface="Arial"/>
              </a:defRPr>
            </a:lvl7pPr>
            <a:lvl8pPr marL="0" marR="0" lvl="7" indent="0" algn="r" rtl="0">
              <a:spcBef>
                <a:spcPts val="0"/>
              </a:spcBef>
              <a:spcAft>
                <a:spcPts val="0"/>
              </a:spcAft>
              <a:buNone/>
              <a:defRPr sz="1100" b="1" i="0" u="none" strike="noStrike" cap="none">
                <a:solidFill>
                  <a:schemeClr val="lt1"/>
                </a:solidFill>
                <a:latin typeface="Arial"/>
                <a:ea typeface="Arial"/>
                <a:cs typeface="Arial"/>
                <a:sym typeface="Arial"/>
              </a:defRPr>
            </a:lvl8pPr>
            <a:lvl9pPr marL="0" marR="0" lvl="8" indent="0" algn="r" rtl="0">
              <a:spcBef>
                <a:spcPts val="0"/>
              </a:spcBef>
              <a:spcAft>
                <a:spcPts val="0"/>
              </a:spcAft>
              <a:buNone/>
              <a:defRPr sz="1100" b="1"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extLst>
      <p:ext uri="{BB962C8B-B14F-4D97-AF65-F5344CB8AC3E}">
        <p14:creationId xmlns:p14="http://schemas.microsoft.com/office/powerpoint/2010/main" val="2669841132"/>
      </p:ext>
    </p:extLst>
  </p:cSld>
  <p:clrMap bg1="lt1" tx1="dk1" bg2="dk2" tx2="lt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 id="2147483872" r:id="rId6"/>
    <p:sldLayoutId id="2147483873"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65" descr="1-Logo AC.png"/>
          <p:cNvPicPr preferRelativeResize="0"/>
          <p:nvPr/>
        </p:nvPicPr>
        <p:blipFill rotWithShape="1">
          <a:blip r:embed="rId8">
            <a:alphaModFix/>
          </a:blip>
          <a:srcRect/>
          <a:stretch/>
        </p:blipFill>
        <p:spPr>
          <a:xfrm>
            <a:off x="187111" y="230973"/>
            <a:ext cx="1656183" cy="553263"/>
          </a:xfrm>
          <a:prstGeom prst="rect">
            <a:avLst/>
          </a:prstGeom>
          <a:noFill/>
          <a:ln>
            <a:noFill/>
          </a:ln>
        </p:spPr>
      </p:pic>
      <p:sp>
        <p:nvSpPr>
          <p:cNvPr id="11" name="Google Shape;11;p165"/>
          <p:cNvSpPr txBox="1"/>
          <p:nvPr/>
        </p:nvSpPr>
        <p:spPr>
          <a:xfrm>
            <a:off x="0" y="6654869"/>
            <a:ext cx="12192000" cy="234866"/>
          </a:xfrm>
          <a:prstGeom prst="rect">
            <a:avLst/>
          </a:prstGeom>
          <a:solidFill>
            <a:srgbClr val="F6AB38"/>
          </a:solidFill>
          <a:ln>
            <a:noFill/>
          </a:ln>
        </p:spPr>
        <p:txBody>
          <a:bodyPr spcFirstLastPara="1" wrap="square" lIns="0" tIns="0" rIns="0" bIns="0" anchor="ctr" anchorCtr="0">
            <a:normAutofit/>
          </a:bodyPr>
          <a:lstStyle/>
          <a:p>
            <a:pPr marL="0" marR="0" lvl="0" indent="0" algn="ctr" rtl="0">
              <a:lnSpc>
                <a:spcPct val="70000"/>
              </a:lnSpc>
              <a:spcBef>
                <a:spcPts val="0"/>
              </a:spcBef>
              <a:spcAft>
                <a:spcPts val="0"/>
              </a:spcAft>
              <a:buClr>
                <a:srgbClr val="1B687F"/>
              </a:buClr>
              <a:buSzPts val="2040"/>
              <a:buFont typeface="Arial"/>
              <a:buNone/>
            </a:pPr>
            <a:endParaRPr sz="2040" b="1" i="0" u="none" strike="noStrike" cap="none">
              <a:solidFill>
                <a:schemeClr val="lt1"/>
              </a:solidFill>
              <a:latin typeface="Century Gothic"/>
              <a:ea typeface="Century Gothic"/>
              <a:cs typeface="Century Gothic"/>
              <a:sym typeface="Century Gothic"/>
            </a:endParaRPr>
          </a:p>
        </p:txBody>
      </p:sp>
      <p:sp>
        <p:nvSpPr>
          <p:cNvPr id="12" name="Google Shape;12;p165"/>
          <p:cNvSpPr txBox="1">
            <a:spLocks noGrp="1"/>
          </p:cNvSpPr>
          <p:nvPr>
            <p:ph type="sldNum" idx="12"/>
          </p:nvPr>
        </p:nvSpPr>
        <p:spPr>
          <a:xfrm>
            <a:off x="11321727" y="6654869"/>
            <a:ext cx="864096" cy="203132"/>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100" b="1" i="0" u="none" strike="noStrike" cap="none">
                <a:solidFill>
                  <a:schemeClr val="lt1"/>
                </a:solidFill>
                <a:latin typeface="Arial"/>
                <a:ea typeface="Arial"/>
                <a:cs typeface="Arial"/>
                <a:sym typeface="Arial"/>
              </a:defRPr>
            </a:lvl1pPr>
            <a:lvl2pPr marL="0" marR="0" lvl="1" indent="0" algn="r" rtl="0">
              <a:spcBef>
                <a:spcPts val="0"/>
              </a:spcBef>
              <a:spcAft>
                <a:spcPts val="0"/>
              </a:spcAft>
              <a:buNone/>
              <a:defRPr sz="1100" b="1" i="0" u="none" strike="noStrike" cap="none">
                <a:solidFill>
                  <a:schemeClr val="lt1"/>
                </a:solidFill>
                <a:latin typeface="Arial"/>
                <a:ea typeface="Arial"/>
                <a:cs typeface="Arial"/>
                <a:sym typeface="Arial"/>
              </a:defRPr>
            </a:lvl2pPr>
            <a:lvl3pPr marL="0" marR="0" lvl="2" indent="0" algn="r" rtl="0">
              <a:spcBef>
                <a:spcPts val="0"/>
              </a:spcBef>
              <a:spcAft>
                <a:spcPts val="0"/>
              </a:spcAft>
              <a:buNone/>
              <a:defRPr sz="1100" b="1" i="0" u="none" strike="noStrike" cap="none">
                <a:solidFill>
                  <a:schemeClr val="lt1"/>
                </a:solidFill>
                <a:latin typeface="Arial"/>
                <a:ea typeface="Arial"/>
                <a:cs typeface="Arial"/>
                <a:sym typeface="Arial"/>
              </a:defRPr>
            </a:lvl3pPr>
            <a:lvl4pPr marL="0" marR="0" lvl="3" indent="0" algn="r" rtl="0">
              <a:spcBef>
                <a:spcPts val="0"/>
              </a:spcBef>
              <a:spcAft>
                <a:spcPts val="0"/>
              </a:spcAft>
              <a:buNone/>
              <a:defRPr sz="1100" b="1" i="0" u="none" strike="noStrike" cap="none">
                <a:solidFill>
                  <a:schemeClr val="lt1"/>
                </a:solidFill>
                <a:latin typeface="Arial"/>
                <a:ea typeface="Arial"/>
                <a:cs typeface="Arial"/>
                <a:sym typeface="Arial"/>
              </a:defRPr>
            </a:lvl4pPr>
            <a:lvl5pPr marL="0" marR="0" lvl="4" indent="0" algn="r" rtl="0">
              <a:spcBef>
                <a:spcPts val="0"/>
              </a:spcBef>
              <a:spcAft>
                <a:spcPts val="0"/>
              </a:spcAft>
              <a:buNone/>
              <a:defRPr sz="1100" b="1" i="0" u="none" strike="noStrike" cap="none">
                <a:solidFill>
                  <a:schemeClr val="lt1"/>
                </a:solidFill>
                <a:latin typeface="Arial"/>
                <a:ea typeface="Arial"/>
                <a:cs typeface="Arial"/>
                <a:sym typeface="Arial"/>
              </a:defRPr>
            </a:lvl5pPr>
            <a:lvl6pPr marL="0" marR="0" lvl="5" indent="0" algn="r" rtl="0">
              <a:spcBef>
                <a:spcPts val="0"/>
              </a:spcBef>
              <a:spcAft>
                <a:spcPts val="0"/>
              </a:spcAft>
              <a:buNone/>
              <a:defRPr sz="1100" b="1" i="0" u="none" strike="noStrike" cap="none">
                <a:solidFill>
                  <a:schemeClr val="lt1"/>
                </a:solidFill>
                <a:latin typeface="Arial"/>
                <a:ea typeface="Arial"/>
                <a:cs typeface="Arial"/>
                <a:sym typeface="Arial"/>
              </a:defRPr>
            </a:lvl6pPr>
            <a:lvl7pPr marL="0" marR="0" lvl="6" indent="0" algn="r" rtl="0">
              <a:spcBef>
                <a:spcPts val="0"/>
              </a:spcBef>
              <a:spcAft>
                <a:spcPts val="0"/>
              </a:spcAft>
              <a:buNone/>
              <a:defRPr sz="1100" b="1" i="0" u="none" strike="noStrike" cap="none">
                <a:solidFill>
                  <a:schemeClr val="lt1"/>
                </a:solidFill>
                <a:latin typeface="Arial"/>
                <a:ea typeface="Arial"/>
                <a:cs typeface="Arial"/>
                <a:sym typeface="Arial"/>
              </a:defRPr>
            </a:lvl7pPr>
            <a:lvl8pPr marL="0" marR="0" lvl="7" indent="0" algn="r" rtl="0">
              <a:spcBef>
                <a:spcPts val="0"/>
              </a:spcBef>
              <a:spcAft>
                <a:spcPts val="0"/>
              </a:spcAft>
              <a:buNone/>
              <a:defRPr sz="1100" b="1" i="0" u="none" strike="noStrike" cap="none">
                <a:solidFill>
                  <a:schemeClr val="lt1"/>
                </a:solidFill>
                <a:latin typeface="Arial"/>
                <a:ea typeface="Arial"/>
                <a:cs typeface="Arial"/>
                <a:sym typeface="Arial"/>
              </a:defRPr>
            </a:lvl8pPr>
            <a:lvl9pPr marL="0" marR="0" lvl="8" indent="0" algn="r" rtl="0">
              <a:spcBef>
                <a:spcPts val="0"/>
              </a:spcBef>
              <a:spcAft>
                <a:spcPts val="0"/>
              </a:spcAft>
              <a:buNone/>
              <a:defRPr sz="1100" b="1"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2.xml"/><Relationship Id="rId5" Type="http://schemas.openxmlformats.org/officeDocument/2006/relationships/image" Target="../media/image19.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chart" Target="../charts/chart1.xml"/><Relationship Id="rId7"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21.xml"/><Relationship Id="rId6" Type="http://schemas.openxmlformats.org/officeDocument/2006/relationships/image" Target="../media/image14.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1.xml"/><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26.jpg"/><Relationship Id="rId7" Type="http://schemas.openxmlformats.org/officeDocument/2006/relationships/image" Target="../media/image27.jpg"/><Relationship Id="rId2" Type="http://schemas.openxmlformats.org/officeDocument/2006/relationships/notesSlide" Target="../notesSlides/notesSlide7.xml"/><Relationship Id="rId1" Type="http://schemas.openxmlformats.org/officeDocument/2006/relationships/slideLayout" Target="../slideLayouts/slideLayout2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1.xml"/><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21.xml"/><Relationship Id="rId6" Type="http://schemas.openxmlformats.org/officeDocument/2006/relationships/image" Target="../media/image9.png"/><Relationship Id="rId5" Type="http://schemas.openxmlformats.org/officeDocument/2006/relationships/image" Target="../media/image29.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21.xml"/><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3.png"/><Relationship Id="rId7"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21.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19.png"/><Relationship Id="rId9" Type="http://schemas.openxmlformats.org/officeDocument/2006/relationships/image" Target="../media/image38.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2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44.png"/><Relationship Id="rId7"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22.xml"/><Relationship Id="rId6" Type="http://schemas.openxmlformats.org/officeDocument/2006/relationships/image" Target="../media/image19.png"/><Relationship Id="rId5" Type="http://schemas.openxmlformats.org/officeDocument/2006/relationships/image" Target="../media/image45.png"/><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21.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50.png"/><Relationship Id="rId2" Type="http://schemas.openxmlformats.org/officeDocument/2006/relationships/notesSlide" Target="../notesSlides/notesSlide16.xml"/><Relationship Id="rId1" Type="http://schemas.openxmlformats.org/officeDocument/2006/relationships/slideLayout" Target="../slideLayouts/slideLayout21.xml"/><Relationship Id="rId6" Type="http://schemas.openxmlformats.org/officeDocument/2006/relationships/image" Target="../media/image49.png"/><Relationship Id="rId5" Type="http://schemas.openxmlformats.org/officeDocument/2006/relationships/image" Target="../media/image44.png"/><Relationship Id="rId4" Type="http://schemas.openxmlformats.org/officeDocument/2006/relationships/image" Target="../media/image48.png"/></Relationships>
</file>

<file path=ppt/slides/_rels/slide1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7.xml"/><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8.xml"/><Relationship Id="rId1" Type="http://schemas.openxmlformats.org/officeDocument/2006/relationships/slideLayout" Target="../slideLayouts/slideLayout21.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9.xml"/><Relationship Id="rId1" Type="http://schemas.openxmlformats.org/officeDocument/2006/relationships/slideLayout" Target="../slideLayouts/slideLayout21.xml"/><Relationship Id="rId5" Type="http://schemas.openxmlformats.org/officeDocument/2006/relationships/image" Target="../media/image53.png"/><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12.png"/><Relationship Id="rId7" Type="http://schemas.openxmlformats.org/officeDocument/2006/relationships/image" Target="../media/image54.png"/><Relationship Id="rId2" Type="http://schemas.openxmlformats.org/officeDocument/2006/relationships/notesSlide" Target="../notesSlides/notesSlide20.xml"/><Relationship Id="rId1" Type="http://schemas.openxmlformats.org/officeDocument/2006/relationships/slideLayout" Target="../slideLayouts/slideLayout21.xml"/><Relationship Id="rId6" Type="http://schemas.openxmlformats.org/officeDocument/2006/relationships/image" Target="../media/image9.png"/><Relationship Id="rId5" Type="http://schemas.openxmlformats.org/officeDocument/2006/relationships/image" Target="../media/image43.png"/><Relationship Id="rId4" Type="http://schemas.openxmlformats.org/officeDocument/2006/relationships/hyperlink" Target="https://base-empreinte.ademe.fr/"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2.xml"/><Relationship Id="rId1" Type="http://schemas.openxmlformats.org/officeDocument/2006/relationships/slideLayout" Target="../slideLayouts/slideLayout21.xml"/><Relationship Id="rId4" Type="http://schemas.openxmlformats.org/officeDocument/2006/relationships/image" Target="../media/image57.png"/></Relationships>
</file>

<file path=ppt/slides/_rels/slide23.xml.rels><?xml version="1.0" encoding="UTF-8" standalone="yes"?>
<Relationships xmlns="http://schemas.openxmlformats.org/package/2006/relationships"><Relationship Id="rId3" Type="http://schemas.openxmlformats.org/officeDocument/2006/relationships/hyperlink" Target="https://base-empreinte.ademe.fr/" TargetMode="External"/><Relationship Id="rId2" Type="http://schemas.openxmlformats.org/officeDocument/2006/relationships/notesSlide" Target="../notesSlides/notesSlide23.xml"/><Relationship Id="rId1" Type="http://schemas.openxmlformats.org/officeDocument/2006/relationships/slideLayout" Target="../slideLayouts/slideLayout21.xml"/><Relationship Id="rId5" Type="http://schemas.openxmlformats.org/officeDocument/2006/relationships/image" Target="../media/image59.png"/><Relationship Id="rId4" Type="http://schemas.openxmlformats.org/officeDocument/2006/relationships/image" Target="../media/image58.png"/></Relationships>
</file>

<file path=ppt/slides/_rels/slide2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notesSlide" Target="../notesSlides/notesSlide24.xml"/><Relationship Id="rId1" Type="http://schemas.openxmlformats.org/officeDocument/2006/relationships/slideLayout" Target="../slideLayouts/slideLayout15.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 Id="rId9" Type="http://schemas.openxmlformats.org/officeDocument/2006/relationships/image" Target="../media/image67.png"/></Relationships>
</file>

<file path=ppt/slides/_rels/slide2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5.xml"/><Relationship Id="rId1" Type="http://schemas.openxmlformats.org/officeDocument/2006/relationships/slideLayout" Target="../slideLayouts/slideLayout15.xml"/><Relationship Id="rId5" Type="http://schemas.openxmlformats.org/officeDocument/2006/relationships/image" Target="../media/image70.png"/><Relationship Id="rId4" Type="http://schemas.openxmlformats.org/officeDocument/2006/relationships/image" Target="../media/image69.png"/></Relationships>
</file>

<file path=ppt/slides/_rels/slide2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6.xml"/><Relationship Id="rId1" Type="http://schemas.openxmlformats.org/officeDocument/2006/relationships/slideLayout" Target="../slideLayouts/slideLayout15.xml"/><Relationship Id="rId4" Type="http://schemas.openxmlformats.org/officeDocument/2006/relationships/image" Target="../media/image72.png"/></Relationships>
</file>

<file path=ppt/slides/_rels/slide2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7.xml"/><Relationship Id="rId1" Type="http://schemas.openxmlformats.org/officeDocument/2006/relationships/slideLayout" Target="../slideLayouts/slideLayout14.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8.xml"/><Relationship Id="rId1" Type="http://schemas.openxmlformats.org/officeDocument/2006/relationships/slideLayout" Target="../slideLayouts/slideLayout15.xml"/><Relationship Id="rId5" Type="http://schemas.openxmlformats.org/officeDocument/2006/relationships/image" Target="../media/image77.png"/><Relationship Id="rId4" Type="http://schemas.openxmlformats.org/officeDocument/2006/relationships/image" Target="../media/image73.png"/></Relationships>
</file>

<file path=ppt/slides/_rels/slide3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9.xml"/><Relationship Id="rId1" Type="http://schemas.openxmlformats.org/officeDocument/2006/relationships/slideLayout" Target="../slideLayouts/slideLayout15.xml"/><Relationship Id="rId5" Type="http://schemas.openxmlformats.org/officeDocument/2006/relationships/image" Target="../media/image77.png"/><Relationship Id="rId4" Type="http://schemas.openxmlformats.org/officeDocument/2006/relationships/image" Target="../media/image74.png"/></Relationships>
</file>

<file path=ppt/slides/_rels/slide3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0.xml"/><Relationship Id="rId1" Type="http://schemas.openxmlformats.org/officeDocument/2006/relationships/slideLayout" Target="../slideLayouts/slideLayout15.xml"/><Relationship Id="rId5" Type="http://schemas.openxmlformats.org/officeDocument/2006/relationships/image" Target="../media/image77.png"/><Relationship Id="rId4" Type="http://schemas.openxmlformats.org/officeDocument/2006/relationships/image" Target="../media/image75.png"/></Relationships>
</file>

<file path=ppt/slides/_rels/slide32.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8.png"/><Relationship Id="rId7" Type="http://schemas.openxmlformats.org/officeDocument/2006/relationships/image" Target="../media/image80.png"/><Relationship Id="rId2" Type="http://schemas.openxmlformats.org/officeDocument/2006/relationships/notesSlide" Target="../notesSlides/notesSlide31.xml"/><Relationship Id="rId1" Type="http://schemas.openxmlformats.org/officeDocument/2006/relationships/slideLayout" Target="../slideLayouts/slideLayout15.xml"/><Relationship Id="rId6" Type="http://schemas.openxmlformats.org/officeDocument/2006/relationships/image" Target="../media/image79.png"/><Relationship Id="rId5" Type="http://schemas.openxmlformats.org/officeDocument/2006/relationships/image" Target="../media/image77.png"/><Relationship Id="rId4" Type="http://schemas.openxmlformats.org/officeDocument/2006/relationships/chart" Target="../charts/char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notesSlide" Target="../notesSlides/notesSlide33.xml"/><Relationship Id="rId1" Type="http://schemas.openxmlformats.org/officeDocument/2006/relationships/slideLayout" Target="../slideLayouts/slideLayout15.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35.xml.rels><?xml version="1.0" encoding="UTF-8" standalone="yes"?>
<Relationships xmlns="http://schemas.openxmlformats.org/package/2006/relationships"><Relationship Id="rId3" Type="http://schemas.openxmlformats.org/officeDocument/2006/relationships/image" Target="../media/image82.png"/><Relationship Id="rId7" Type="http://schemas.openxmlformats.org/officeDocument/2006/relationships/image" Target="../media/image91.png"/><Relationship Id="rId2" Type="http://schemas.openxmlformats.org/officeDocument/2006/relationships/notesSlide" Target="../notesSlides/notesSlide34.xml"/><Relationship Id="rId1" Type="http://schemas.openxmlformats.org/officeDocument/2006/relationships/slideLayout" Target="../slideLayouts/slideLayout15.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1"/>
          <p:cNvSpPr txBox="1"/>
          <p:nvPr/>
        </p:nvSpPr>
        <p:spPr>
          <a:xfrm>
            <a:off x="2423592" y="1844824"/>
            <a:ext cx="7517851" cy="1416156"/>
          </a:xfrm>
          <a:prstGeom prst="rect">
            <a:avLst/>
          </a:prstGeom>
          <a:solidFill>
            <a:srgbClr val="F6AB38"/>
          </a:solidFill>
          <a:ln>
            <a:noFill/>
          </a:ln>
        </p:spPr>
        <p:txBody>
          <a:bodyPr spcFirstLastPara="1" wrap="square" lIns="0" tIns="0" rIns="0" bIns="0" anchor="ctr" anchorCtr="0">
            <a:normAutofit/>
          </a:bodyPr>
          <a:lstStyle/>
          <a:p>
            <a:pPr marL="0" marR="0" lvl="0" indent="0" algn="ctr" rtl="0">
              <a:lnSpc>
                <a:spcPct val="90000"/>
              </a:lnSpc>
              <a:spcBef>
                <a:spcPts val="0"/>
              </a:spcBef>
              <a:spcAft>
                <a:spcPts val="0"/>
              </a:spcAft>
              <a:buClr>
                <a:schemeClr val="lt1"/>
              </a:buClr>
              <a:buSzPts val="4000"/>
              <a:buFont typeface="Arial"/>
              <a:buNone/>
            </a:pPr>
            <a:r>
              <a:rPr lang="fr-FR" sz="4000" b="1" i="0" u="none" strike="noStrike" cap="none" dirty="0">
                <a:solidFill>
                  <a:schemeClr val="lt1"/>
                </a:solidFill>
                <a:latin typeface="Century Gothic"/>
                <a:ea typeface="Century Gothic"/>
                <a:cs typeface="Century Gothic"/>
                <a:sym typeface="Century Gothic"/>
              </a:rPr>
              <a:t>PROJET CARBONE CAMPUS</a:t>
            </a:r>
            <a:endParaRPr dirty="0"/>
          </a:p>
          <a:p>
            <a:pPr marL="0" marR="0" lvl="0" indent="0" algn="ctr" rtl="0">
              <a:lnSpc>
                <a:spcPct val="90000"/>
              </a:lnSpc>
              <a:spcBef>
                <a:spcPts val="1000"/>
              </a:spcBef>
              <a:spcAft>
                <a:spcPts val="0"/>
              </a:spcAft>
              <a:buClr>
                <a:schemeClr val="lt1"/>
              </a:buClr>
              <a:buSzPts val="2400"/>
              <a:buFont typeface="Arial"/>
              <a:buNone/>
            </a:pPr>
            <a:r>
              <a:rPr lang="fr-FR" sz="2400" b="1" i="0" u="none" strike="noStrike" cap="none" dirty="0">
                <a:solidFill>
                  <a:schemeClr val="lt1"/>
                </a:solidFill>
                <a:latin typeface="Century Gothic"/>
                <a:ea typeface="Century Gothic"/>
                <a:cs typeface="Century Gothic"/>
                <a:sym typeface="Century Gothic"/>
              </a:rPr>
              <a:t>APPRENDRE À COMPTER LE CO</a:t>
            </a:r>
            <a:r>
              <a:rPr lang="fr-FR" sz="2400" b="1" i="0" u="none" strike="noStrike" cap="none" baseline="-25000" dirty="0">
                <a:solidFill>
                  <a:schemeClr val="lt1"/>
                </a:solidFill>
                <a:latin typeface="Century Gothic"/>
                <a:ea typeface="Century Gothic"/>
                <a:cs typeface="Century Gothic"/>
                <a:sym typeface="Century Gothic"/>
              </a:rPr>
              <a:t>2</a:t>
            </a:r>
            <a:br>
              <a:rPr lang="fr-FR" sz="2400" b="1" baseline="-25000" dirty="0">
                <a:solidFill>
                  <a:schemeClr val="lt1"/>
                </a:solidFill>
                <a:latin typeface="Century Gothic"/>
                <a:ea typeface="Century Gothic"/>
                <a:cs typeface="Century Gothic"/>
                <a:sym typeface="Century Gothic"/>
              </a:rPr>
            </a:br>
            <a:r>
              <a:rPr lang="fr-FR" sz="2400" b="1" i="0" u="none" strike="noStrike" cap="none" dirty="0">
                <a:solidFill>
                  <a:schemeClr val="lt1"/>
                </a:solidFill>
                <a:latin typeface="Century Gothic"/>
                <a:ea typeface="Century Gothic"/>
                <a:cs typeface="Century Gothic"/>
                <a:sym typeface="Century Gothic"/>
              </a:rPr>
              <a:t>ET PASSER À L’ACTION</a:t>
            </a:r>
            <a:endParaRPr dirty="0"/>
          </a:p>
        </p:txBody>
      </p:sp>
      <p:sp>
        <p:nvSpPr>
          <p:cNvPr id="59" name="Google Shape;59;p1"/>
          <p:cNvSpPr txBox="1"/>
          <p:nvPr/>
        </p:nvSpPr>
        <p:spPr>
          <a:xfrm>
            <a:off x="0" y="6654869"/>
            <a:ext cx="12192000" cy="234866"/>
          </a:xfrm>
          <a:prstGeom prst="rect">
            <a:avLst/>
          </a:prstGeom>
          <a:solidFill>
            <a:srgbClr val="F6AB38"/>
          </a:solidFill>
          <a:ln>
            <a:noFill/>
          </a:ln>
        </p:spPr>
        <p:txBody>
          <a:bodyPr spcFirstLastPara="1" wrap="square" lIns="0" tIns="0" rIns="0" bIns="0" anchor="ctr" anchorCtr="0">
            <a:normAutofit/>
          </a:bodyPr>
          <a:lstStyle/>
          <a:p>
            <a:pPr marL="0" marR="0" lvl="0" indent="0" algn="ctr" rtl="0">
              <a:lnSpc>
                <a:spcPct val="70000"/>
              </a:lnSpc>
              <a:spcBef>
                <a:spcPts val="0"/>
              </a:spcBef>
              <a:spcAft>
                <a:spcPts val="0"/>
              </a:spcAft>
              <a:buClr>
                <a:srgbClr val="1B687F"/>
              </a:buClr>
              <a:buSzPts val="2040"/>
              <a:buFont typeface="Arial"/>
              <a:buNone/>
            </a:pPr>
            <a:endParaRPr sz="2040" b="1" i="0" u="none" strike="noStrike" cap="none">
              <a:solidFill>
                <a:schemeClr val="lt1"/>
              </a:solidFill>
              <a:latin typeface="Century Gothic"/>
              <a:ea typeface="Century Gothic"/>
              <a:cs typeface="Century Gothic"/>
              <a:sym typeface="Century Gothic"/>
            </a:endParaRPr>
          </a:p>
        </p:txBody>
      </p:sp>
      <p:grpSp>
        <p:nvGrpSpPr>
          <p:cNvPr id="60" name="Google Shape;60;p1"/>
          <p:cNvGrpSpPr/>
          <p:nvPr/>
        </p:nvGrpSpPr>
        <p:grpSpPr>
          <a:xfrm>
            <a:off x="9344065" y="3699071"/>
            <a:ext cx="1800000" cy="1802457"/>
            <a:chOff x="7291200" y="2359407"/>
            <a:chExt cx="1800000" cy="1802457"/>
          </a:xfrm>
        </p:grpSpPr>
        <p:sp>
          <p:nvSpPr>
            <p:cNvPr id="61" name="Google Shape;61;p1"/>
            <p:cNvSpPr/>
            <p:nvPr/>
          </p:nvSpPr>
          <p:spPr>
            <a:xfrm>
              <a:off x="7291200" y="2359407"/>
              <a:ext cx="1800000" cy="1800000"/>
            </a:xfrm>
            <a:prstGeom prst="ellipse">
              <a:avLst/>
            </a:prstGeom>
            <a:solidFill>
              <a:srgbClr val="0851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62" name="Google Shape;62;p1"/>
            <p:cNvPicPr preferRelativeResize="0"/>
            <p:nvPr/>
          </p:nvPicPr>
          <p:blipFill rotWithShape="1">
            <a:blip r:embed="rId3">
              <a:alphaModFix/>
            </a:blip>
            <a:srcRect/>
            <a:stretch/>
          </p:blipFill>
          <p:spPr>
            <a:xfrm>
              <a:off x="7357208" y="2418731"/>
              <a:ext cx="1667984" cy="1743133"/>
            </a:xfrm>
            <a:prstGeom prst="rect">
              <a:avLst/>
            </a:prstGeom>
            <a:noFill/>
            <a:ln>
              <a:noFill/>
            </a:ln>
          </p:spPr>
        </p:pic>
      </p:grpSp>
      <p:grpSp>
        <p:nvGrpSpPr>
          <p:cNvPr id="63" name="Google Shape;63;p1"/>
          <p:cNvGrpSpPr/>
          <p:nvPr/>
        </p:nvGrpSpPr>
        <p:grpSpPr>
          <a:xfrm>
            <a:off x="5064689" y="4489785"/>
            <a:ext cx="1800000" cy="1800000"/>
            <a:chOff x="4563565" y="3050600"/>
            <a:chExt cx="1800000" cy="1800000"/>
          </a:xfrm>
        </p:grpSpPr>
        <p:sp>
          <p:nvSpPr>
            <p:cNvPr id="64" name="Google Shape;64;p1"/>
            <p:cNvSpPr/>
            <p:nvPr/>
          </p:nvSpPr>
          <p:spPr>
            <a:xfrm>
              <a:off x="4563565" y="3050600"/>
              <a:ext cx="1800000" cy="1800000"/>
            </a:xfrm>
            <a:prstGeom prst="ellipse">
              <a:avLst/>
            </a:prstGeom>
            <a:solidFill>
              <a:srgbClr val="0851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65" name="Google Shape;65;p1"/>
            <p:cNvPicPr preferRelativeResize="0"/>
            <p:nvPr/>
          </p:nvPicPr>
          <p:blipFill rotWithShape="1">
            <a:blip r:embed="rId4">
              <a:alphaModFix/>
            </a:blip>
            <a:srcRect/>
            <a:stretch/>
          </p:blipFill>
          <p:spPr>
            <a:xfrm>
              <a:off x="4698781" y="3161115"/>
              <a:ext cx="1578969" cy="1578969"/>
            </a:xfrm>
            <a:prstGeom prst="rect">
              <a:avLst/>
            </a:prstGeom>
            <a:noFill/>
            <a:ln>
              <a:noFill/>
            </a:ln>
          </p:spPr>
        </p:pic>
      </p:grpSp>
      <p:grpSp>
        <p:nvGrpSpPr>
          <p:cNvPr id="66" name="Google Shape;66;p1"/>
          <p:cNvGrpSpPr/>
          <p:nvPr/>
        </p:nvGrpSpPr>
        <p:grpSpPr>
          <a:xfrm>
            <a:off x="1248815" y="3875707"/>
            <a:ext cx="1800000" cy="1800000"/>
            <a:chOff x="1248815" y="3875707"/>
            <a:chExt cx="1800000" cy="1800000"/>
          </a:xfrm>
        </p:grpSpPr>
        <p:sp>
          <p:nvSpPr>
            <p:cNvPr id="67" name="Google Shape;67;p1"/>
            <p:cNvSpPr/>
            <p:nvPr/>
          </p:nvSpPr>
          <p:spPr>
            <a:xfrm>
              <a:off x="1248815" y="3875707"/>
              <a:ext cx="1800000" cy="1800000"/>
            </a:xfrm>
            <a:prstGeom prst="ellipse">
              <a:avLst/>
            </a:prstGeom>
            <a:solidFill>
              <a:srgbClr val="0851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68" name="Google Shape;68;p1"/>
            <p:cNvPicPr preferRelativeResize="0"/>
            <p:nvPr/>
          </p:nvPicPr>
          <p:blipFill rotWithShape="1">
            <a:blip r:embed="rId5">
              <a:alphaModFix/>
            </a:blip>
            <a:srcRect/>
            <a:stretch/>
          </p:blipFill>
          <p:spPr>
            <a:xfrm>
              <a:off x="1266774" y="3970977"/>
              <a:ext cx="1698202" cy="1698202"/>
            </a:xfrm>
            <a:prstGeom prst="rect">
              <a:avLst/>
            </a:prstGeom>
            <a:noFill/>
            <a:ln>
              <a:noFill/>
            </a:ln>
          </p:spPr>
        </p:pic>
      </p:grpSp>
      <p:pic>
        <p:nvPicPr>
          <p:cNvPr id="69" name="Google Shape;69;p1"/>
          <p:cNvPicPr preferRelativeResize="0"/>
          <p:nvPr/>
        </p:nvPicPr>
        <p:blipFill rotWithShape="1">
          <a:blip r:embed="rId6">
            <a:alphaModFix/>
          </a:blip>
          <a:srcRect/>
          <a:stretch/>
        </p:blipFill>
        <p:spPr>
          <a:xfrm>
            <a:off x="0" y="5953016"/>
            <a:ext cx="1847850" cy="695325"/>
          </a:xfrm>
          <a:prstGeom prst="rect">
            <a:avLst/>
          </a:prstGeom>
          <a:noFill/>
          <a:ln>
            <a:noFill/>
          </a:ln>
        </p:spPr>
      </p:pic>
    </p:spTree>
    <p:extLst>
      <p:ext uri="{BB962C8B-B14F-4D97-AF65-F5344CB8AC3E}">
        <p14:creationId xmlns:p14="http://schemas.microsoft.com/office/powerpoint/2010/main" val="23704133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
          <p:cNvSpPr txBox="1">
            <a:spLocks noGrp="1"/>
          </p:cNvSpPr>
          <p:nvPr>
            <p:ph type="title"/>
          </p:nvPr>
        </p:nvSpPr>
        <p:spPr>
          <a:xfrm>
            <a:off x="2027548" y="0"/>
            <a:ext cx="8028892" cy="9807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fr-FR" dirty="0"/>
              <a:t>Les associations à ABC et Avenir Climatique</a:t>
            </a:r>
            <a:endParaRPr dirty="0"/>
          </a:p>
        </p:txBody>
      </p:sp>
      <p:sp>
        <p:nvSpPr>
          <p:cNvPr id="103" name="Google Shape;103;p3"/>
          <p:cNvSpPr txBox="1"/>
          <p:nvPr/>
        </p:nvSpPr>
        <p:spPr>
          <a:xfrm>
            <a:off x="595063" y="1016732"/>
            <a:ext cx="11276095" cy="206335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F79124"/>
              </a:buClr>
              <a:buSzPts val="2000"/>
              <a:buFont typeface="Arial"/>
              <a:buNone/>
            </a:pPr>
            <a:r>
              <a:rPr lang="fr-FR" sz="1600" b="1" i="0" u="none" strike="noStrike" cap="none" dirty="0">
                <a:solidFill>
                  <a:srgbClr val="F6AB38"/>
                </a:solidFill>
                <a:latin typeface="Century Gothic"/>
                <a:ea typeface="Century Gothic"/>
                <a:cs typeface="Century Gothic"/>
                <a:sym typeface="Century Gothic"/>
              </a:rPr>
              <a:t>L’Association Bilan Carbone </a:t>
            </a:r>
            <a:r>
              <a:rPr lang="fr-FR" sz="1600" b="1" i="0" u="none" strike="noStrike" cap="none" dirty="0">
                <a:solidFill>
                  <a:srgbClr val="085160"/>
                </a:solidFill>
                <a:latin typeface="Century Gothic"/>
                <a:ea typeface="Century Gothic"/>
                <a:cs typeface="Century Gothic"/>
                <a:sym typeface="Century Gothic"/>
              </a:rPr>
              <a:t>favorise la transition énergie-climat des organisations à l’échelle nationale et internationale. Ses missions sont  :</a:t>
            </a:r>
            <a:endParaRPr sz="1100" dirty="0"/>
          </a:p>
          <a:p>
            <a:pPr marL="342900" marR="0" lvl="0" indent="-190500" algn="l" rtl="0">
              <a:spcBef>
                <a:spcPts val="0"/>
              </a:spcBef>
              <a:spcAft>
                <a:spcPts val="0"/>
              </a:spcAft>
              <a:buClr>
                <a:srgbClr val="F79124"/>
              </a:buClr>
              <a:buSzPts val="2400"/>
              <a:buFont typeface="Arial"/>
              <a:buNone/>
            </a:pPr>
            <a:endParaRPr sz="1800" b="0" i="0" u="none" strike="noStrike" cap="none" dirty="0">
              <a:solidFill>
                <a:srgbClr val="085160"/>
              </a:solidFill>
              <a:latin typeface="Century Gothic"/>
              <a:ea typeface="Century Gothic"/>
              <a:cs typeface="Century Gothic"/>
              <a:sym typeface="Century Gothic"/>
            </a:endParaRPr>
          </a:p>
          <a:p>
            <a:pPr marL="342900" marR="0" lvl="0" indent="-342900" algn="l" rtl="0">
              <a:spcBef>
                <a:spcPts val="0"/>
              </a:spcBef>
              <a:spcAft>
                <a:spcPts val="0"/>
              </a:spcAft>
              <a:buClr>
                <a:srgbClr val="F79124"/>
              </a:buClr>
              <a:buSzPts val="2000"/>
              <a:buFont typeface="Arial" panose="020B0604020202020204" pitchFamily="34" charset="0"/>
              <a:buChar char="•"/>
            </a:pPr>
            <a:r>
              <a:rPr lang="fr-FR" sz="1600" dirty="0">
                <a:solidFill>
                  <a:srgbClr val="085160"/>
                </a:solidFill>
                <a:latin typeface="Century Gothic"/>
                <a:ea typeface="Century Gothic"/>
                <a:cs typeface="Century Gothic"/>
                <a:sym typeface="Century Gothic"/>
              </a:rPr>
              <a:t>Supporter la </a:t>
            </a:r>
            <a:r>
              <a:rPr lang="fr-FR" sz="1600" b="1" dirty="0">
                <a:solidFill>
                  <a:srgbClr val="F6AB38"/>
                </a:solidFill>
                <a:latin typeface="Century Gothic"/>
                <a:sym typeface="Century Gothic"/>
              </a:rPr>
              <a:t>méthodologie Bilan Carbone ® </a:t>
            </a:r>
            <a:r>
              <a:rPr lang="fr-FR" sz="1600" dirty="0">
                <a:solidFill>
                  <a:srgbClr val="085160"/>
                </a:solidFill>
                <a:latin typeface="Century Gothic"/>
                <a:sym typeface="Century Gothic"/>
              </a:rPr>
              <a:t>en France et à l’international</a:t>
            </a:r>
            <a:endParaRPr sz="1600" dirty="0">
              <a:solidFill>
                <a:srgbClr val="085160"/>
              </a:solidFill>
              <a:latin typeface="Century Gothic"/>
              <a:sym typeface="Century Gothic"/>
            </a:endParaRPr>
          </a:p>
          <a:p>
            <a:pPr marL="342900" marR="0" lvl="0" indent="-342900" algn="l" rtl="0">
              <a:spcBef>
                <a:spcPts val="0"/>
              </a:spcBef>
              <a:spcAft>
                <a:spcPts val="0"/>
              </a:spcAft>
              <a:buClr>
                <a:srgbClr val="F79124"/>
              </a:buClr>
              <a:buSzPts val="2000"/>
              <a:buFont typeface="Arial"/>
              <a:buChar char="•"/>
            </a:pPr>
            <a:r>
              <a:rPr lang="fr-FR" sz="1600" b="0" i="0" u="none" strike="noStrike" cap="none" dirty="0">
                <a:solidFill>
                  <a:srgbClr val="085160"/>
                </a:solidFill>
                <a:latin typeface="Century Gothic"/>
                <a:ea typeface="Century Gothic"/>
                <a:cs typeface="Century Gothic"/>
                <a:sym typeface="Century Gothic"/>
              </a:rPr>
              <a:t>Mettre à disposition des organisations les </a:t>
            </a:r>
            <a:r>
              <a:rPr lang="fr-FR" sz="1600" b="1" i="0" u="none" strike="noStrike" cap="none" dirty="0">
                <a:solidFill>
                  <a:srgbClr val="F6AB38"/>
                </a:solidFill>
                <a:latin typeface="Century Gothic"/>
                <a:ea typeface="Century Gothic"/>
                <a:cs typeface="Century Gothic"/>
                <a:sym typeface="Century Gothic"/>
              </a:rPr>
              <a:t>solutions</a:t>
            </a:r>
            <a:r>
              <a:rPr lang="fr-FR" sz="1600" b="0" i="0" u="none" strike="noStrike" cap="none" dirty="0">
                <a:solidFill>
                  <a:srgbClr val="F6AB38"/>
                </a:solidFill>
                <a:latin typeface="Century Gothic"/>
                <a:ea typeface="Century Gothic"/>
                <a:cs typeface="Century Gothic"/>
                <a:sym typeface="Century Gothic"/>
              </a:rPr>
              <a:t> </a:t>
            </a:r>
            <a:r>
              <a:rPr lang="fr-FR" sz="1600" b="0" i="0" u="none" strike="noStrike" cap="none" dirty="0">
                <a:solidFill>
                  <a:srgbClr val="085160"/>
                </a:solidFill>
                <a:latin typeface="Century Gothic"/>
                <a:ea typeface="Century Gothic"/>
                <a:cs typeface="Century Gothic"/>
                <a:sym typeface="Century Gothic"/>
              </a:rPr>
              <a:t>adéquates pour réussir leur transition énergie-climat</a:t>
            </a:r>
            <a:endParaRPr sz="1600" b="0" i="0" u="none" strike="noStrike" cap="none" dirty="0">
              <a:solidFill>
                <a:srgbClr val="085160"/>
              </a:solidFill>
              <a:latin typeface="Century Gothic"/>
              <a:ea typeface="Century Gothic"/>
              <a:cs typeface="Century Gothic"/>
              <a:sym typeface="Century Gothic"/>
            </a:endParaRPr>
          </a:p>
          <a:p>
            <a:pPr marL="342900" marR="0" lvl="0" indent="-342900" algn="l" rtl="0">
              <a:spcBef>
                <a:spcPts val="0"/>
              </a:spcBef>
              <a:spcAft>
                <a:spcPts val="0"/>
              </a:spcAft>
              <a:buClr>
                <a:srgbClr val="F79124"/>
              </a:buClr>
              <a:buSzPts val="2000"/>
              <a:buFont typeface="Arial"/>
              <a:buChar char="•"/>
            </a:pPr>
            <a:r>
              <a:rPr lang="fr-FR" sz="1600" b="0" i="0" u="none" strike="noStrike" cap="none" dirty="0">
                <a:solidFill>
                  <a:srgbClr val="085160"/>
                </a:solidFill>
                <a:latin typeface="Century Gothic"/>
                <a:ea typeface="Century Gothic"/>
                <a:cs typeface="Century Gothic"/>
                <a:sym typeface="Century Gothic"/>
              </a:rPr>
              <a:t>Donner accès à un maximum d’actualités et </a:t>
            </a:r>
            <a:r>
              <a:rPr lang="fr-FR" sz="1600" b="1" i="0" u="none" strike="noStrike" cap="none" dirty="0">
                <a:solidFill>
                  <a:srgbClr val="F6AB38"/>
                </a:solidFill>
                <a:latin typeface="Century Gothic"/>
                <a:ea typeface="Century Gothic"/>
                <a:cs typeface="Century Gothic"/>
                <a:sym typeface="Century Gothic"/>
              </a:rPr>
              <a:t>sensibiliser</a:t>
            </a:r>
            <a:r>
              <a:rPr lang="fr-FR" sz="1600" b="0" i="0" u="none" strike="noStrike" cap="none" dirty="0">
                <a:solidFill>
                  <a:srgbClr val="F6AB38"/>
                </a:solidFill>
                <a:latin typeface="Century Gothic"/>
                <a:ea typeface="Century Gothic"/>
                <a:cs typeface="Century Gothic"/>
                <a:sym typeface="Century Gothic"/>
              </a:rPr>
              <a:t> </a:t>
            </a:r>
            <a:r>
              <a:rPr lang="fr-FR" sz="1600" b="0" i="0" u="none" strike="noStrike" cap="none" dirty="0">
                <a:solidFill>
                  <a:srgbClr val="085160"/>
                </a:solidFill>
                <a:latin typeface="Century Gothic"/>
                <a:ea typeface="Century Gothic"/>
                <a:cs typeface="Century Gothic"/>
                <a:sym typeface="Century Gothic"/>
              </a:rPr>
              <a:t>sur les enjeux carbone</a:t>
            </a:r>
            <a:endParaRPr sz="1600" b="0" i="0" u="none" strike="noStrike" cap="none" dirty="0">
              <a:solidFill>
                <a:srgbClr val="085160"/>
              </a:solidFill>
              <a:latin typeface="Century Gothic"/>
              <a:ea typeface="Century Gothic"/>
              <a:cs typeface="Century Gothic"/>
              <a:sym typeface="Century Gothic"/>
            </a:endParaRPr>
          </a:p>
          <a:p>
            <a:pPr marL="342900" marR="0" lvl="0" indent="-342900" algn="l" rtl="0">
              <a:spcBef>
                <a:spcPts val="0"/>
              </a:spcBef>
              <a:spcAft>
                <a:spcPts val="0"/>
              </a:spcAft>
              <a:buClr>
                <a:srgbClr val="F79124"/>
              </a:buClr>
              <a:buSzPts val="2000"/>
              <a:buFont typeface="Arial"/>
              <a:buChar char="•"/>
            </a:pPr>
            <a:r>
              <a:rPr lang="fr-FR" sz="1600" b="0" i="0" u="none" strike="noStrike" cap="none" dirty="0">
                <a:solidFill>
                  <a:srgbClr val="085160"/>
                </a:solidFill>
                <a:latin typeface="Century Gothic"/>
                <a:ea typeface="Century Gothic"/>
                <a:cs typeface="Century Gothic"/>
                <a:sym typeface="Century Gothic"/>
              </a:rPr>
              <a:t>Agir au niveau </a:t>
            </a:r>
            <a:r>
              <a:rPr lang="fr-FR" sz="1600" b="1" i="0" u="none" strike="noStrike" cap="none" dirty="0">
                <a:solidFill>
                  <a:srgbClr val="F6AB38"/>
                </a:solidFill>
                <a:latin typeface="Century Gothic"/>
                <a:ea typeface="Century Gothic"/>
                <a:cs typeface="Century Gothic"/>
                <a:sym typeface="Century Gothic"/>
              </a:rPr>
              <a:t>international</a:t>
            </a:r>
            <a:endParaRPr sz="1600" b="1" i="1" u="none" strike="noStrike" cap="none" dirty="0">
              <a:solidFill>
                <a:srgbClr val="F6AB38"/>
              </a:solidFill>
              <a:latin typeface="Century Gothic"/>
              <a:ea typeface="Century Gothic"/>
              <a:cs typeface="Century Gothic"/>
              <a:sym typeface="Century Gothic"/>
            </a:endParaRPr>
          </a:p>
        </p:txBody>
      </p:sp>
      <p:sp>
        <p:nvSpPr>
          <p:cNvPr id="6" name="Google Shape;111;p4">
            <a:extLst>
              <a:ext uri="{FF2B5EF4-FFF2-40B4-BE49-F238E27FC236}">
                <a16:creationId xmlns:a16="http://schemas.microsoft.com/office/drawing/2014/main" id="{8FA152EC-02D2-464E-8311-E7BAB50D5E84}"/>
              </a:ext>
            </a:extLst>
          </p:cNvPr>
          <p:cNvSpPr txBox="1"/>
          <p:nvPr/>
        </p:nvSpPr>
        <p:spPr>
          <a:xfrm>
            <a:off x="595063" y="3480174"/>
            <a:ext cx="11276094" cy="1054100"/>
          </a:xfrm>
          <a:prstGeom prst="rect">
            <a:avLst/>
          </a:prstGeom>
          <a:noFill/>
          <a:ln>
            <a:noFill/>
          </a:ln>
        </p:spPr>
        <p:txBody>
          <a:bodyPr spcFirstLastPara="1" wrap="square" lIns="0" tIns="0" rIns="0" bIns="0" anchor="ctr" anchorCtr="0">
            <a:noAutofit/>
          </a:bodyPr>
          <a:lstStyle/>
          <a:p>
            <a:pPr marL="0" marR="0" lvl="0" indent="0" rtl="0">
              <a:spcBef>
                <a:spcPts val="0"/>
              </a:spcBef>
              <a:spcAft>
                <a:spcPts val="0"/>
              </a:spcAft>
              <a:buClr>
                <a:srgbClr val="085160"/>
              </a:buClr>
              <a:buSzPts val="900"/>
              <a:buFont typeface="Noto Sans Symbols"/>
              <a:buNone/>
            </a:pPr>
            <a:r>
              <a:rPr lang="fr-FR" sz="1600" b="1" i="0" u="none" strike="noStrike" cap="none" dirty="0">
                <a:solidFill>
                  <a:srgbClr val="085160"/>
                </a:solidFill>
                <a:latin typeface="Arial"/>
                <a:ea typeface="Arial"/>
                <a:cs typeface="Arial"/>
                <a:sym typeface="Arial"/>
              </a:rPr>
              <a:t>L’association </a:t>
            </a:r>
            <a:r>
              <a:rPr lang="fr-FR" sz="1600" b="1" i="0" u="none" strike="noStrike" cap="none" dirty="0">
                <a:solidFill>
                  <a:srgbClr val="F6AB38"/>
                </a:solidFill>
                <a:latin typeface="Arial"/>
                <a:ea typeface="Arial"/>
                <a:cs typeface="Arial"/>
                <a:sym typeface="Arial"/>
              </a:rPr>
              <a:t>Avenir Climatique : </a:t>
            </a:r>
            <a:r>
              <a:rPr lang="fr-FR" sz="1600" b="1" i="0" u="none" strike="noStrike" cap="none" dirty="0">
                <a:solidFill>
                  <a:srgbClr val="085160"/>
                </a:solidFill>
                <a:latin typeface="Arial"/>
                <a:ea typeface="Arial"/>
                <a:cs typeface="Arial"/>
                <a:sym typeface="Arial"/>
              </a:rPr>
              <a:t>Faire des enjeux énergie / climat une priorité nationale en sensibilisant et formant les </a:t>
            </a:r>
            <a:r>
              <a:rPr lang="fr-FR" sz="1600" b="1" i="0" u="none" strike="noStrike" cap="none" dirty="0" err="1">
                <a:solidFill>
                  <a:srgbClr val="085160"/>
                </a:solidFill>
                <a:latin typeface="Arial"/>
                <a:ea typeface="Arial"/>
                <a:cs typeface="Arial"/>
                <a:sym typeface="Arial"/>
              </a:rPr>
              <a:t>citoyen.ne.s</a:t>
            </a:r>
            <a:r>
              <a:rPr lang="fr-FR" sz="1600" b="1" i="0" u="none" strike="noStrike" cap="none" dirty="0">
                <a:solidFill>
                  <a:srgbClr val="085160"/>
                </a:solidFill>
                <a:latin typeface="Arial"/>
                <a:ea typeface="Arial"/>
                <a:cs typeface="Arial"/>
                <a:sym typeface="Arial"/>
              </a:rPr>
              <a:t> à ces thématiques.</a:t>
            </a:r>
            <a:endParaRPr sz="1100" dirty="0"/>
          </a:p>
          <a:p>
            <a:pPr marL="0" marR="0" lvl="0" indent="0" rtl="0">
              <a:spcBef>
                <a:spcPts val="0"/>
              </a:spcBef>
              <a:spcAft>
                <a:spcPts val="0"/>
              </a:spcAft>
              <a:buClr>
                <a:schemeClr val="lt1"/>
              </a:buClr>
              <a:buSzPts val="900"/>
              <a:buFont typeface="Noto Sans Symbols"/>
              <a:buNone/>
            </a:pPr>
            <a:endParaRPr sz="1600" b="1" i="0" u="none" strike="noStrike" cap="none" dirty="0">
              <a:solidFill>
                <a:srgbClr val="F6AB38"/>
              </a:solidFill>
              <a:latin typeface="Arial"/>
              <a:ea typeface="Arial"/>
              <a:cs typeface="Arial"/>
              <a:sym typeface="Arial"/>
            </a:endParaRPr>
          </a:p>
        </p:txBody>
      </p:sp>
      <p:sp>
        <p:nvSpPr>
          <p:cNvPr id="7" name="Google Shape;112;p4">
            <a:extLst>
              <a:ext uri="{FF2B5EF4-FFF2-40B4-BE49-F238E27FC236}">
                <a16:creationId xmlns:a16="http://schemas.microsoft.com/office/drawing/2014/main" id="{06CD1BB8-67AA-4471-93BC-A132170EDEB3}"/>
              </a:ext>
            </a:extLst>
          </p:cNvPr>
          <p:cNvSpPr txBox="1"/>
          <p:nvPr/>
        </p:nvSpPr>
        <p:spPr>
          <a:xfrm>
            <a:off x="595063" y="4484191"/>
            <a:ext cx="10844463" cy="1569620"/>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accent2"/>
              </a:buClr>
              <a:buSzPts val="2000"/>
              <a:buFont typeface="Arial" panose="020B0604020202020204" pitchFamily="34" charset="0"/>
              <a:buChar char="•"/>
            </a:pPr>
            <a:r>
              <a:rPr lang="fr-FR" sz="1600" b="1" i="0" u="none" strike="noStrike" cap="none" dirty="0">
                <a:solidFill>
                  <a:srgbClr val="085160"/>
                </a:solidFill>
                <a:latin typeface="Century Gothic"/>
                <a:ea typeface="Century Gothic"/>
                <a:cs typeface="Century Gothic"/>
                <a:sym typeface="Century Gothic"/>
              </a:rPr>
              <a:t>Formations aux enjeux énergie/climat et à la comptabilité carbone : </a:t>
            </a:r>
          </a:p>
          <a:p>
            <a:pPr lvl="8">
              <a:buClr>
                <a:schemeClr val="accent2"/>
              </a:buClr>
              <a:buSzPts val="2000"/>
            </a:pPr>
            <a:r>
              <a:rPr lang="fr-FR" sz="1600" b="1" dirty="0">
                <a:solidFill>
                  <a:srgbClr val="085160"/>
                </a:solidFill>
                <a:latin typeface="Century Gothic"/>
                <a:sym typeface="Century Gothic"/>
              </a:rPr>
              <a:t>	</a:t>
            </a:r>
            <a:r>
              <a:rPr lang="fr-FR" sz="1600" b="1" dirty="0">
                <a:solidFill>
                  <a:srgbClr val="085160"/>
                </a:solidFill>
                <a:latin typeface="Century Gothic"/>
                <a:sym typeface="Wingdings" panose="05000000000000000000" pitchFamily="2" charset="2"/>
              </a:rPr>
              <a:t></a:t>
            </a:r>
            <a:r>
              <a:rPr lang="fr-FR" sz="1600" b="1" dirty="0">
                <a:solidFill>
                  <a:srgbClr val="085160"/>
                </a:solidFill>
                <a:latin typeface="Century Gothic"/>
                <a:sym typeface="Century Gothic"/>
              </a:rPr>
              <a:t> Enseignement supérieur :	</a:t>
            </a:r>
            <a:r>
              <a:rPr lang="fr-FR" sz="1600" dirty="0">
                <a:solidFill>
                  <a:srgbClr val="085160"/>
                </a:solidFill>
                <a:latin typeface="Century Gothic"/>
                <a:sym typeface="Century Gothic"/>
              </a:rPr>
              <a:t>Carbone Campus</a:t>
            </a:r>
          </a:p>
          <a:p>
            <a:pPr lvl="8">
              <a:buClr>
                <a:schemeClr val="accent2"/>
              </a:buClr>
              <a:buSzPts val="2000"/>
            </a:pPr>
            <a:r>
              <a:rPr lang="fr-FR" sz="1600" b="1" dirty="0">
                <a:solidFill>
                  <a:srgbClr val="085160"/>
                </a:solidFill>
                <a:latin typeface="Century Gothic"/>
                <a:sym typeface="Century Gothic"/>
              </a:rPr>
              <a:t>	</a:t>
            </a:r>
            <a:r>
              <a:rPr lang="fr-FR" sz="1600" b="1" dirty="0">
                <a:solidFill>
                  <a:srgbClr val="085160"/>
                </a:solidFill>
                <a:latin typeface="Century Gothic"/>
                <a:sym typeface="Wingdings" panose="05000000000000000000" pitchFamily="2" charset="2"/>
              </a:rPr>
              <a:t></a:t>
            </a:r>
            <a:r>
              <a:rPr lang="fr-FR" sz="1600" b="1" dirty="0">
                <a:solidFill>
                  <a:srgbClr val="085160"/>
                </a:solidFill>
                <a:latin typeface="Century Gothic"/>
                <a:sym typeface="Century Gothic"/>
              </a:rPr>
              <a:t> Enseignement primaire et secondaire: </a:t>
            </a:r>
            <a:r>
              <a:rPr lang="fr-FR" sz="1600" dirty="0" err="1">
                <a:solidFill>
                  <a:srgbClr val="085160"/>
                </a:solidFill>
                <a:latin typeface="Century Gothic"/>
                <a:sym typeface="Century Gothic"/>
              </a:rPr>
              <a:t>Educlimat</a:t>
            </a:r>
            <a:r>
              <a:rPr lang="fr-FR" sz="1600" dirty="0">
                <a:solidFill>
                  <a:srgbClr val="085160"/>
                </a:solidFill>
                <a:latin typeface="Century Gothic"/>
                <a:sym typeface="Century Gothic"/>
              </a:rPr>
              <a:t>, Projet 											Etablissement bas carbone</a:t>
            </a:r>
          </a:p>
          <a:p>
            <a:pPr lvl="8">
              <a:buClr>
                <a:schemeClr val="accent2"/>
              </a:buClr>
              <a:buSzPts val="2000"/>
            </a:pPr>
            <a:r>
              <a:rPr lang="fr-FR" sz="1600" dirty="0">
                <a:solidFill>
                  <a:srgbClr val="085160"/>
                </a:solidFill>
                <a:latin typeface="Century Gothic"/>
                <a:sym typeface="Century Gothic"/>
              </a:rPr>
              <a:t>	</a:t>
            </a:r>
            <a:r>
              <a:rPr lang="fr-FR" sz="1600" b="1" dirty="0">
                <a:solidFill>
                  <a:srgbClr val="085160"/>
                </a:solidFill>
                <a:latin typeface="Century Gothic"/>
                <a:sym typeface="Wingdings" panose="05000000000000000000" pitchFamily="2" charset="2"/>
              </a:rPr>
              <a:t></a:t>
            </a:r>
            <a:r>
              <a:rPr lang="fr-FR" sz="1600" b="1" dirty="0">
                <a:solidFill>
                  <a:srgbClr val="085160"/>
                </a:solidFill>
                <a:latin typeface="Century Gothic"/>
                <a:sym typeface="Century Gothic"/>
              </a:rPr>
              <a:t> Pour tout le monde : </a:t>
            </a:r>
            <a:r>
              <a:rPr lang="fr-FR" sz="1600" dirty="0">
                <a:solidFill>
                  <a:srgbClr val="085160"/>
                </a:solidFill>
                <a:latin typeface="Century Gothic"/>
                <a:sym typeface="Century Gothic"/>
              </a:rPr>
              <a:t>l’</a:t>
            </a:r>
            <a:r>
              <a:rPr lang="fr-FR" sz="1600" dirty="0" err="1">
                <a:solidFill>
                  <a:srgbClr val="085160"/>
                </a:solidFill>
                <a:latin typeface="Century Gothic"/>
                <a:sym typeface="Century Gothic"/>
              </a:rPr>
              <a:t>ACademy</a:t>
            </a:r>
            <a:r>
              <a:rPr lang="fr-FR" sz="1600" dirty="0">
                <a:solidFill>
                  <a:srgbClr val="085160"/>
                </a:solidFill>
                <a:latin typeface="Century Gothic"/>
                <a:sym typeface="Century Gothic"/>
              </a:rPr>
              <a:t>, MOOC, …</a:t>
            </a:r>
            <a:endParaRPr sz="1600" b="1" dirty="0">
              <a:solidFill>
                <a:srgbClr val="085160"/>
              </a:solidFill>
              <a:latin typeface="Century Gothic"/>
            </a:endParaRPr>
          </a:p>
          <a:p>
            <a:pPr marL="342900" marR="0" lvl="0" indent="-342900" algn="l" rtl="0">
              <a:spcBef>
                <a:spcPts val="0"/>
              </a:spcBef>
              <a:spcAft>
                <a:spcPts val="0"/>
              </a:spcAft>
              <a:buClr>
                <a:schemeClr val="accent2"/>
              </a:buClr>
              <a:buSzPts val="2000"/>
              <a:buFont typeface="Arial" panose="020B0604020202020204" pitchFamily="34" charset="0"/>
              <a:buChar char="•"/>
            </a:pPr>
            <a:r>
              <a:rPr lang="fr-FR" sz="1600" b="1" i="0" u="none" strike="noStrike" cap="none" dirty="0">
                <a:solidFill>
                  <a:srgbClr val="085160"/>
                </a:solidFill>
                <a:latin typeface="Century Gothic"/>
                <a:ea typeface="Century Gothic"/>
                <a:cs typeface="Century Gothic"/>
                <a:sym typeface="Century Gothic"/>
              </a:rPr>
              <a:t>Évènements : </a:t>
            </a:r>
            <a:r>
              <a:rPr lang="fr-FR" sz="1600" dirty="0">
                <a:solidFill>
                  <a:srgbClr val="085160"/>
                </a:solidFill>
                <a:latin typeface="Century Gothic"/>
                <a:sym typeface="Century Gothic"/>
              </a:rPr>
              <a:t>Causeries, Université d’été Décontractée, Conférences…</a:t>
            </a:r>
          </a:p>
        </p:txBody>
      </p:sp>
      <p:cxnSp>
        <p:nvCxnSpPr>
          <p:cNvPr id="3" name="Connecteur droit 2">
            <a:extLst>
              <a:ext uri="{FF2B5EF4-FFF2-40B4-BE49-F238E27FC236}">
                <a16:creationId xmlns:a16="http://schemas.microsoft.com/office/drawing/2014/main" id="{803F5FA9-E822-464A-82C4-C24E35978EA8}"/>
              </a:ext>
            </a:extLst>
          </p:cNvPr>
          <p:cNvCxnSpPr/>
          <p:nvPr/>
        </p:nvCxnSpPr>
        <p:spPr>
          <a:xfrm>
            <a:off x="2679032" y="3172444"/>
            <a:ext cx="6224336" cy="0"/>
          </a:xfrm>
          <a:prstGeom prst="line">
            <a:avLst/>
          </a:prstGeom>
          <a:ln w="19050">
            <a:prstDash val="dash"/>
          </a:ln>
        </p:spPr>
        <p:style>
          <a:lnRef idx="1">
            <a:schemeClr val="accent2"/>
          </a:lnRef>
          <a:fillRef idx="0">
            <a:schemeClr val="accent2"/>
          </a:fillRef>
          <a:effectRef idx="0">
            <a:schemeClr val="accent2"/>
          </a:effectRef>
          <a:fontRef idx="minor">
            <a:schemeClr val="tx1"/>
          </a:fontRef>
        </p:style>
      </p:cxnSp>
      <p:sp>
        <p:nvSpPr>
          <p:cNvPr id="8" name="Google Shape;130;p3">
            <a:extLst>
              <a:ext uri="{FF2B5EF4-FFF2-40B4-BE49-F238E27FC236}">
                <a16:creationId xmlns:a16="http://schemas.microsoft.com/office/drawing/2014/main" id="{9E37E20E-42A0-4320-A2D9-711FCF867DB8}"/>
              </a:ext>
            </a:extLst>
          </p:cNvPr>
          <p:cNvSpPr txBox="1">
            <a:spLocks/>
          </p:cNvSpPr>
          <p:nvPr/>
        </p:nvSpPr>
        <p:spPr>
          <a:xfrm>
            <a:off x="0" y="6306650"/>
            <a:ext cx="611188" cy="365125"/>
          </a:xfrm>
          <a:prstGeom prst="rect">
            <a:avLst/>
          </a:prstGeom>
          <a:noFill/>
          <a:ln>
            <a:noFill/>
          </a:ln>
        </p:spPr>
        <p:txBody>
          <a:bodyPr spcFirstLastPara="1" wrap="square" lIns="0" tIns="0" rIns="0" bIns="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
                <a:srgbClr val="000000"/>
              </a:buClr>
              <a:buSzPts val="1400"/>
              <a:buFont typeface="Arial"/>
              <a:buNone/>
            </a:pPr>
            <a:fld id="{00000000-1234-1234-1234-123412341234}" type="slidenum">
              <a:rPr lang="fr-FR" smtClean="0"/>
              <a:pPr algn="ctr">
                <a:buClr>
                  <a:srgbClr val="000000"/>
                </a:buClr>
                <a:buSzPts val="1400"/>
                <a:buFont typeface="Arial"/>
                <a:buNone/>
              </a:pPr>
              <a:t>2</a:t>
            </a:fld>
            <a:endParaRPr lang="fr-FR" dirty="0"/>
          </a:p>
        </p:txBody>
      </p:sp>
    </p:spTree>
    <p:extLst>
      <p:ext uri="{BB962C8B-B14F-4D97-AF65-F5344CB8AC3E}">
        <p14:creationId xmlns:p14="http://schemas.microsoft.com/office/powerpoint/2010/main" val="954910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21"/>
          <p:cNvSpPr txBox="1">
            <a:spLocks noGrp="1"/>
          </p:cNvSpPr>
          <p:nvPr>
            <p:ph type="title"/>
          </p:nvPr>
        </p:nvSpPr>
        <p:spPr>
          <a:xfrm>
            <a:off x="2027548" y="0"/>
            <a:ext cx="8028892" cy="9807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fr-FR" sz="2800"/>
              <a:t>Ce</a:t>
            </a:r>
            <a:r>
              <a:rPr lang="fr-FR"/>
              <a:t> qu’il faut re</a:t>
            </a:r>
            <a:r>
              <a:rPr lang="fr-FR" sz="3600"/>
              <a:t>te</a:t>
            </a:r>
            <a:r>
              <a:rPr lang="fr-FR"/>
              <a:t>nir</a:t>
            </a:r>
            <a:endParaRPr/>
          </a:p>
        </p:txBody>
      </p:sp>
      <p:pic>
        <p:nvPicPr>
          <p:cNvPr id="373" name="Google Shape;373;p21"/>
          <p:cNvPicPr preferRelativeResize="0"/>
          <p:nvPr/>
        </p:nvPicPr>
        <p:blipFill rotWithShape="1">
          <a:blip r:embed="rId3">
            <a:alphaModFix/>
          </a:blip>
          <a:srcRect/>
          <a:stretch/>
        </p:blipFill>
        <p:spPr>
          <a:xfrm flipH="1">
            <a:off x="4223792" y="199033"/>
            <a:ext cx="939563" cy="939563"/>
          </a:xfrm>
          <a:prstGeom prst="rect">
            <a:avLst/>
          </a:prstGeom>
          <a:noFill/>
          <a:ln>
            <a:noFill/>
          </a:ln>
        </p:spPr>
      </p:pic>
      <p:sp>
        <p:nvSpPr>
          <p:cNvPr id="374" name="Google Shape;374;p21"/>
          <p:cNvSpPr txBox="1"/>
          <p:nvPr/>
        </p:nvSpPr>
        <p:spPr>
          <a:xfrm>
            <a:off x="1559496" y="1179761"/>
            <a:ext cx="10351453" cy="5372175"/>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Clr>
                <a:srgbClr val="166478"/>
              </a:buClr>
              <a:buSzPts val="2400"/>
              <a:buFont typeface="Arial"/>
              <a:buNone/>
            </a:pPr>
            <a:r>
              <a:rPr lang="fr-FR" sz="2400" b="1" cap="none" dirty="0">
                <a:solidFill>
                  <a:srgbClr val="166478"/>
                </a:solidFill>
                <a:latin typeface="Century Gothic"/>
                <a:ea typeface="Century Gothic"/>
                <a:cs typeface="Century Gothic"/>
                <a:sym typeface="Century Gothic"/>
              </a:rPr>
              <a:t>Le </a:t>
            </a:r>
            <a:r>
              <a:rPr lang="fr-FR" sz="2400" b="1" cap="none" dirty="0">
                <a:solidFill>
                  <a:srgbClr val="F6AB38"/>
                </a:solidFill>
                <a:latin typeface="Century Gothic"/>
                <a:ea typeface="Century Gothic"/>
                <a:cs typeface="Century Gothic"/>
                <a:sym typeface="Century Gothic"/>
              </a:rPr>
              <a:t>changement climatique </a:t>
            </a:r>
            <a:r>
              <a:rPr lang="fr-FR" sz="2400" b="1" cap="none" dirty="0">
                <a:solidFill>
                  <a:srgbClr val="166478"/>
                </a:solidFill>
                <a:latin typeface="Century Gothic"/>
                <a:ea typeface="Century Gothic"/>
                <a:cs typeface="Century Gothic"/>
                <a:sym typeface="Century Gothic"/>
              </a:rPr>
              <a:t>et la </a:t>
            </a:r>
            <a:r>
              <a:rPr lang="fr-FR" sz="2400" b="1" cap="none" dirty="0">
                <a:solidFill>
                  <a:srgbClr val="F6AB38"/>
                </a:solidFill>
                <a:latin typeface="Century Gothic"/>
                <a:ea typeface="Century Gothic"/>
                <a:cs typeface="Century Gothic"/>
                <a:sym typeface="Century Gothic"/>
              </a:rPr>
              <a:t>raréfaction des énergies fossiles </a:t>
            </a:r>
            <a:r>
              <a:rPr lang="fr-FR" sz="2400" b="1" cap="none" dirty="0">
                <a:solidFill>
                  <a:srgbClr val="166478"/>
                </a:solidFill>
                <a:latin typeface="Century Gothic"/>
                <a:ea typeface="Century Gothic"/>
                <a:cs typeface="Century Gothic"/>
                <a:sym typeface="Century Gothic"/>
              </a:rPr>
              <a:t>nous obligent à abandonner les énergies fossiles en 30 ans. </a:t>
            </a:r>
            <a:endParaRPr dirty="0"/>
          </a:p>
          <a:p>
            <a:pPr marL="0" marR="0" lvl="0" indent="0" algn="just" rtl="0">
              <a:spcBef>
                <a:spcPts val="3000"/>
              </a:spcBef>
              <a:spcAft>
                <a:spcPts val="0"/>
              </a:spcAft>
              <a:buClr>
                <a:srgbClr val="166478"/>
              </a:buClr>
              <a:buSzPts val="2400"/>
              <a:buFont typeface="Arial"/>
              <a:buNone/>
            </a:pPr>
            <a:r>
              <a:rPr lang="fr-FR" sz="2400" b="1" cap="none" dirty="0">
                <a:solidFill>
                  <a:srgbClr val="F6AB38"/>
                </a:solidFill>
                <a:latin typeface="Century Gothic"/>
                <a:ea typeface="Century Gothic"/>
                <a:cs typeface="Century Gothic"/>
                <a:sym typeface="Century Gothic"/>
              </a:rPr>
              <a:t>Démographie</a:t>
            </a:r>
            <a:r>
              <a:rPr lang="fr-FR" sz="2400" b="1" cap="none" dirty="0">
                <a:solidFill>
                  <a:srgbClr val="166478"/>
                </a:solidFill>
                <a:latin typeface="Century Gothic"/>
                <a:ea typeface="Century Gothic"/>
                <a:cs typeface="Century Gothic"/>
                <a:sym typeface="Century Gothic"/>
              </a:rPr>
              <a:t> et </a:t>
            </a:r>
            <a:r>
              <a:rPr lang="fr-FR" sz="2400" b="1" cap="none" dirty="0">
                <a:solidFill>
                  <a:srgbClr val="F6AB38"/>
                </a:solidFill>
                <a:latin typeface="Century Gothic"/>
                <a:ea typeface="Century Gothic"/>
                <a:cs typeface="Century Gothic"/>
                <a:sym typeface="Century Gothic"/>
              </a:rPr>
              <a:t>niveau de vie </a:t>
            </a:r>
            <a:r>
              <a:rPr lang="fr-FR" sz="2400" b="1" cap="none" dirty="0">
                <a:solidFill>
                  <a:srgbClr val="166478"/>
                </a:solidFill>
                <a:latin typeface="Century Gothic"/>
                <a:ea typeface="Century Gothic"/>
                <a:cs typeface="Century Gothic"/>
                <a:sym typeface="Century Gothic"/>
              </a:rPr>
              <a:t>sont 2 paramètres importants du problème qui sont souvent tabous ! </a:t>
            </a:r>
            <a:endParaRPr dirty="0"/>
          </a:p>
          <a:p>
            <a:pPr marL="0" marR="0" lvl="0" indent="0" algn="just" rtl="0">
              <a:spcBef>
                <a:spcPts val="3000"/>
              </a:spcBef>
              <a:spcAft>
                <a:spcPts val="0"/>
              </a:spcAft>
              <a:buClr>
                <a:srgbClr val="166478"/>
              </a:buClr>
              <a:buSzPts val="2400"/>
              <a:buFont typeface="Arial"/>
              <a:buNone/>
            </a:pPr>
            <a:r>
              <a:rPr lang="fr-FR" sz="2400" b="1" cap="none" dirty="0">
                <a:solidFill>
                  <a:srgbClr val="166478"/>
                </a:solidFill>
                <a:latin typeface="Century Gothic"/>
                <a:ea typeface="Century Gothic"/>
                <a:cs typeface="Century Gothic"/>
                <a:sym typeface="Century Gothic"/>
              </a:rPr>
              <a:t>Le </a:t>
            </a:r>
            <a:r>
              <a:rPr lang="fr-FR" sz="2400" b="1" cap="none" dirty="0">
                <a:solidFill>
                  <a:srgbClr val="085160"/>
                </a:solidFill>
                <a:latin typeface="Century Gothic"/>
                <a:ea typeface="Century Gothic"/>
                <a:cs typeface="Century Gothic"/>
                <a:sym typeface="Century Gothic"/>
              </a:rPr>
              <a:t>Bilan Carbone® </a:t>
            </a:r>
            <a:r>
              <a:rPr lang="fr-FR" sz="2400" b="1" cap="none" dirty="0">
                <a:solidFill>
                  <a:srgbClr val="166478"/>
                </a:solidFill>
                <a:latin typeface="Century Gothic"/>
                <a:ea typeface="Century Gothic"/>
                <a:cs typeface="Century Gothic"/>
                <a:sym typeface="Century Gothic"/>
              </a:rPr>
              <a:t>est </a:t>
            </a:r>
            <a:r>
              <a:rPr lang="fr-FR" sz="2400" b="1" cap="none" dirty="0">
                <a:solidFill>
                  <a:srgbClr val="F6AB38"/>
                </a:solidFill>
                <a:latin typeface="Century Gothic"/>
                <a:ea typeface="Century Gothic"/>
                <a:cs typeface="Century Gothic"/>
                <a:sym typeface="Century Gothic"/>
              </a:rPr>
              <a:t>une méthode pour compter </a:t>
            </a:r>
            <a:r>
              <a:rPr lang="fr-FR" sz="2400" b="1" cap="none" dirty="0">
                <a:solidFill>
                  <a:srgbClr val="166478"/>
                </a:solidFill>
                <a:latin typeface="Century Gothic"/>
                <a:ea typeface="Century Gothic"/>
                <a:cs typeface="Century Gothic"/>
                <a:sym typeface="Century Gothic"/>
              </a:rPr>
              <a:t>les émissions de gaz à effet de serre et </a:t>
            </a:r>
            <a:r>
              <a:rPr lang="fr-FR" sz="2400" b="1" cap="none" dirty="0">
                <a:solidFill>
                  <a:srgbClr val="F6AB38"/>
                </a:solidFill>
                <a:latin typeface="Century Gothic"/>
                <a:ea typeface="Century Gothic"/>
                <a:cs typeface="Century Gothic"/>
                <a:sym typeface="Century Gothic"/>
              </a:rPr>
              <a:t>construire un plan d’action </a:t>
            </a:r>
            <a:r>
              <a:rPr lang="fr-FR" sz="2400" b="1" cap="none" dirty="0">
                <a:solidFill>
                  <a:srgbClr val="166478"/>
                </a:solidFill>
                <a:latin typeface="Century Gothic"/>
                <a:ea typeface="Century Gothic"/>
                <a:cs typeface="Century Gothic"/>
                <a:sym typeface="Century Gothic"/>
              </a:rPr>
              <a:t>pour les réduire.</a:t>
            </a:r>
            <a:endParaRPr dirty="0"/>
          </a:p>
          <a:p>
            <a:pPr marL="0" marR="0" lvl="0" indent="0" algn="just" rtl="0">
              <a:spcBef>
                <a:spcPts val="3000"/>
              </a:spcBef>
              <a:spcAft>
                <a:spcPts val="0"/>
              </a:spcAft>
              <a:buClr>
                <a:srgbClr val="166478"/>
              </a:buClr>
              <a:buSzPts val="2400"/>
              <a:buFont typeface="Arial"/>
              <a:buNone/>
            </a:pPr>
            <a:r>
              <a:rPr lang="fr-FR" sz="2400" b="1" cap="none" dirty="0">
                <a:solidFill>
                  <a:srgbClr val="166478"/>
                </a:solidFill>
                <a:latin typeface="Century Gothic"/>
                <a:ea typeface="Century Gothic"/>
                <a:cs typeface="Century Gothic"/>
                <a:sym typeface="Century Gothic"/>
              </a:rPr>
              <a:t>Le Bilan Carbone® est </a:t>
            </a:r>
            <a:r>
              <a:rPr lang="fr-FR" sz="2400" b="1" cap="none" dirty="0">
                <a:solidFill>
                  <a:srgbClr val="F6AB38"/>
                </a:solidFill>
                <a:latin typeface="Century Gothic"/>
                <a:ea typeface="Century Gothic"/>
                <a:cs typeface="Century Gothic"/>
                <a:sym typeface="Century Gothic"/>
              </a:rPr>
              <a:t>une démarche professionnelle </a:t>
            </a:r>
            <a:r>
              <a:rPr lang="fr-FR" sz="2400" b="1" cap="none" dirty="0">
                <a:solidFill>
                  <a:srgbClr val="166478"/>
                </a:solidFill>
                <a:latin typeface="Century Gothic"/>
                <a:ea typeface="Century Gothic"/>
                <a:cs typeface="Century Gothic"/>
                <a:sym typeface="Century Gothic"/>
              </a:rPr>
              <a:t>qui nécessite une formation. </a:t>
            </a:r>
            <a:endParaRPr dirty="0"/>
          </a:p>
          <a:p>
            <a:pPr marL="0" marR="0" lvl="0" indent="0" algn="just" rtl="0">
              <a:spcBef>
                <a:spcPts val="3000"/>
              </a:spcBef>
              <a:spcAft>
                <a:spcPts val="0"/>
              </a:spcAft>
              <a:buClr>
                <a:srgbClr val="166478"/>
              </a:buClr>
              <a:buSzPts val="2400"/>
              <a:buFont typeface="Arial"/>
              <a:buNone/>
            </a:pPr>
            <a:r>
              <a:rPr lang="fr-FR" sz="2400" b="1" cap="none" dirty="0">
                <a:solidFill>
                  <a:srgbClr val="166478"/>
                </a:solidFill>
                <a:latin typeface="Century Gothic"/>
                <a:ea typeface="Century Gothic"/>
                <a:cs typeface="Century Gothic"/>
                <a:sym typeface="Century Gothic"/>
              </a:rPr>
              <a:t>Un Campus est un </a:t>
            </a:r>
            <a:r>
              <a:rPr lang="fr-FR" sz="2400" b="1" cap="none" dirty="0">
                <a:solidFill>
                  <a:srgbClr val="F6AB38"/>
                </a:solidFill>
                <a:latin typeface="Century Gothic"/>
                <a:ea typeface="Century Gothic"/>
                <a:cs typeface="Century Gothic"/>
                <a:sym typeface="Century Gothic"/>
              </a:rPr>
              <a:t>terrain de jeu idéal </a:t>
            </a:r>
            <a:r>
              <a:rPr lang="fr-FR" sz="2400" b="1" cap="none" dirty="0">
                <a:solidFill>
                  <a:srgbClr val="166478"/>
                </a:solidFill>
                <a:latin typeface="Century Gothic"/>
                <a:ea typeface="Century Gothic"/>
                <a:cs typeface="Century Gothic"/>
                <a:sym typeface="Century Gothic"/>
              </a:rPr>
              <a:t>pour mettre en œuvre un Bilan GES ! </a:t>
            </a:r>
            <a:endParaRPr dirty="0"/>
          </a:p>
          <a:p>
            <a:pPr marL="0" marR="0" lvl="0" indent="0" algn="just" rtl="0">
              <a:spcBef>
                <a:spcPts val="2400"/>
              </a:spcBef>
              <a:spcAft>
                <a:spcPts val="0"/>
              </a:spcAft>
              <a:buClr>
                <a:srgbClr val="166478"/>
              </a:buClr>
              <a:buSzPts val="2400"/>
              <a:buFont typeface="Arial"/>
              <a:buNone/>
            </a:pPr>
            <a:endParaRPr sz="2400" b="1" cap="none" dirty="0">
              <a:solidFill>
                <a:srgbClr val="166478"/>
              </a:solidFill>
              <a:latin typeface="Century Gothic"/>
              <a:ea typeface="Century Gothic"/>
              <a:cs typeface="Century Gothic"/>
              <a:sym typeface="Century Gothic"/>
            </a:endParaRPr>
          </a:p>
          <a:p>
            <a:pPr marL="0" marR="0" lvl="0" indent="0" algn="just" rtl="0">
              <a:spcBef>
                <a:spcPts val="2400"/>
              </a:spcBef>
              <a:spcAft>
                <a:spcPts val="0"/>
              </a:spcAft>
              <a:buClr>
                <a:srgbClr val="166478"/>
              </a:buClr>
              <a:buSzPts val="2400"/>
              <a:buFont typeface="Arial"/>
              <a:buNone/>
            </a:pPr>
            <a:endParaRPr sz="2400" b="1" cap="none" dirty="0">
              <a:solidFill>
                <a:srgbClr val="166478"/>
              </a:solidFill>
              <a:latin typeface="Century Gothic"/>
              <a:ea typeface="Century Gothic"/>
              <a:cs typeface="Century Gothic"/>
              <a:sym typeface="Century Gothic"/>
            </a:endParaRPr>
          </a:p>
        </p:txBody>
      </p:sp>
      <p:grpSp>
        <p:nvGrpSpPr>
          <p:cNvPr id="375" name="Google Shape;375;p21"/>
          <p:cNvGrpSpPr/>
          <p:nvPr/>
        </p:nvGrpSpPr>
        <p:grpSpPr>
          <a:xfrm>
            <a:off x="501675" y="3396839"/>
            <a:ext cx="792608" cy="720080"/>
            <a:chOff x="0" y="3356992"/>
            <a:chExt cx="1404288" cy="1473021"/>
          </a:xfrm>
        </p:grpSpPr>
        <p:sp>
          <p:nvSpPr>
            <p:cNvPr id="376" name="Google Shape;376;p21"/>
            <p:cNvSpPr/>
            <p:nvPr/>
          </p:nvSpPr>
          <p:spPr>
            <a:xfrm>
              <a:off x="238531" y="3512392"/>
              <a:ext cx="934102" cy="1317621"/>
            </a:xfrm>
            <a:prstGeom prst="rect">
              <a:avLst/>
            </a:prstGeom>
            <a:solidFill>
              <a:srgbClr val="BF7E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77" name="Google Shape;377;p21"/>
            <p:cNvPicPr preferRelativeResize="0"/>
            <p:nvPr/>
          </p:nvPicPr>
          <p:blipFill rotWithShape="1">
            <a:blip r:embed="rId4">
              <a:alphaModFix/>
            </a:blip>
            <a:srcRect/>
            <a:stretch/>
          </p:blipFill>
          <p:spPr>
            <a:xfrm>
              <a:off x="0" y="3356992"/>
              <a:ext cx="1404288" cy="1467557"/>
            </a:xfrm>
            <a:prstGeom prst="rect">
              <a:avLst/>
            </a:prstGeom>
            <a:noFill/>
            <a:ln>
              <a:noFill/>
            </a:ln>
          </p:spPr>
        </p:pic>
        <p:sp>
          <p:nvSpPr>
            <p:cNvPr id="378" name="Google Shape;378;p21"/>
            <p:cNvSpPr/>
            <p:nvPr/>
          </p:nvSpPr>
          <p:spPr>
            <a:xfrm>
              <a:off x="232181" y="3512392"/>
              <a:ext cx="74736" cy="1317621"/>
            </a:xfrm>
            <a:prstGeom prst="rect">
              <a:avLst/>
            </a:prstGeom>
            <a:solidFill>
              <a:srgbClr val="AA6B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379" name="Google Shape;379;p21"/>
          <p:cNvPicPr preferRelativeResize="0"/>
          <p:nvPr/>
        </p:nvPicPr>
        <p:blipFill rotWithShape="1">
          <a:blip r:embed="rId5">
            <a:alphaModFix/>
          </a:blip>
          <a:srcRect/>
          <a:stretch/>
        </p:blipFill>
        <p:spPr>
          <a:xfrm>
            <a:off x="457750" y="5626479"/>
            <a:ext cx="782601" cy="782601"/>
          </a:xfrm>
          <a:prstGeom prst="rect">
            <a:avLst/>
          </a:prstGeom>
          <a:noFill/>
          <a:ln>
            <a:noFill/>
          </a:ln>
        </p:spPr>
      </p:pic>
      <p:pic>
        <p:nvPicPr>
          <p:cNvPr id="380" name="Google Shape;380;p21"/>
          <p:cNvPicPr preferRelativeResize="0"/>
          <p:nvPr/>
        </p:nvPicPr>
        <p:blipFill rotWithShape="1">
          <a:blip r:embed="rId6">
            <a:alphaModFix/>
          </a:blip>
          <a:srcRect t="1" b="6116"/>
          <a:stretch/>
        </p:blipFill>
        <p:spPr>
          <a:xfrm>
            <a:off x="256077" y="1043917"/>
            <a:ext cx="1085182" cy="1013086"/>
          </a:xfrm>
          <a:prstGeom prst="rect">
            <a:avLst/>
          </a:prstGeom>
          <a:noFill/>
          <a:ln>
            <a:noFill/>
          </a:ln>
        </p:spPr>
      </p:pic>
      <p:pic>
        <p:nvPicPr>
          <p:cNvPr id="381" name="Google Shape;381;p21"/>
          <p:cNvPicPr preferRelativeResize="0"/>
          <p:nvPr/>
        </p:nvPicPr>
        <p:blipFill rotWithShape="1">
          <a:blip r:embed="rId7">
            <a:alphaModFix/>
          </a:blip>
          <a:srcRect/>
          <a:stretch/>
        </p:blipFill>
        <p:spPr>
          <a:xfrm>
            <a:off x="510618" y="2396751"/>
            <a:ext cx="576100" cy="576004"/>
          </a:xfrm>
          <a:prstGeom prst="rect">
            <a:avLst/>
          </a:prstGeom>
          <a:noFill/>
          <a:ln>
            <a:noFill/>
          </a:ln>
        </p:spPr>
      </p:pic>
      <p:pic>
        <p:nvPicPr>
          <p:cNvPr id="382" name="Google Shape;382;p21"/>
          <p:cNvPicPr preferRelativeResize="0"/>
          <p:nvPr/>
        </p:nvPicPr>
        <p:blipFill rotWithShape="1">
          <a:blip r:embed="rId8">
            <a:alphaModFix/>
          </a:blip>
          <a:srcRect/>
          <a:stretch/>
        </p:blipFill>
        <p:spPr>
          <a:xfrm>
            <a:off x="393953" y="4491082"/>
            <a:ext cx="846398" cy="846398"/>
          </a:xfrm>
          <a:prstGeom prst="rect">
            <a:avLst/>
          </a:prstGeom>
          <a:noFill/>
          <a:ln>
            <a:noFill/>
          </a:ln>
        </p:spPr>
      </p:pic>
      <p:sp>
        <p:nvSpPr>
          <p:cNvPr id="13" name="Google Shape;130;p3">
            <a:extLst>
              <a:ext uri="{FF2B5EF4-FFF2-40B4-BE49-F238E27FC236}">
                <a16:creationId xmlns:a16="http://schemas.microsoft.com/office/drawing/2014/main" id="{EC9AE42D-5186-4B27-A928-22E45DA26637}"/>
              </a:ext>
            </a:extLst>
          </p:cNvPr>
          <p:cNvSpPr txBox="1">
            <a:spLocks/>
          </p:cNvSpPr>
          <p:nvPr/>
        </p:nvSpPr>
        <p:spPr>
          <a:xfrm>
            <a:off x="0" y="6259758"/>
            <a:ext cx="611188" cy="365125"/>
          </a:xfrm>
          <a:prstGeom prst="rect">
            <a:avLst/>
          </a:prstGeom>
          <a:noFill/>
          <a:ln>
            <a:noFill/>
          </a:ln>
        </p:spPr>
        <p:txBody>
          <a:bodyPr spcFirstLastPara="1" wrap="square" lIns="0" tIns="0" rIns="0" bIns="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
                <a:srgbClr val="000000"/>
              </a:buClr>
              <a:buSzPts val="1400"/>
              <a:buFont typeface="Arial"/>
              <a:buNone/>
            </a:pPr>
            <a:fld id="{00000000-1234-1234-1234-123412341234}" type="slidenum">
              <a:rPr lang="fr-FR" smtClean="0"/>
              <a:pPr algn="ctr">
                <a:buClr>
                  <a:srgbClr val="000000"/>
                </a:buClr>
                <a:buSzPts val="1400"/>
                <a:buFont typeface="Arial"/>
                <a:buNone/>
              </a:pPr>
              <a:t>3</a:t>
            </a:fld>
            <a:endParaRPr lang="fr-FR" dirty="0"/>
          </a:p>
        </p:txBody>
      </p:sp>
    </p:spTree>
    <p:extLst>
      <p:ext uri="{BB962C8B-B14F-4D97-AF65-F5344CB8AC3E}">
        <p14:creationId xmlns:p14="http://schemas.microsoft.com/office/powerpoint/2010/main" val="18050466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22"/>
          <p:cNvSpPr txBox="1">
            <a:spLocks noGrp="1"/>
          </p:cNvSpPr>
          <p:nvPr>
            <p:ph type="body" idx="1"/>
          </p:nvPr>
        </p:nvSpPr>
        <p:spPr>
          <a:xfrm>
            <a:off x="0" y="4521101"/>
            <a:ext cx="10363200" cy="1500187"/>
          </a:xfrm>
          <a:prstGeom prst="rect">
            <a:avLst/>
          </a:prstGeom>
          <a:solidFill>
            <a:srgbClr val="F6AB38"/>
          </a:solidFill>
          <a:ln>
            <a:noFill/>
          </a:ln>
        </p:spPr>
        <p:txBody>
          <a:bodyPr spcFirstLastPara="1" wrap="square" lIns="216000" tIns="45700" rIns="91425" bIns="45700" anchor="ctr" anchorCtr="0">
            <a:normAutofit/>
          </a:bodyPr>
          <a:lstStyle/>
          <a:p>
            <a:pPr marL="0" lvl="0" indent="0" algn="l" rtl="0">
              <a:spcBef>
                <a:spcPts val="0"/>
              </a:spcBef>
              <a:spcAft>
                <a:spcPts val="0"/>
              </a:spcAft>
              <a:buSzPts val="4000"/>
              <a:buNone/>
            </a:pPr>
            <a:r>
              <a:rPr lang="fr-FR"/>
              <a:t>Les bases de la comptabilité carbone</a:t>
            </a:r>
            <a:endParaRPr baseline="30000"/>
          </a:p>
        </p:txBody>
      </p:sp>
      <p:pic>
        <p:nvPicPr>
          <p:cNvPr id="388" name="Google Shape;388;p22"/>
          <p:cNvPicPr preferRelativeResize="0"/>
          <p:nvPr/>
        </p:nvPicPr>
        <p:blipFill rotWithShape="1">
          <a:blip r:embed="rId3">
            <a:alphaModFix/>
          </a:blip>
          <a:srcRect l="7440" t="7903" r="7277" b="3336"/>
          <a:stretch/>
        </p:blipFill>
        <p:spPr>
          <a:xfrm>
            <a:off x="263352" y="2909917"/>
            <a:ext cx="1508019" cy="1747838"/>
          </a:xfrm>
          <a:prstGeom prst="rect">
            <a:avLst/>
          </a:prstGeom>
          <a:noFill/>
          <a:ln>
            <a:noFill/>
          </a:ln>
        </p:spPr>
      </p:pic>
      <p:pic>
        <p:nvPicPr>
          <p:cNvPr id="389" name="Google Shape;389;p22" descr="Gaz2"/>
          <p:cNvPicPr preferRelativeResize="0"/>
          <p:nvPr/>
        </p:nvPicPr>
        <p:blipFill rotWithShape="1">
          <a:blip r:embed="rId4">
            <a:alphaModFix/>
          </a:blip>
          <a:srcRect r="74622" b="44185"/>
          <a:stretch/>
        </p:blipFill>
        <p:spPr>
          <a:xfrm>
            <a:off x="1603320" y="3644470"/>
            <a:ext cx="1822235" cy="691133"/>
          </a:xfrm>
          <a:prstGeom prst="rect">
            <a:avLst/>
          </a:prstGeom>
          <a:noFill/>
          <a:ln>
            <a:noFill/>
          </a:ln>
        </p:spPr>
      </p:pic>
      <p:grpSp>
        <p:nvGrpSpPr>
          <p:cNvPr id="390" name="Google Shape;390;p22"/>
          <p:cNvGrpSpPr/>
          <p:nvPr/>
        </p:nvGrpSpPr>
        <p:grpSpPr>
          <a:xfrm flipH="1">
            <a:off x="2833468" y="2512530"/>
            <a:ext cx="2816484" cy="2955014"/>
            <a:chOff x="93862" y="4314179"/>
            <a:chExt cx="3524724" cy="3401983"/>
          </a:xfrm>
        </p:grpSpPr>
        <p:sp>
          <p:nvSpPr>
            <p:cNvPr id="391" name="Google Shape;391;p22"/>
            <p:cNvSpPr/>
            <p:nvPr/>
          </p:nvSpPr>
          <p:spPr>
            <a:xfrm>
              <a:off x="3258546" y="6236420"/>
              <a:ext cx="360040" cy="144016"/>
            </a:xfrm>
            <a:prstGeom prst="rect">
              <a:avLst/>
            </a:prstGeom>
            <a:solidFill>
              <a:srgbClr val="3F3F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92" name="Google Shape;392;p22"/>
            <p:cNvPicPr preferRelativeResize="0"/>
            <p:nvPr/>
          </p:nvPicPr>
          <p:blipFill rotWithShape="1">
            <a:blip r:embed="rId5">
              <a:alphaModFix/>
            </a:blip>
            <a:srcRect/>
            <a:stretch/>
          </p:blipFill>
          <p:spPr>
            <a:xfrm>
              <a:off x="93862" y="4314179"/>
              <a:ext cx="3401983" cy="3401983"/>
            </a:xfrm>
            <a:prstGeom prst="rect">
              <a:avLst/>
            </a:prstGeom>
            <a:noFill/>
            <a:ln>
              <a:noFill/>
            </a:ln>
          </p:spPr>
        </p:pic>
      </p:grpSp>
      <p:sp>
        <p:nvSpPr>
          <p:cNvPr id="8" name="Google Shape;130;p3">
            <a:extLst>
              <a:ext uri="{FF2B5EF4-FFF2-40B4-BE49-F238E27FC236}">
                <a16:creationId xmlns:a16="http://schemas.microsoft.com/office/drawing/2014/main" id="{9125CC57-2FBB-49B6-9354-ECEFA87DFC9A}"/>
              </a:ext>
            </a:extLst>
          </p:cNvPr>
          <p:cNvSpPr txBox="1">
            <a:spLocks/>
          </p:cNvSpPr>
          <p:nvPr/>
        </p:nvSpPr>
        <p:spPr>
          <a:xfrm>
            <a:off x="0" y="6376988"/>
            <a:ext cx="611188" cy="365125"/>
          </a:xfrm>
          <a:prstGeom prst="rect">
            <a:avLst/>
          </a:prstGeom>
          <a:noFill/>
          <a:ln>
            <a:noFill/>
          </a:ln>
        </p:spPr>
        <p:txBody>
          <a:bodyPr spcFirstLastPara="1" wrap="square" lIns="0" tIns="0" rIns="0" bIns="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
                <a:srgbClr val="000000"/>
              </a:buClr>
              <a:buSzPts val="1400"/>
              <a:buFont typeface="Arial"/>
              <a:buNone/>
            </a:pPr>
            <a:fld id="{00000000-1234-1234-1234-123412341234}" type="slidenum">
              <a:rPr lang="fr-FR" smtClean="0"/>
              <a:pPr algn="ctr">
                <a:buClr>
                  <a:srgbClr val="000000"/>
                </a:buClr>
                <a:buSzPts val="1400"/>
                <a:buFont typeface="Arial"/>
                <a:buNone/>
              </a:pPr>
              <a:t>4</a:t>
            </a:fld>
            <a:endParaRPr lang="fr-FR" dirty="0"/>
          </a:p>
        </p:txBody>
      </p:sp>
    </p:spTree>
    <p:extLst>
      <p:ext uri="{BB962C8B-B14F-4D97-AF65-F5344CB8AC3E}">
        <p14:creationId xmlns:p14="http://schemas.microsoft.com/office/powerpoint/2010/main" val="2978255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graphicFrame>
        <p:nvGraphicFramePr>
          <p:cNvPr id="646" name="Google Shape;646;p35"/>
          <p:cNvGraphicFramePr/>
          <p:nvPr>
            <p:extLst>
              <p:ext uri="{D42A27DB-BD31-4B8C-83A1-F6EECF244321}">
                <p14:modId xmlns:p14="http://schemas.microsoft.com/office/powerpoint/2010/main" val="4155485209"/>
              </p:ext>
            </p:extLst>
          </p:nvPr>
        </p:nvGraphicFramePr>
        <p:xfrm>
          <a:off x="3863752" y="2415292"/>
          <a:ext cx="4642070" cy="3138072"/>
        </p:xfrm>
        <a:graphic>
          <a:graphicData uri="http://schemas.openxmlformats.org/drawingml/2006/chart">
            <c:chart xmlns:c="http://schemas.openxmlformats.org/drawingml/2006/chart" xmlns:r="http://schemas.openxmlformats.org/officeDocument/2006/relationships" r:id="rId3"/>
          </a:graphicData>
        </a:graphic>
      </p:graphicFrame>
      <p:sp>
        <p:nvSpPr>
          <p:cNvPr id="647" name="Google Shape;647;p35"/>
          <p:cNvSpPr txBox="1">
            <a:spLocks noGrp="1"/>
          </p:cNvSpPr>
          <p:nvPr>
            <p:ph type="title"/>
          </p:nvPr>
        </p:nvSpPr>
        <p:spPr>
          <a:xfrm>
            <a:off x="2477598" y="0"/>
            <a:ext cx="7236804" cy="9807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fr-FR"/>
              <a:t>Gaz à effet de serre : qui fait quoi ? </a:t>
            </a:r>
            <a:endParaRPr/>
          </a:p>
        </p:txBody>
      </p:sp>
      <p:sp>
        <p:nvSpPr>
          <p:cNvPr id="648" name="Google Shape;648;p35"/>
          <p:cNvSpPr txBox="1"/>
          <p:nvPr/>
        </p:nvSpPr>
        <p:spPr>
          <a:xfrm>
            <a:off x="4570819" y="5566472"/>
            <a:ext cx="3121411" cy="800179"/>
          </a:xfrm>
          <a:prstGeom prst="rect">
            <a:avLst/>
          </a:prstGeom>
          <a:solidFill>
            <a:srgbClr val="F6AB38"/>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b="1" dirty="0">
                <a:solidFill>
                  <a:srgbClr val="FFFFFF"/>
                </a:solidFill>
                <a:latin typeface="Century Gothic"/>
                <a:ea typeface="Century Gothic"/>
                <a:cs typeface="Century Gothic"/>
                <a:sym typeface="Century Gothic"/>
              </a:rPr>
              <a:t>Total des émissions (2019):</a:t>
            </a:r>
            <a:endParaRPr dirty="0"/>
          </a:p>
          <a:p>
            <a:pPr marL="0" marR="0" lvl="0" indent="0" algn="ctr" rtl="0">
              <a:spcBef>
                <a:spcPts val="0"/>
              </a:spcBef>
              <a:spcAft>
                <a:spcPts val="0"/>
              </a:spcAft>
              <a:buNone/>
            </a:pPr>
            <a:r>
              <a:rPr lang="fr-FR" sz="2800" b="1" dirty="0">
                <a:solidFill>
                  <a:srgbClr val="FFFFFF"/>
                </a:solidFill>
                <a:latin typeface="Century Gothic"/>
                <a:ea typeface="Century Gothic"/>
                <a:cs typeface="Century Gothic"/>
                <a:sym typeface="Century Gothic"/>
              </a:rPr>
              <a:t>59 GtCO2e</a:t>
            </a:r>
          </a:p>
        </p:txBody>
      </p:sp>
      <p:grpSp>
        <p:nvGrpSpPr>
          <p:cNvPr id="649" name="Google Shape;649;p35"/>
          <p:cNvGrpSpPr/>
          <p:nvPr/>
        </p:nvGrpSpPr>
        <p:grpSpPr>
          <a:xfrm>
            <a:off x="6009586" y="1319429"/>
            <a:ext cx="4916357" cy="1633538"/>
            <a:chOff x="6009586" y="1108415"/>
            <a:chExt cx="4916357" cy="1633538"/>
          </a:xfrm>
        </p:grpSpPr>
        <p:grpSp>
          <p:nvGrpSpPr>
            <p:cNvPr id="650" name="Google Shape;650;p35"/>
            <p:cNvGrpSpPr/>
            <p:nvPr/>
          </p:nvGrpSpPr>
          <p:grpSpPr>
            <a:xfrm>
              <a:off x="6009586" y="1108415"/>
              <a:ext cx="4176712" cy="1633538"/>
              <a:chOff x="2653" y="709"/>
              <a:chExt cx="2631" cy="1133"/>
            </a:xfrm>
          </p:grpSpPr>
          <p:sp>
            <p:nvSpPr>
              <p:cNvPr id="651" name="Google Shape;651;p35"/>
              <p:cNvSpPr txBox="1"/>
              <p:nvPr/>
            </p:nvSpPr>
            <p:spPr>
              <a:xfrm>
                <a:off x="2700" y="709"/>
                <a:ext cx="2584" cy="760"/>
              </a:xfrm>
              <a:prstGeom prst="rect">
                <a:avLst/>
              </a:prstGeom>
              <a:noFill/>
              <a:ln>
                <a:noFill/>
              </a:ln>
            </p:spPr>
            <p:txBody>
              <a:bodyPr spcFirstLastPara="1" wrap="square" lIns="91425" tIns="45700" rIns="91425" bIns="45700" anchor="t" anchorCtr="0">
                <a:spAutoFit/>
              </a:bodyPr>
              <a:lstStyle/>
              <a:p>
                <a:pPr marL="0" marR="0" lvl="0" indent="0" algn="l" rtl="0">
                  <a:lnSpc>
                    <a:spcPct val="93000"/>
                  </a:lnSpc>
                  <a:spcBef>
                    <a:spcPts val="0"/>
                  </a:spcBef>
                  <a:spcAft>
                    <a:spcPts val="0"/>
                  </a:spcAft>
                  <a:buClr>
                    <a:srgbClr val="000000"/>
                  </a:buClr>
                  <a:buSzPts val="1800"/>
                  <a:buFont typeface="Times New Roman"/>
                  <a:buNone/>
                </a:pPr>
                <a:r>
                  <a:rPr lang="fr-FR" sz="1800" dirty="0">
                    <a:solidFill>
                      <a:srgbClr val="006600"/>
                    </a:solidFill>
                    <a:latin typeface="Arial"/>
                    <a:ea typeface="Arial"/>
                    <a:cs typeface="Arial"/>
                    <a:sym typeface="Arial"/>
                  </a:rPr>
                  <a:t>Protoxyde d’azote, oxyde nitreux, N</a:t>
                </a:r>
                <a:r>
                  <a:rPr lang="fr-FR" sz="1800" baseline="-25000" dirty="0">
                    <a:solidFill>
                      <a:srgbClr val="006600"/>
                    </a:solidFill>
                    <a:latin typeface="Arial"/>
                    <a:ea typeface="Arial"/>
                    <a:cs typeface="Arial"/>
                    <a:sym typeface="Arial"/>
                  </a:rPr>
                  <a:t>2</a:t>
                </a:r>
                <a:r>
                  <a:rPr lang="fr-FR" sz="1800" dirty="0">
                    <a:solidFill>
                      <a:srgbClr val="006600"/>
                    </a:solidFill>
                    <a:latin typeface="Arial"/>
                    <a:ea typeface="Arial"/>
                    <a:cs typeface="Arial"/>
                    <a:sym typeface="Arial"/>
                  </a:rPr>
                  <a:t>O</a:t>
                </a:r>
                <a:endParaRPr sz="1800" baseline="-25000" dirty="0">
                  <a:solidFill>
                    <a:srgbClr val="006600"/>
                  </a:solidFill>
                  <a:latin typeface="Arial"/>
                  <a:ea typeface="Arial"/>
                  <a:cs typeface="Arial"/>
                  <a:sym typeface="Arial"/>
                </a:endParaRPr>
              </a:p>
              <a:p>
                <a:pPr marL="0" marR="0" lvl="0" indent="0" algn="l" rtl="0">
                  <a:lnSpc>
                    <a:spcPct val="93000"/>
                  </a:lnSpc>
                  <a:spcBef>
                    <a:spcPts val="900"/>
                  </a:spcBef>
                  <a:spcAft>
                    <a:spcPts val="0"/>
                  </a:spcAft>
                  <a:buClr>
                    <a:srgbClr val="000000"/>
                  </a:buClr>
                  <a:buSzPts val="1800"/>
                  <a:buFont typeface="Times New Roman"/>
                  <a:buNone/>
                </a:pPr>
                <a:r>
                  <a:rPr lang="fr-FR" sz="1800" dirty="0">
                    <a:solidFill>
                      <a:srgbClr val="006600"/>
                    </a:solidFill>
                    <a:latin typeface="Arial"/>
                    <a:ea typeface="Arial"/>
                    <a:cs typeface="Arial"/>
                    <a:sym typeface="Arial"/>
                  </a:rPr>
                  <a:t>Engrais azotés, industrie chimique</a:t>
                </a:r>
                <a:endParaRPr dirty="0"/>
              </a:p>
              <a:p>
                <a:pPr marL="0" marR="0" lvl="0" indent="0" algn="l" rtl="0">
                  <a:lnSpc>
                    <a:spcPct val="93000"/>
                  </a:lnSpc>
                  <a:spcBef>
                    <a:spcPts val="900"/>
                  </a:spcBef>
                  <a:spcAft>
                    <a:spcPts val="0"/>
                  </a:spcAft>
                  <a:buClr>
                    <a:srgbClr val="000000"/>
                  </a:buClr>
                  <a:buSzPts val="1800"/>
                  <a:buFont typeface="Times New Roman"/>
                  <a:buNone/>
                </a:pPr>
                <a:r>
                  <a:rPr lang="fr-FR" sz="1800" dirty="0">
                    <a:solidFill>
                      <a:srgbClr val="006600"/>
                    </a:solidFill>
                    <a:latin typeface="Arial"/>
                    <a:ea typeface="Arial"/>
                    <a:cs typeface="Arial"/>
                    <a:sym typeface="Arial"/>
                  </a:rPr>
                  <a:t>4 %</a:t>
                </a:r>
                <a:endParaRPr dirty="0"/>
              </a:p>
            </p:txBody>
          </p:sp>
          <p:cxnSp>
            <p:nvCxnSpPr>
              <p:cNvPr id="652" name="Google Shape;652;p35"/>
              <p:cNvCxnSpPr/>
              <p:nvPr/>
            </p:nvCxnSpPr>
            <p:spPr>
              <a:xfrm>
                <a:off x="2653" y="754"/>
                <a:ext cx="0" cy="1088"/>
              </a:xfrm>
              <a:prstGeom prst="straightConnector1">
                <a:avLst/>
              </a:prstGeom>
              <a:noFill/>
              <a:ln w="19050" cap="flat" cmpd="sng">
                <a:solidFill>
                  <a:schemeClr val="dk1"/>
                </a:solidFill>
                <a:prstDash val="solid"/>
                <a:round/>
                <a:headEnd type="none" w="med" len="med"/>
                <a:tailEnd type="oval" w="med" len="med"/>
              </a:ln>
            </p:spPr>
          </p:cxnSp>
        </p:grpSp>
        <p:pic>
          <p:nvPicPr>
            <p:cNvPr id="653" name="Google Shape;653;p35"/>
            <p:cNvPicPr preferRelativeResize="0"/>
            <p:nvPr/>
          </p:nvPicPr>
          <p:blipFill rotWithShape="1">
            <a:blip r:embed="rId4">
              <a:alphaModFix/>
            </a:blip>
            <a:srcRect/>
            <a:stretch/>
          </p:blipFill>
          <p:spPr>
            <a:xfrm>
              <a:off x="10186298" y="1151397"/>
              <a:ext cx="739645" cy="739645"/>
            </a:xfrm>
            <a:prstGeom prst="rect">
              <a:avLst/>
            </a:prstGeom>
            <a:noFill/>
            <a:ln>
              <a:noFill/>
            </a:ln>
          </p:spPr>
        </p:pic>
      </p:grpSp>
      <p:grpSp>
        <p:nvGrpSpPr>
          <p:cNvPr id="654" name="Google Shape;654;p35"/>
          <p:cNvGrpSpPr/>
          <p:nvPr/>
        </p:nvGrpSpPr>
        <p:grpSpPr>
          <a:xfrm>
            <a:off x="6379946" y="2874293"/>
            <a:ext cx="4034652" cy="1473887"/>
            <a:chOff x="6379946" y="2663279"/>
            <a:chExt cx="4034652" cy="1473887"/>
          </a:xfrm>
        </p:grpSpPr>
        <p:grpSp>
          <p:nvGrpSpPr>
            <p:cNvPr id="655" name="Google Shape;655;p35"/>
            <p:cNvGrpSpPr/>
            <p:nvPr/>
          </p:nvGrpSpPr>
          <p:grpSpPr>
            <a:xfrm>
              <a:off x="6379946" y="2663279"/>
              <a:ext cx="4005263" cy="1390650"/>
              <a:chOff x="3082" y="1661"/>
              <a:chExt cx="2523" cy="876"/>
            </a:xfrm>
          </p:grpSpPr>
          <p:sp>
            <p:nvSpPr>
              <p:cNvPr id="656" name="Google Shape;656;p35"/>
              <p:cNvSpPr txBox="1"/>
              <p:nvPr/>
            </p:nvSpPr>
            <p:spPr>
              <a:xfrm>
                <a:off x="3972" y="1661"/>
                <a:ext cx="1633" cy="876"/>
              </a:xfrm>
              <a:prstGeom prst="rect">
                <a:avLst/>
              </a:prstGeom>
              <a:noFill/>
              <a:ln>
                <a:noFill/>
              </a:ln>
            </p:spPr>
            <p:txBody>
              <a:bodyPr spcFirstLastPara="1" wrap="square" lIns="91425" tIns="45700" rIns="91425" bIns="45700" anchor="t" anchorCtr="0">
                <a:spAutoFit/>
              </a:bodyPr>
              <a:lstStyle/>
              <a:p>
                <a:pPr marL="0" marR="0" lvl="0" indent="0" algn="l" rtl="0">
                  <a:lnSpc>
                    <a:spcPct val="93000"/>
                  </a:lnSpc>
                  <a:spcBef>
                    <a:spcPts val="0"/>
                  </a:spcBef>
                  <a:spcAft>
                    <a:spcPts val="0"/>
                  </a:spcAft>
                  <a:buClr>
                    <a:srgbClr val="000000"/>
                  </a:buClr>
                  <a:buSzPts val="1800"/>
                  <a:buFont typeface="Times New Roman"/>
                  <a:buNone/>
                </a:pPr>
                <a:r>
                  <a:rPr lang="fr-FR" sz="1800" dirty="0">
                    <a:solidFill>
                      <a:srgbClr val="ED7D31"/>
                    </a:solidFill>
                    <a:latin typeface="Arial"/>
                    <a:ea typeface="Arial"/>
                    <a:cs typeface="Arial"/>
                    <a:sym typeface="Arial"/>
                  </a:rPr>
                  <a:t>Gaz fluorés divers</a:t>
                </a:r>
                <a:endParaRPr dirty="0"/>
              </a:p>
              <a:p>
                <a:pPr marL="0" marR="0" lvl="0" indent="0" algn="l" rtl="0">
                  <a:lnSpc>
                    <a:spcPct val="93000"/>
                  </a:lnSpc>
                  <a:spcBef>
                    <a:spcPts val="900"/>
                  </a:spcBef>
                  <a:spcAft>
                    <a:spcPts val="0"/>
                  </a:spcAft>
                  <a:buClr>
                    <a:srgbClr val="000000"/>
                  </a:buClr>
                  <a:buSzPts val="1800"/>
                  <a:buFont typeface="Times New Roman"/>
                  <a:buNone/>
                </a:pPr>
                <a:r>
                  <a:rPr lang="fr-FR" sz="1800" dirty="0">
                    <a:solidFill>
                      <a:srgbClr val="ED7D31"/>
                    </a:solidFill>
                    <a:latin typeface="Arial"/>
                    <a:ea typeface="Arial"/>
                    <a:cs typeface="Arial"/>
                    <a:sym typeface="Arial"/>
                  </a:rPr>
                  <a:t>Réfrigérants, procédés industriels divers</a:t>
                </a:r>
                <a:endParaRPr dirty="0"/>
              </a:p>
              <a:p>
                <a:pPr marL="0" marR="0" lvl="0" indent="0" algn="l" rtl="0">
                  <a:lnSpc>
                    <a:spcPct val="93000"/>
                  </a:lnSpc>
                  <a:spcBef>
                    <a:spcPts val="900"/>
                  </a:spcBef>
                  <a:spcAft>
                    <a:spcPts val="0"/>
                  </a:spcAft>
                  <a:buClr>
                    <a:srgbClr val="000000"/>
                  </a:buClr>
                  <a:buSzPts val="1800"/>
                  <a:buFont typeface="Times New Roman"/>
                  <a:buNone/>
                </a:pPr>
                <a:r>
                  <a:rPr lang="fr-FR" sz="1800" dirty="0">
                    <a:solidFill>
                      <a:srgbClr val="ED7D31"/>
                    </a:solidFill>
                    <a:latin typeface="Arial"/>
                    <a:ea typeface="Arial"/>
                    <a:cs typeface="Arial"/>
                    <a:sym typeface="Arial"/>
                  </a:rPr>
                  <a:t>2 %</a:t>
                </a:r>
                <a:endParaRPr dirty="0"/>
              </a:p>
            </p:txBody>
          </p:sp>
          <p:sp>
            <p:nvSpPr>
              <p:cNvPr id="657" name="Google Shape;657;p35"/>
              <p:cNvSpPr/>
              <p:nvPr/>
            </p:nvSpPr>
            <p:spPr>
              <a:xfrm>
                <a:off x="3082" y="1706"/>
                <a:ext cx="841" cy="772"/>
              </a:xfrm>
              <a:custGeom>
                <a:avLst/>
                <a:gdLst/>
                <a:ahLst/>
                <a:cxnLst/>
                <a:rect l="l" t="t" r="r" b="b"/>
                <a:pathLst>
                  <a:path w="1043" h="1043" extrusionOk="0">
                    <a:moveTo>
                      <a:pt x="0" y="0"/>
                    </a:moveTo>
                    <a:lnTo>
                      <a:pt x="1043" y="0"/>
                    </a:lnTo>
                    <a:lnTo>
                      <a:pt x="1043" y="1043"/>
                    </a:lnTo>
                  </a:path>
                </a:pathLst>
              </a:custGeom>
              <a:noFill/>
              <a:ln w="19050" cap="flat" cmpd="sng">
                <a:solidFill>
                  <a:schemeClr val="dk1"/>
                </a:solidFill>
                <a:prstDash val="solid"/>
                <a:round/>
                <a:headEnd type="oval" w="med" len="med"/>
                <a:tailEnd type="none" w="med" len="med"/>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pic>
          <p:nvPicPr>
            <p:cNvPr id="658" name="Google Shape;658;p35"/>
            <p:cNvPicPr preferRelativeResize="0"/>
            <p:nvPr/>
          </p:nvPicPr>
          <p:blipFill rotWithShape="1">
            <a:blip r:embed="rId5">
              <a:alphaModFix/>
            </a:blip>
            <a:srcRect/>
            <a:stretch/>
          </p:blipFill>
          <p:spPr>
            <a:xfrm>
              <a:off x="9792899" y="3515467"/>
              <a:ext cx="621699" cy="621699"/>
            </a:xfrm>
            <a:prstGeom prst="rect">
              <a:avLst/>
            </a:prstGeom>
            <a:noFill/>
            <a:ln>
              <a:noFill/>
            </a:ln>
          </p:spPr>
        </p:pic>
      </p:grpSp>
      <p:grpSp>
        <p:nvGrpSpPr>
          <p:cNvPr id="659" name="Google Shape;659;p35"/>
          <p:cNvGrpSpPr/>
          <p:nvPr/>
        </p:nvGrpSpPr>
        <p:grpSpPr>
          <a:xfrm>
            <a:off x="6983197" y="3999232"/>
            <a:ext cx="3457575" cy="2420930"/>
            <a:chOff x="6983197" y="3788218"/>
            <a:chExt cx="3457575" cy="2420930"/>
          </a:xfrm>
        </p:grpSpPr>
        <p:grpSp>
          <p:nvGrpSpPr>
            <p:cNvPr id="660" name="Google Shape;660;p35"/>
            <p:cNvGrpSpPr/>
            <p:nvPr/>
          </p:nvGrpSpPr>
          <p:grpSpPr>
            <a:xfrm>
              <a:off x="6983197" y="3788218"/>
              <a:ext cx="3457575" cy="2232025"/>
              <a:chOff x="3379" y="2478"/>
              <a:chExt cx="2178" cy="1406"/>
            </a:xfrm>
          </p:grpSpPr>
          <p:sp>
            <p:nvSpPr>
              <p:cNvPr id="661" name="Google Shape;661;p35"/>
              <p:cNvSpPr txBox="1"/>
              <p:nvPr/>
            </p:nvSpPr>
            <p:spPr>
              <a:xfrm>
                <a:off x="3878" y="2840"/>
                <a:ext cx="1679" cy="1037"/>
              </a:xfrm>
              <a:prstGeom prst="rect">
                <a:avLst/>
              </a:prstGeom>
              <a:noFill/>
              <a:ln>
                <a:noFill/>
              </a:ln>
            </p:spPr>
            <p:txBody>
              <a:bodyPr spcFirstLastPara="1" wrap="square" lIns="91425" tIns="45700" rIns="91425" bIns="45700" anchor="t" anchorCtr="0">
                <a:spAutoFit/>
              </a:bodyPr>
              <a:lstStyle/>
              <a:p>
                <a:pPr marL="0" marR="0" lvl="0" indent="0" algn="l" rtl="0">
                  <a:lnSpc>
                    <a:spcPct val="93000"/>
                  </a:lnSpc>
                  <a:spcBef>
                    <a:spcPts val="0"/>
                  </a:spcBef>
                  <a:spcAft>
                    <a:spcPts val="0"/>
                  </a:spcAft>
                  <a:buClr>
                    <a:srgbClr val="000000"/>
                  </a:buClr>
                  <a:buSzPts val="1800"/>
                  <a:buFont typeface="Times New Roman"/>
                  <a:buNone/>
                </a:pPr>
                <a:r>
                  <a:rPr lang="fr-FR" sz="1800" dirty="0">
                    <a:solidFill>
                      <a:srgbClr val="085160"/>
                    </a:solidFill>
                    <a:latin typeface="Arial"/>
                    <a:ea typeface="Arial"/>
                    <a:cs typeface="Arial"/>
                    <a:sym typeface="Arial"/>
                  </a:rPr>
                  <a:t>Dioxyde de carbone, gaz carbonique, CO</a:t>
                </a:r>
                <a:r>
                  <a:rPr lang="fr-FR" sz="1800" baseline="-25000" dirty="0">
                    <a:solidFill>
                      <a:srgbClr val="085160"/>
                    </a:solidFill>
                    <a:latin typeface="Arial"/>
                    <a:ea typeface="Arial"/>
                    <a:cs typeface="Arial"/>
                    <a:sym typeface="Arial"/>
                  </a:rPr>
                  <a:t>2</a:t>
                </a:r>
                <a:endParaRPr dirty="0"/>
              </a:p>
              <a:p>
                <a:pPr marL="0" marR="0" lvl="0" indent="0" algn="l" rtl="0">
                  <a:lnSpc>
                    <a:spcPct val="93000"/>
                  </a:lnSpc>
                  <a:spcBef>
                    <a:spcPts val="900"/>
                  </a:spcBef>
                  <a:spcAft>
                    <a:spcPts val="0"/>
                  </a:spcAft>
                  <a:buClr>
                    <a:srgbClr val="000000"/>
                  </a:buClr>
                  <a:buSzPts val="1800"/>
                  <a:buFont typeface="Times New Roman"/>
                  <a:buNone/>
                </a:pPr>
                <a:r>
                  <a:rPr lang="fr-FR" sz="1800" dirty="0">
                    <a:solidFill>
                      <a:srgbClr val="085160"/>
                    </a:solidFill>
                    <a:latin typeface="Arial"/>
                    <a:ea typeface="Arial"/>
                    <a:cs typeface="Arial"/>
                    <a:sym typeface="Arial"/>
                  </a:rPr>
                  <a:t>Combustion d’énergie fossile</a:t>
                </a:r>
                <a:endParaRPr dirty="0"/>
              </a:p>
              <a:p>
                <a:pPr marL="0" marR="0" lvl="0" indent="0" algn="l" rtl="0">
                  <a:lnSpc>
                    <a:spcPct val="93000"/>
                  </a:lnSpc>
                  <a:spcBef>
                    <a:spcPts val="900"/>
                  </a:spcBef>
                  <a:spcAft>
                    <a:spcPts val="0"/>
                  </a:spcAft>
                  <a:buClr>
                    <a:srgbClr val="000000"/>
                  </a:buClr>
                  <a:buSzPts val="1800"/>
                  <a:buFont typeface="Times New Roman"/>
                  <a:buNone/>
                </a:pPr>
                <a:r>
                  <a:rPr lang="fr-FR" sz="1800" dirty="0">
                    <a:solidFill>
                      <a:srgbClr val="085160"/>
                    </a:solidFill>
                    <a:latin typeface="Arial"/>
                    <a:ea typeface="Arial"/>
                    <a:cs typeface="Arial"/>
                    <a:sym typeface="Arial"/>
                  </a:rPr>
                  <a:t>55 %</a:t>
                </a:r>
                <a:endParaRPr dirty="0"/>
              </a:p>
            </p:txBody>
          </p:sp>
          <p:sp>
            <p:nvSpPr>
              <p:cNvPr id="662" name="Google Shape;662;p35"/>
              <p:cNvSpPr/>
              <p:nvPr/>
            </p:nvSpPr>
            <p:spPr>
              <a:xfrm>
                <a:off x="3379" y="2478"/>
                <a:ext cx="453" cy="1406"/>
              </a:xfrm>
              <a:custGeom>
                <a:avLst/>
                <a:gdLst/>
                <a:ahLst/>
                <a:cxnLst/>
                <a:rect l="l" t="t" r="r" b="b"/>
                <a:pathLst>
                  <a:path w="453" h="1632" extrusionOk="0">
                    <a:moveTo>
                      <a:pt x="0" y="0"/>
                    </a:moveTo>
                    <a:lnTo>
                      <a:pt x="453" y="453"/>
                    </a:lnTo>
                    <a:lnTo>
                      <a:pt x="453" y="1632"/>
                    </a:lnTo>
                  </a:path>
                </a:pathLst>
              </a:custGeom>
              <a:noFill/>
              <a:ln w="19050" cap="flat" cmpd="sng">
                <a:solidFill>
                  <a:schemeClr val="dk1"/>
                </a:solidFill>
                <a:prstDash val="solid"/>
                <a:round/>
                <a:headEnd type="oval" w="med" len="med"/>
                <a:tailEnd type="none" w="med" len="med"/>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pic>
          <p:nvPicPr>
            <p:cNvPr id="663" name="Google Shape;663;p35"/>
            <p:cNvPicPr preferRelativeResize="0"/>
            <p:nvPr/>
          </p:nvPicPr>
          <p:blipFill rotWithShape="1">
            <a:blip r:embed="rId6">
              <a:alphaModFix/>
            </a:blip>
            <a:srcRect t="1" b="6116"/>
            <a:stretch/>
          </p:blipFill>
          <p:spPr>
            <a:xfrm>
              <a:off x="8690689" y="5196062"/>
              <a:ext cx="1085182" cy="1013086"/>
            </a:xfrm>
            <a:prstGeom prst="rect">
              <a:avLst/>
            </a:prstGeom>
            <a:noFill/>
            <a:ln>
              <a:noFill/>
            </a:ln>
          </p:spPr>
        </p:pic>
      </p:grpSp>
      <p:grpSp>
        <p:nvGrpSpPr>
          <p:cNvPr id="664" name="Google Shape;664;p35"/>
          <p:cNvGrpSpPr/>
          <p:nvPr/>
        </p:nvGrpSpPr>
        <p:grpSpPr>
          <a:xfrm>
            <a:off x="421839" y="4325048"/>
            <a:ext cx="4077932" cy="2166849"/>
            <a:chOff x="421838" y="4114034"/>
            <a:chExt cx="4191363" cy="2030411"/>
          </a:xfrm>
        </p:grpSpPr>
        <p:grpSp>
          <p:nvGrpSpPr>
            <p:cNvPr id="665" name="Google Shape;665;p35"/>
            <p:cNvGrpSpPr/>
            <p:nvPr/>
          </p:nvGrpSpPr>
          <p:grpSpPr>
            <a:xfrm>
              <a:off x="1227063" y="4114034"/>
              <a:ext cx="3386138" cy="2030411"/>
              <a:chOff x="22" y="2886"/>
              <a:chExt cx="2133" cy="1279"/>
            </a:xfrm>
          </p:grpSpPr>
          <p:sp>
            <p:nvSpPr>
              <p:cNvPr id="666" name="Google Shape;666;p35"/>
              <p:cNvSpPr txBox="1"/>
              <p:nvPr/>
            </p:nvSpPr>
            <p:spPr>
              <a:xfrm>
                <a:off x="22" y="3214"/>
                <a:ext cx="2133" cy="951"/>
              </a:xfrm>
              <a:prstGeom prst="rect">
                <a:avLst/>
              </a:prstGeom>
              <a:noFill/>
              <a:ln>
                <a:noFill/>
              </a:ln>
            </p:spPr>
            <p:txBody>
              <a:bodyPr spcFirstLastPara="1" wrap="square" lIns="91425" tIns="45700" rIns="91425" bIns="45700" anchor="t" anchorCtr="0">
                <a:spAutoFit/>
              </a:bodyPr>
              <a:lstStyle/>
              <a:p>
                <a:pPr marL="0" marR="0" lvl="0" indent="0" algn="r" rtl="0">
                  <a:lnSpc>
                    <a:spcPct val="93000"/>
                  </a:lnSpc>
                  <a:spcBef>
                    <a:spcPts val="0"/>
                  </a:spcBef>
                  <a:spcAft>
                    <a:spcPts val="0"/>
                  </a:spcAft>
                  <a:buClr>
                    <a:srgbClr val="000000"/>
                  </a:buClr>
                  <a:buSzPts val="1800"/>
                  <a:buFont typeface="Times New Roman"/>
                  <a:buNone/>
                </a:pPr>
                <a:r>
                  <a:rPr lang="fr-FR" sz="1800" dirty="0">
                    <a:solidFill>
                      <a:srgbClr val="F6AB38"/>
                    </a:solidFill>
                    <a:latin typeface="Arial"/>
                    <a:ea typeface="Arial"/>
                    <a:cs typeface="Arial"/>
                    <a:sym typeface="Arial"/>
                  </a:rPr>
                  <a:t>CO</a:t>
                </a:r>
                <a:r>
                  <a:rPr lang="fr-FR" sz="1800" baseline="-25000" dirty="0">
                    <a:solidFill>
                      <a:srgbClr val="F6AB38"/>
                    </a:solidFill>
                    <a:latin typeface="Arial"/>
                    <a:ea typeface="Arial"/>
                    <a:cs typeface="Arial"/>
                    <a:sym typeface="Arial"/>
                  </a:rPr>
                  <a:t>2</a:t>
                </a:r>
                <a:endParaRPr dirty="0"/>
              </a:p>
              <a:p>
                <a:pPr marL="0" marR="0" lvl="0" indent="0" algn="r" rtl="0">
                  <a:lnSpc>
                    <a:spcPct val="93000"/>
                  </a:lnSpc>
                  <a:spcBef>
                    <a:spcPts val="900"/>
                  </a:spcBef>
                  <a:spcAft>
                    <a:spcPts val="0"/>
                  </a:spcAft>
                  <a:buClr>
                    <a:srgbClr val="000000"/>
                  </a:buClr>
                  <a:buSzPts val="1800"/>
                  <a:buFont typeface="Times New Roman"/>
                  <a:buNone/>
                </a:pPr>
                <a:r>
                  <a:rPr lang="fr-FR" sz="1800" dirty="0">
                    <a:solidFill>
                      <a:srgbClr val="F6AB38"/>
                    </a:solidFill>
                    <a:latin typeface="Arial"/>
                    <a:ea typeface="Arial"/>
                    <a:cs typeface="Arial"/>
                    <a:sym typeface="Arial"/>
                  </a:rPr>
                  <a:t>Déboisement et décomposition</a:t>
                </a:r>
                <a:br>
                  <a:rPr lang="fr-FR" sz="1800" dirty="0">
                    <a:solidFill>
                      <a:srgbClr val="F6AB38"/>
                    </a:solidFill>
                    <a:latin typeface="Arial"/>
                    <a:ea typeface="Arial"/>
                    <a:cs typeface="Arial"/>
                    <a:sym typeface="Arial"/>
                  </a:rPr>
                </a:br>
                <a:r>
                  <a:rPr lang="fr-FR" sz="1800" dirty="0">
                    <a:solidFill>
                      <a:srgbClr val="F6AB38"/>
                    </a:solidFill>
                    <a:latin typeface="Arial"/>
                    <a:ea typeface="Arial"/>
                    <a:cs typeface="Arial"/>
                    <a:sym typeface="Arial"/>
                  </a:rPr>
                  <a:t>Procédés industriels</a:t>
                </a:r>
                <a:endParaRPr dirty="0"/>
              </a:p>
              <a:p>
                <a:pPr marL="0" marR="0" lvl="0" indent="0" algn="r" rtl="0">
                  <a:lnSpc>
                    <a:spcPct val="93000"/>
                  </a:lnSpc>
                  <a:spcBef>
                    <a:spcPts val="900"/>
                  </a:spcBef>
                  <a:spcAft>
                    <a:spcPts val="0"/>
                  </a:spcAft>
                  <a:buClr>
                    <a:srgbClr val="000000"/>
                  </a:buClr>
                  <a:buSzPts val="1800"/>
                  <a:buFont typeface="Times New Roman"/>
                  <a:buNone/>
                </a:pPr>
                <a:r>
                  <a:rPr lang="fr-FR" sz="1800" dirty="0">
                    <a:solidFill>
                      <a:srgbClr val="F6AB38"/>
                    </a:solidFill>
                    <a:latin typeface="Arial"/>
                    <a:ea typeface="Arial"/>
                    <a:cs typeface="Arial"/>
                    <a:sym typeface="Arial"/>
                  </a:rPr>
                  <a:t>19 %</a:t>
                </a:r>
                <a:endParaRPr dirty="0"/>
              </a:p>
            </p:txBody>
          </p:sp>
          <p:cxnSp>
            <p:nvCxnSpPr>
              <p:cNvPr id="667" name="Google Shape;667;p35"/>
              <p:cNvCxnSpPr>
                <a:cxnSpLocks/>
              </p:cNvCxnSpPr>
              <p:nvPr/>
            </p:nvCxnSpPr>
            <p:spPr>
              <a:xfrm flipV="1">
                <a:off x="1577" y="2886"/>
                <a:ext cx="577" cy="494"/>
              </a:xfrm>
              <a:prstGeom prst="straightConnector1">
                <a:avLst/>
              </a:prstGeom>
              <a:noFill/>
              <a:ln w="19050" cap="flat" cmpd="sng">
                <a:solidFill>
                  <a:schemeClr val="dk1"/>
                </a:solidFill>
                <a:prstDash val="solid"/>
                <a:round/>
                <a:headEnd type="none" w="med" len="med"/>
                <a:tailEnd type="oval" w="med" len="med"/>
              </a:ln>
            </p:spPr>
          </p:cxnSp>
        </p:grpSp>
        <p:pic>
          <p:nvPicPr>
            <p:cNvPr id="668" name="Google Shape;668;p35"/>
            <p:cNvPicPr preferRelativeResize="0"/>
            <p:nvPr/>
          </p:nvPicPr>
          <p:blipFill rotWithShape="1">
            <a:blip r:embed="rId7">
              <a:alphaModFix/>
            </a:blip>
            <a:srcRect/>
            <a:stretch/>
          </p:blipFill>
          <p:spPr>
            <a:xfrm>
              <a:off x="421838" y="4989358"/>
              <a:ext cx="732200" cy="732200"/>
            </a:xfrm>
            <a:prstGeom prst="rect">
              <a:avLst/>
            </a:prstGeom>
            <a:noFill/>
            <a:ln>
              <a:noFill/>
            </a:ln>
          </p:spPr>
        </p:pic>
      </p:grpSp>
      <p:grpSp>
        <p:nvGrpSpPr>
          <p:cNvPr id="669" name="Google Shape;669;p35"/>
          <p:cNvGrpSpPr/>
          <p:nvPr/>
        </p:nvGrpSpPr>
        <p:grpSpPr>
          <a:xfrm>
            <a:off x="17863" y="1190944"/>
            <a:ext cx="5127008" cy="1901825"/>
            <a:chOff x="17863" y="979930"/>
            <a:chExt cx="5127008" cy="1901825"/>
          </a:xfrm>
        </p:grpSpPr>
        <p:grpSp>
          <p:nvGrpSpPr>
            <p:cNvPr id="670" name="Google Shape;670;p35"/>
            <p:cNvGrpSpPr/>
            <p:nvPr/>
          </p:nvGrpSpPr>
          <p:grpSpPr>
            <a:xfrm>
              <a:off x="1619033" y="979930"/>
              <a:ext cx="3525838" cy="1901825"/>
              <a:chOff x="0" y="709"/>
              <a:chExt cx="2221" cy="1198"/>
            </a:xfrm>
          </p:grpSpPr>
          <p:sp>
            <p:nvSpPr>
              <p:cNvPr id="671" name="Google Shape;671;p35"/>
              <p:cNvSpPr txBox="1"/>
              <p:nvPr/>
            </p:nvSpPr>
            <p:spPr>
              <a:xfrm>
                <a:off x="0" y="709"/>
                <a:ext cx="1950" cy="1198"/>
              </a:xfrm>
              <a:prstGeom prst="rect">
                <a:avLst/>
              </a:prstGeom>
              <a:noFill/>
              <a:ln>
                <a:noFill/>
              </a:ln>
            </p:spPr>
            <p:txBody>
              <a:bodyPr spcFirstLastPara="1" wrap="square" lIns="91425" tIns="45700" rIns="91425" bIns="45700" anchor="t" anchorCtr="0">
                <a:spAutoFit/>
              </a:bodyPr>
              <a:lstStyle/>
              <a:p>
                <a:pPr marL="0" marR="0" lvl="0" indent="0" algn="r" rtl="0">
                  <a:lnSpc>
                    <a:spcPct val="93000"/>
                  </a:lnSpc>
                  <a:spcBef>
                    <a:spcPts val="0"/>
                  </a:spcBef>
                  <a:spcAft>
                    <a:spcPts val="0"/>
                  </a:spcAft>
                  <a:buClr>
                    <a:srgbClr val="000000"/>
                  </a:buClr>
                  <a:buSzPts val="1800"/>
                  <a:buFont typeface="Times New Roman"/>
                  <a:buNone/>
                </a:pPr>
                <a:r>
                  <a:rPr lang="fr-FR" sz="1800" dirty="0">
                    <a:solidFill>
                      <a:srgbClr val="00B0F0"/>
                    </a:solidFill>
                    <a:latin typeface="Arial"/>
                    <a:ea typeface="Arial"/>
                    <a:cs typeface="Arial"/>
                    <a:sym typeface="Arial"/>
                  </a:rPr>
                  <a:t>Méthane, CH</a:t>
                </a:r>
                <a:r>
                  <a:rPr lang="fr-FR" sz="1800" baseline="-25000" dirty="0">
                    <a:solidFill>
                      <a:srgbClr val="00B0F0"/>
                    </a:solidFill>
                    <a:latin typeface="Arial"/>
                    <a:ea typeface="Arial"/>
                    <a:cs typeface="Arial"/>
                    <a:sym typeface="Arial"/>
                  </a:rPr>
                  <a:t>4</a:t>
                </a:r>
                <a:endParaRPr dirty="0"/>
              </a:p>
              <a:p>
                <a:pPr marL="0" marR="0" lvl="0" indent="0" algn="r" rtl="0">
                  <a:lnSpc>
                    <a:spcPct val="93000"/>
                  </a:lnSpc>
                  <a:spcBef>
                    <a:spcPts val="900"/>
                  </a:spcBef>
                  <a:spcAft>
                    <a:spcPts val="0"/>
                  </a:spcAft>
                  <a:buClr>
                    <a:srgbClr val="000000"/>
                  </a:buClr>
                  <a:buSzPts val="1800"/>
                  <a:buFont typeface="Times New Roman"/>
                  <a:buNone/>
                </a:pPr>
                <a:r>
                  <a:rPr lang="fr-FR" sz="1800" dirty="0">
                    <a:solidFill>
                      <a:srgbClr val="00B0F0"/>
                    </a:solidFill>
                    <a:latin typeface="Arial"/>
                    <a:ea typeface="Arial"/>
                    <a:cs typeface="Arial"/>
                    <a:sym typeface="Arial"/>
                  </a:rPr>
                  <a:t>Décomposition / combustion sans oxygène de composés organiques (bovins, rizières, décharges, brûlis, …)</a:t>
                </a:r>
                <a:endParaRPr dirty="0"/>
              </a:p>
              <a:p>
                <a:pPr marL="0" marR="0" lvl="0" indent="0" algn="r" rtl="0">
                  <a:lnSpc>
                    <a:spcPct val="93000"/>
                  </a:lnSpc>
                  <a:spcBef>
                    <a:spcPts val="900"/>
                  </a:spcBef>
                  <a:spcAft>
                    <a:spcPts val="0"/>
                  </a:spcAft>
                  <a:buClr>
                    <a:srgbClr val="000000"/>
                  </a:buClr>
                  <a:buSzPts val="1800"/>
                  <a:buFont typeface="Times New Roman"/>
                  <a:buNone/>
                </a:pPr>
                <a:r>
                  <a:rPr lang="fr-FR" sz="1800" dirty="0">
                    <a:solidFill>
                      <a:srgbClr val="00B0F0"/>
                    </a:solidFill>
                    <a:latin typeface="Arial"/>
                    <a:ea typeface="Arial"/>
                    <a:cs typeface="Arial"/>
                    <a:sym typeface="Arial"/>
                  </a:rPr>
                  <a:t>18 %</a:t>
                </a:r>
                <a:endParaRPr dirty="0"/>
              </a:p>
            </p:txBody>
          </p:sp>
          <p:sp>
            <p:nvSpPr>
              <p:cNvPr id="672" name="Google Shape;672;p35"/>
              <p:cNvSpPr/>
              <p:nvPr/>
            </p:nvSpPr>
            <p:spPr>
              <a:xfrm>
                <a:off x="1973" y="754"/>
                <a:ext cx="248" cy="1153"/>
              </a:xfrm>
              <a:custGeom>
                <a:avLst/>
                <a:gdLst/>
                <a:ahLst/>
                <a:cxnLst/>
                <a:rect l="l" t="t" r="r" b="b"/>
                <a:pathLst>
                  <a:path w="227" h="1361" extrusionOk="0">
                    <a:moveTo>
                      <a:pt x="0" y="0"/>
                    </a:moveTo>
                    <a:lnTo>
                      <a:pt x="0" y="1088"/>
                    </a:lnTo>
                    <a:lnTo>
                      <a:pt x="227" y="1361"/>
                    </a:lnTo>
                  </a:path>
                </a:pathLst>
              </a:custGeom>
              <a:noFill/>
              <a:ln w="19050" cap="flat" cmpd="sng">
                <a:solidFill>
                  <a:schemeClr val="dk1"/>
                </a:solidFill>
                <a:prstDash val="solid"/>
                <a:round/>
                <a:headEnd type="none" w="med" len="med"/>
                <a:tailEnd type="oval" w="med" len="med"/>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pic>
          <p:nvPicPr>
            <p:cNvPr id="673" name="Google Shape;673;p35"/>
            <p:cNvPicPr preferRelativeResize="0"/>
            <p:nvPr/>
          </p:nvPicPr>
          <p:blipFill rotWithShape="1">
            <a:blip r:embed="rId8">
              <a:alphaModFix/>
            </a:blip>
            <a:srcRect/>
            <a:stretch/>
          </p:blipFill>
          <p:spPr>
            <a:xfrm>
              <a:off x="17863" y="1440673"/>
              <a:ext cx="1601170" cy="1051777"/>
            </a:xfrm>
            <a:prstGeom prst="rect">
              <a:avLst/>
            </a:prstGeom>
            <a:noFill/>
            <a:ln>
              <a:noFill/>
            </a:ln>
          </p:spPr>
        </p:pic>
      </p:grpSp>
      <p:grpSp>
        <p:nvGrpSpPr>
          <p:cNvPr id="674" name="Google Shape;674;p35"/>
          <p:cNvGrpSpPr/>
          <p:nvPr/>
        </p:nvGrpSpPr>
        <p:grpSpPr>
          <a:xfrm>
            <a:off x="1154038" y="2957830"/>
            <a:ext cx="3813035" cy="1135063"/>
            <a:chOff x="1154038" y="2746816"/>
            <a:chExt cx="3813035" cy="1135063"/>
          </a:xfrm>
        </p:grpSpPr>
        <p:grpSp>
          <p:nvGrpSpPr>
            <p:cNvPr id="675" name="Google Shape;675;p35"/>
            <p:cNvGrpSpPr/>
            <p:nvPr/>
          </p:nvGrpSpPr>
          <p:grpSpPr>
            <a:xfrm>
              <a:off x="1726986" y="2746816"/>
              <a:ext cx="3240087" cy="1135063"/>
              <a:chOff x="113" y="2115"/>
              <a:chExt cx="2041" cy="715"/>
            </a:xfrm>
          </p:grpSpPr>
          <p:sp>
            <p:nvSpPr>
              <p:cNvPr id="676" name="Google Shape;676;p35"/>
              <p:cNvSpPr txBox="1"/>
              <p:nvPr/>
            </p:nvSpPr>
            <p:spPr>
              <a:xfrm>
                <a:off x="113" y="2115"/>
                <a:ext cx="1226" cy="715"/>
              </a:xfrm>
              <a:prstGeom prst="rect">
                <a:avLst/>
              </a:prstGeom>
              <a:noFill/>
              <a:ln>
                <a:noFill/>
              </a:ln>
            </p:spPr>
            <p:txBody>
              <a:bodyPr spcFirstLastPara="1" wrap="square" lIns="91425" tIns="45700" rIns="91425" bIns="45700" anchor="t" anchorCtr="0">
                <a:spAutoFit/>
              </a:bodyPr>
              <a:lstStyle/>
              <a:p>
                <a:pPr marL="0" marR="0" lvl="0" indent="0" algn="r" rtl="0">
                  <a:lnSpc>
                    <a:spcPct val="93000"/>
                  </a:lnSpc>
                  <a:spcBef>
                    <a:spcPts val="0"/>
                  </a:spcBef>
                  <a:spcAft>
                    <a:spcPts val="0"/>
                  </a:spcAft>
                  <a:buClr>
                    <a:srgbClr val="000000"/>
                  </a:buClr>
                  <a:buSzPts val="1800"/>
                  <a:buFont typeface="Times New Roman"/>
                  <a:buNone/>
                </a:pPr>
                <a:r>
                  <a:rPr lang="fr-FR" sz="1800" dirty="0">
                    <a:solidFill>
                      <a:schemeClr val="dk1"/>
                    </a:solidFill>
                    <a:latin typeface="Arial"/>
                    <a:ea typeface="Arial"/>
                    <a:cs typeface="Arial"/>
                    <a:sym typeface="Arial"/>
                  </a:rPr>
                  <a:t>CO</a:t>
                </a:r>
                <a:r>
                  <a:rPr lang="fr-FR" sz="1800" baseline="-25000" dirty="0">
                    <a:solidFill>
                      <a:schemeClr val="dk1"/>
                    </a:solidFill>
                    <a:latin typeface="Arial"/>
                    <a:ea typeface="Arial"/>
                    <a:cs typeface="Arial"/>
                    <a:sym typeface="Arial"/>
                  </a:rPr>
                  <a:t>2</a:t>
                </a:r>
                <a:endParaRPr dirty="0"/>
              </a:p>
              <a:p>
                <a:pPr marL="0" marR="0" lvl="0" indent="0" algn="r" rtl="0">
                  <a:lnSpc>
                    <a:spcPct val="93000"/>
                  </a:lnSpc>
                  <a:spcBef>
                    <a:spcPts val="900"/>
                  </a:spcBef>
                  <a:spcAft>
                    <a:spcPts val="0"/>
                  </a:spcAft>
                  <a:buClr>
                    <a:srgbClr val="000000"/>
                  </a:buClr>
                  <a:buSzPts val="1800"/>
                  <a:buFont typeface="Times New Roman"/>
                  <a:buNone/>
                </a:pPr>
                <a:r>
                  <a:rPr lang="fr-FR" sz="1800" dirty="0">
                    <a:solidFill>
                      <a:schemeClr val="dk1"/>
                    </a:solidFill>
                    <a:latin typeface="Arial"/>
                    <a:ea typeface="Arial"/>
                    <a:cs typeface="Arial"/>
                    <a:sym typeface="Arial"/>
                  </a:rPr>
                  <a:t>Autres sources</a:t>
                </a:r>
                <a:endParaRPr dirty="0"/>
              </a:p>
              <a:p>
                <a:pPr marL="0" marR="0" lvl="0" indent="0" algn="r" rtl="0">
                  <a:lnSpc>
                    <a:spcPct val="93000"/>
                  </a:lnSpc>
                  <a:spcBef>
                    <a:spcPts val="900"/>
                  </a:spcBef>
                  <a:spcAft>
                    <a:spcPts val="0"/>
                  </a:spcAft>
                  <a:buClr>
                    <a:srgbClr val="000000"/>
                  </a:buClr>
                  <a:buSzPts val="1800"/>
                  <a:buFont typeface="Times New Roman"/>
                  <a:buNone/>
                </a:pPr>
                <a:r>
                  <a:rPr lang="fr-FR" sz="1800" dirty="0">
                    <a:solidFill>
                      <a:schemeClr val="dk1"/>
                    </a:solidFill>
                    <a:latin typeface="Arial"/>
                    <a:ea typeface="Arial"/>
                    <a:cs typeface="Arial"/>
                    <a:sym typeface="Arial"/>
                  </a:rPr>
                  <a:t>2 %</a:t>
                </a:r>
                <a:endParaRPr dirty="0"/>
              </a:p>
            </p:txBody>
          </p:sp>
          <p:cxnSp>
            <p:nvCxnSpPr>
              <p:cNvPr id="677" name="Google Shape;677;p35"/>
              <p:cNvCxnSpPr/>
              <p:nvPr/>
            </p:nvCxnSpPr>
            <p:spPr>
              <a:xfrm rot="10800000">
                <a:off x="1383" y="2160"/>
                <a:ext cx="0" cy="635"/>
              </a:xfrm>
              <a:prstGeom prst="straightConnector1">
                <a:avLst/>
              </a:prstGeom>
              <a:noFill/>
              <a:ln w="19050" cap="flat" cmpd="sng">
                <a:solidFill>
                  <a:schemeClr val="dk1"/>
                </a:solidFill>
                <a:prstDash val="solid"/>
                <a:round/>
                <a:headEnd type="none" w="med" len="med"/>
                <a:tailEnd type="none" w="med" len="med"/>
              </a:ln>
            </p:spPr>
          </p:cxnSp>
          <p:cxnSp>
            <p:nvCxnSpPr>
              <p:cNvPr id="678" name="Google Shape;678;p35"/>
              <p:cNvCxnSpPr/>
              <p:nvPr/>
            </p:nvCxnSpPr>
            <p:spPr>
              <a:xfrm>
                <a:off x="1383" y="2477"/>
                <a:ext cx="771" cy="0"/>
              </a:xfrm>
              <a:prstGeom prst="straightConnector1">
                <a:avLst/>
              </a:prstGeom>
              <a:noFill/>
              <a:ln w="19050" cap="flat" cmpd="sng">
                <a:solidFill>
                  <a:schemeClr val="dk1"/>
                </a:solidFill>
                <a:prstDash val="solid"/>
                <a:round/>
                <a:headEnd type="none" w="med" len="med"/>
                <a:tailEnd type="oval" w="med" len="med"/>
              </a:ln>
            </p:spPr>
          </p:cxnSp>
        </p:grpSp>
        <p:pic>
          <p:nvPicPr>
            <p:cNvPr id="679" name="Google Shape;679;p35"/>
            <p:cNvPicPr preferRelativeResize="0"/>
            <p:nvPr/>
          </p:nvPicPr>
          <p:blipFill rotWithShape="1">
            <a:blip r:embed="rId9">
              <a:alphaModFix/>
            </a:blip>
            <a:srcRect/>
            <a:stretch/>
          </p:blipFill>
          <p:spPr>
            <a:xfrm>
              <a:off x="1154038" y="2923472"/>
              <a:ext cx="760817" cy="760817"/>
            </a:xfrm>
            <a:prstGeom prst="rect">
              <a:avLst/>
            </a:prstGeom>
            <a:noFill/>
            <a:ln>
              <a:noFill/>
            </a:ln>
          </p:spPr>
        </p:pic>
      </p:grpSp>
      <p:sp>
        <p:nvSpPr>
          <p:cNvPr id="680" name="Google Shape;680;p35"/>
          <p:cNvSpPr/>
          <p:nvPr/>
        </p:nvSpPr>
        <p:spPr>
          <a:xfrm>
            <a:off x="611188" y="6312445"/>
            <a:ext cx="6566678" cy="30777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fr-FR" sz="1400" i="1" dirty="0">
                <a:solidFill>
                  <a:srgbClr val="085160"/>
                </a:solidFill>
                <a:latin typeface="Century Gothic"/>
                <a:ea typeface="Century Gothic"/>
                <a:cs typeface="Century Gothic"/>
                <a:sym typeface="Century Gothic"/>
              </a:rPr>
              <a:t>Source : IPCC AR6</a:t>
            </a:r>
            <a:endParaRPr sz="1400" i="1" dirty="0">
              <a:solidFill>
                <a:srgbClr val="085160"/>
              </a:solidFill>
              <a:latin typeface="Century Gothic"/>
              <a:ea typeface="Century Gothic"/>
              <a:cs typeface="Century Gothic"/>
              <a:sym typeface="Century Gothic"/>
            </a:endParaRPr>
          </a:p>
        </p:txBody>
      </p:sp>
      <p:sp>
        <p:nvSpPr>
          <p:cNvPr id="37" name="Google Shape;484;p28">
            <a:extLst>
              <a:ext uri="{FF2B5EF4-FFF2-40B4-BE49-F238E27FC236}">
                <a16:creationId xmlns:a16="http://schemas.microsoft.com/office/drawing/2014/main" id="{D717981C-0BCF-40DF-B674-6CD4E66692B5}"/>
              </a:ext>
            </a:extLst>
          </p:cNvPr>
          <p:cNvSpPr txBox="1"/>
          <p:nvPr/>
        </p:nvSpPr>
        <p:spPr>
          <a:xfrm>
            <a:off x="4714658" y="907927"/>
            <a:ext cx="4999742" cy="276959"/>
          </a:xfrm>
          <a:prstGeom prst="rect">
            <a:avLst/>
          </a:prstGeom>
          <a:solidFill>
            <a:srgbClr val="F6AB38"/>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1200" b="1">
                <a:solidFill>
                  <a:srgbClr val="FFFFFF"/>
                </a:solidFill>
                <a:latin typeface="Century Gothic"/>
                <a:ea typeface="Century Gothic"/>
                <a:cs typeface="Century Gothic"/>
                <a:sym typeface="Century Gothic"/>
              </a:rPr>
              <a:t>Il faut une unité commune avant de pouvoir compter</a:t>
            </a:r>
            <a:endParaRPr sz="1000"/>
          </a:p>
        </p:txBody>
      </p:sp>
      <p:sp>
        <p:nvSpPr>
          <p:cNvPr id="39" name="Google Shape;130;p3">
            <a:extLst>
              <a:ext uri="{FF2B5EF4-FFF2-40B4-BE49-F238E27FC236}">
                <a16:creationId xmlns:a16="http://schemas.microsoft.com/office/drawing/2014/main" id="{0E6581B1-4DE4-4E70-AE52-A8C74773D700}"/>
              </a:ext>
            </a:extLst>
          </p:cNvPr>
          <p:cNvSpPr txBox="1">
            <a:spLocks/>
          </p:cNvSpPr>
          <p:nvPr/>
        </p:nvSpPr>
        <p:spPr>
          <a:xfrm>
            <a:off x="0" y="6283204"/>
            <a:ext cx="611188" cy="365125"/>
          </a:xfrm>
          <a:prstGeom prst="rect">
            <a:avLst/>
          </a:prstGeom>
          <a:noFill/>
          <a:ln>
            <a:noFill/>
          </a:ln>
        </p:spPr>
        <p:txBody>
          <a:bodyPr spcFirstLastPara="1" wrap="square" lIns="0" tIns="0" rIns="0" bIns="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
                <a:srgbClr val="000000"/>
              </a:buClr>
              <a:buSzPts val="1400"/>
              <a:buFont typeface="Arial"/>
              <a:buNone/>
            </a:pPr>
            <a:fld id="{00000000-1234-1234-1234-123412341234}" type="slidenum">
              <a:rPr lang="fr-FR" smtClean="0"/>
              <a:pPr algn="ctr">
                <a:buClr>
                  <a:srgbClr val="000000"/>
                </a:buClr>
                <a:buSzPts val="1400"/>
                <a:buFont typeface="Arial"/>
                <a:buNone/>
              </a:pPr>
              <a:t>5</a:t>
            </a:fld>
            <a:endParaRPr lang="fr-FR" dirty="0"/>
          </a:p>
        </p:txBody>
      </p:sp>
    </p:spTree>
    <p:extLst>
      <p:ext uri="{BB962C8B-B14F-4D97-AF65-F5344CB8AC3E}">
        <p14:creationId xmlns:p14="http://schemas.microsoft.com/office/powerpoint/2010/main" val="2072888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8" name="Google Shape;688;p36"/>
          <p:cNvSpPr txBox="1">
            <a:spLocks noGrp="1"/>
          </p:cNvSpPr>
          <p:nvPr>
            <p:ph type="title"/>
          </p:nvPr>
        </p:nvSpPr>
        <p:spPr>
          <a:xfrm>
            <a:off x="2027548" y="0"/>
            <a:ext cx="8028892" cy="980728"/>
          </a:xfrm>
          <a:prstGeom prst="rect">
            <a:avLst/>
          </a:prstGeom>
          <a:noFill/>
          <a:ln>
            <a:noFill/>
          </a:ln>
        </p:spPr>
        <p:txBody>
          <a:bodyPr spcFirstLastPara="1" wrap="square" lIns="0" tIns="0" rIns="0" bIns="0" anchor="ctr" anchorCtr="0">
            <a:normAutofit/>
          </a:bodyPr>
          <a:lstStyle/>
          <a:p>
            <a:pPr marL="0" lvl="0" indent="0" algn="l" rtl="0">
              <a:spcBef>
                <a:spcPts val="0"/>
              </a:spcBef>
              <a:spcAft>
                <a:spcPts val="0"/>
              </a:spcAft>
              <a:buNone/>
            </a:pPr>
            <a:r>
              <a:rPr lang="fr-FR" sz="2400">
                <a:solidFill>
                  <a:srgbClr val="085160"/>
                </a:solidFill>
              </a:rPr>
              <a:t>Une unité de mesure commune, l’équivalent CO2</a:t>
            </a:r>
            <a:endParaRPr/>
          </a:p>
        </p:txBody>
      </p:sp>
      <p:sp>
        <p:nvSpPr>
          <p:cNvPr id="689" name="Google Shape;689;p36"/>
          <p:cNvSpPr/>
          <p:nvPr/>
        </p:nvSpPr>
        <p:spPr>
          <a:xfrm>
            <a:off x="1524000" y="-176074"/>
            <a:ext cx="181822" cy="352149"/>
          </a:xfrm>
          <a:prstGeom prst="rect">
            <a:avLst/>
          </a:prstGeom>
          <a:noFill/>
          <a:ln>
            <a:noFill/>
          </a:ln>
        </p:spPr>
        <p:txBody>
          <a:bodyPr spcFirstLastPara="1" wrap="square" lIns="90000" tIns="46800" rIns="90000" bIns="46800" anchor="ctr" anchorCtr="0">
            <a:spAutoFit/>
          </a:bodyPr>
          <a:lstStyle/>
          <a:p>
            <a:pPr marL="0" marR="0" lvl="0" indent="0" algn="l" rtl="0">
              <a:lnSpc>
                <a:spcPct val="93000"/>
              </a:lnSpc>
              <a:spcBef>
                <a:spcPts val="0"/>
              </a:spcBef>
              <a:spcAft>
                <a:spcPts val="0"/>
              </a:spcAft>
              <a:buClr>
                <a:srgbClr val="000000"/>
              </a:buClr>
              <a:buSzPts val="1800"/>
              <a:buFont typeface="Times New Roman"/>
              <a:buNone/>
            </a:pPr>
            <a:endParaRPr sz="1800">
              <a:solidFill>
                <a:schemeClr val="lt1"/>
              </a:solidFill>
              <a:latin typeface="Arial"/>
              <a:ea typeface="Arial"/>
              <a:cs typeface="Arial"/>
              <a:sym typeface="Arial"/>
            </a:endParaRPr>
          </a:p>
        </p:txBody>
      </p:sp>
      <p:sp>
        <p:nvSpPr>
          <p:cNvPr id="690" name="Google Shape;690;p36"/>
          <p:cNvSpPr/>
          <p:nvPr/>
        </p:nvSpPr>
        <p:spPr>
          <a:xfrm>
            <a:off x="1524000" y="-176074"/>
            <a:ext cx="181822" cy="352149"/>
          </a:xfrm>
          <a:prstGeom prst="rect">
            <a:avLst/>
          </a:prstGeom>
          <a:noFill/>
          <a:ln>
            <a:noFill/>
          </a:ln>
        </p:spPr>
        <p:txBody>
          <a:bodyPr spcFirstLastPara="1" wrap="square" lIns="90000" tIns="46800" rIns="90000" bIns="46800" anchor="ctr" anchorCtr="0">
            <a:spAutoFit/>
          </a:bodyPr>
          <a:lstStyle/>
          <a:p>
            <a:pPr marL="0" marR="0" lvl="0" indent="0" algn="l" rtl="0">
              <a:lnSpc>
                <a:spcPct val="93000"/>
              </a:lnSpc>
              <a:spcBef>
                <a:spcPts val="0"/>
              </a:spcBef>
              <a:spcAft>
                <a:spcPts val="0"/>
              </a:spcAft>
              <a:buClr>
                <a:srgbClr val="000000"/>
              </a:buClr>
              <a:buSzPts val="1800"/>
              <a:buFont typeface="Times New Roman"/>
              <a:buNone/>
            </a:pPr>
            <a:endParaRPr sz="1800">
              <a:solidFill>
                <a:schemeClr val="lt1"/>
              </a:solidFill>
              <a:latin typeface="Arial"/>
              <a:ea typeface="Arial"/>
              <a:cs typeface="Arial"/>
              <a:sym typeface="Arial"/>
            </a:endParaRPr>
          </a:p>
        </p:txBody>
      </p:sp>
      <p:sp>
        <p:nvSpPr>
          <p:cNvPr id="691" name="Google Shape;691;p36"/>
          <p:cNvSpPr/>
          <p:nvPr/>
        </p:nvSpPr>
        <p:spPr>
          <a:xfrm>
            <a:off x="1524000" y="-176074"/>
            <a:ext cx="181822" cy="352149"/>
          </a:xfrm>
          <a:prstGeom prst="rect">
            <a:avLst/>
          </a:prstGeom>
          <a:noFill/>
          <a:ln>
            <a:noFill/>
          </a:ln>
        </p:spPr>
        <p:txBody>
          <a:bodyPr spcFirstLastPara="1" wrap="square" lIns="90000" tIns="46800" rIns="90000" bIns="46800" anchor="ctr" anchorCtr="0">
            <a:spAutoFit/>
          </a:bodyPr>
          <a:lstStyle/>
          <a:p>
            <a:pPr marL="0" marR="0" lvl="0" indent="0" algn="l" rtl="0">
              <a:lnSpc>
                <a:spcPct val="93000"/>
              </a:lnSpc>
              <a:spcBef>
                <a:spcPts val="0"/>
              </a:spcBef>
              <a:spcAft>
                <a:spcPts val="0"/>
              </a:spcAft>
              <a:buClr>
                <a:srgbClr val="000000"/>
              </a:buClr>
              <a:buSzPts val="1800"/>
              <a:buFont typeface="Times New Roman"/>
              <a:buNone/>
            </a:pPr>
            <a:endParaRPr sz="1800">
              <a:solidFill>
                <a:schemeClr val="lt1"/>
              </a:solidFill>
              <a:latin typeface="Arial"/>
              <a:ea typeface="Arial"/>
              <a:cs typeface="Arial"/>
              <a:sym typeface="Arial"/>
            </a:endParaRPr>
          </a:p>
        </p:txBody>
      </p:sp>
      <p:sp>
        <p:nvSpPr>
          <p:cNvPr id="692" name="Google Shape;692;p36"/>
          <p:cNvSpPr/>
          <p:nvPr/>
        </p:nvSpPr>
        <p:spPr>
          <a:xfrm>
            <a:off x="1524000" y="-176074"/>
            <a:ext cx="181822" cy="352149"/>
          </a:xfrm>
          <a:prstGeom prst="rect">
            <a:avLst/>
          </a:prstGeom>
          <a:noFill/>
          <a:ln>
            <a:noFill/>
          </a:ln>
        </p:spPr>
        <p:txBody>
          <a:bodyPr spcFirstLastPara="1" wrap="square" lIns="90000" tIns="46800" rIns="90000" bIns="46800" anchor="ctr" anchorCtr="0">
            <a:spAutoFit/>
          </a:bodyPr>
          <a:lstStyle/>
          <a:p>
            <a:pPr marL="0" marR="0" lvl="0" indent="0" algn="l" rtl="0">
              <a:lnSpc>
                <a:spcPct val="93000"/>
              </a:lnSpc>
              <a:spcBef>
                <a:spcPts val="0"/>
              </a:spcBef>
              <a:spcAft>
                <a:spcPts val="0"/>
              </a:spcAft>
              <a:buClr>
                <a:srgbClr val="000000"/>
              </a:buClr>
              <a:buSzPts val="1800"/>
              <a:buFont typeface="Times New Roman"/>
              <a:buNone/>
            </a:pPr>
            <a:endParaRPr sz="1800">
              <a:solidFill>
                <a:schemeClr val="lt1"/>
              </a:solidFill>
              <a:latin typeface="Arial"/>
              <a:ea typeface="Arial"/>
              <a:cs typeface="Arial"/>
              <a:sym typeface="Arial"/>
            </a:endParaRPr>
          </a:p>
        </p:txBody>
      </p:sp>
      <p:sp>
        <p:nvSpPr>
          <p:cNvPr id="693" name="Google Shape;693;p36"/>
          <p:cNvSpPr/>
          <p:nvPr/>
        </p:nvSpPr>
        <p:spPr>
          <a:xfrm>
            <a:off x="1524000" y="-176074"/>
            <a:ext cx="181822" cy="352149"/>
          </a:xfrm>
          <a:prstGeom prst="rect">
            <a:avLst/>
          </a:prstGeom>
          <a:noFill/>
          <a:ln>
            <a:noFill/>
          </a:ln>
        </p:spPr>
        <p:txBody>
          <a:bodyPr spcFirstLastPara="1" wrap="square" lIns="90000" tIns="46800" rIns="90000" bIns="46800" anchor="ctr" anchorCtr="0">
            <a:spAutoFit/>
          </a:bodyPr>
          <a:lstStyle/>
          <a:p>
            <a:pPr marL="0" marR="0" lvl="0" indent="0" algn="l" rtl="0">
              <a:lnSpc>
                <a:spcPct val="93000"/>
              </a:lnSpc>
              <a:spcBef>
                <a:spcPts val="0"/>
              </a:spcBef>
              <a:spcAft>
                <a:spcPts val="0"/>
              </a:spcAft>
              <a:buClr>
                <a:srgbClr val="000000"/>
              </a:buClr>
              <a:buSzPts val="1800"/>
              <a:buFont typeface="Times New Roman"/>
              <a:buNone/>
            </a:pPr>
            <a:endParaRPr sz="1800">
              <a:solidFill>
                <a:schemeClr val="lt1"/>
              </a:solidFill>
              <a:latin typeface="Arial"/>
              <a:ea typeface="Arial"/>
              <a:cs typeface="Arial"/>
              <a:sym typeface="Arial"/>
            </a:endParaRPr>
          </a:p>
        </p:txBody>
      </p:sp>
      <p:sp>
        <p:nvSpPr>
          <p:cNvPr id="694" name="Google Shape;694;p36"/>
          <p:cNvSpPr txBox="1"/>
          <p:nvPr/>
        </p:nvSpPr>
        <p:spPr>
          <a:xfrm>
            <a:off x="0" y="2276474"/>
            <a:ext cx="12224084" cy="358851"/>
          </a:xfrm>
          <a:prstGeom prst="rect">
            <a:avLst/>
          </a:prstGeom>
          <a:solidFill>
            <a:srgbClr val="F6AB38"/>
          </a:solidFill>
          <a:ln>
            <a:noFill/>
          </a:ln>
        </p:spPr>
        <p:txBody>
          <a:bodyPr spcFirstLastPara="1" wrap="square" lIns="91425" tIns="45700" rIns="91425" bIns="45700" anchor="t" anchorCtr="0">
            <a:spAutoFit/>
          </a:bodyPr>
          <a:lstStyle/>
          <a:p>
            <a:pPr marL="0" marR="0" lvl="0" indent="0" algn="ctr" rtl="0">
              <a:lnSpc>
                <a:spcPct val="93000"/>
              </a:lnSpc>
              <a:spcBef>
                <a:spcPts val="0"/>
              </a:spcBef>
              <a:spcAft>
                <a:spcPts val="0"/>
              </a:spcAft>
              <a:buClr>
                <a:srgbClr val="000000"/>
              </a:buClr>
              <a:buSzPts val="1800"/>
              <a:buFont typeface="Times New Roman"/>
              <a:buNone/>
            </a:pPr>
            <a:r>
              <a:rPr lang="fr-FR" sz="1800" b="1">
                <a:solidFill>
                  <a:schemeClr val="lt1"/>
                </a:solidFill>
                <a:latin typeface="Century Gothic"/>
                <a:ea typeface="Century Gothic"/>
                <a:cs typeface="Century Gothic"/>
                <a:sym typeface="Century Gothic"/>
              </a:rPr>
              <a:t>On compare à la quantité de CO</a:t>
            </a:r>
            <a:r>
              <a:rPr lang="fr-FR" sz="1800" b="1" baseline="-25000">
                <a:solidFill>
                  <a:schemeClr val="lt1"/>
                </a:solidFill>
                <a:latin typeface="Century Gothic"/>
                <a:ea typeface="Century Gothic"/>
                <a:cs typeface="Century Gothic"/>
                <a:sym typeface="Century Gothic"/>
              </a:rPr>
              <a:t>2</a:t>
            </a:r>
            <a:r>
              <a:rPr lang="fr-FR" sz="1800" b="1">
                <a:solidFill>
                  <a:schemeClr val="lt1"/>
                </a:solidFill>
                <a:latin typeface="Century Gothic"/>
                <a:ea typeface="Century Gothic"/>
                <a:cs typeface="Century Gothic"/>
                <a:sym typeface="Century Gothic"/>
              </a:rPr>
              <a:t> qui engendre le même réchauffement sur 100 ans</a:t>
            </a:r>
            <a:endParaRPr/>
          </a:p>
        </p:txBody>
      </p:sp>
      <p:sp>
        <p:nvSpPr>
          <p:cNvPr id="695" name="Google Shape;695;p36"/>
          <p:cNvSpPr txBox="1"/>
          <p:nvPr/>
        </p:nvSpPr>
        <p:spPr>
          <a:xfrm>
            <a:off x="6142038" y="4437063"/>
            <a:ext cx="4418012" cy="431800"/>
          </a:xfrm>
          <a:prstGeom prst="rect">
            <a:avLst/>
          </a:prstGeom>
          <a:noFill/>
          <a:ln>
            <a:noFill/>
          </a:ln>
        </p:spPr>
        <p:txBody>
          <a:bodyPr spcFirstLastPara="1" wrap="square" lIns="91425" tIns="45700" rIns="91425" bIns="45700" anchor="t" anchorCtr="0">
            <a:spAutoFit/>
          </a:bodyPr>
          <a:lstStyle/>
          <a:p>
            <a:pPr marL="0" marR="0" lvl="0" indent="0" algn="l" rtl="0">
              <a:lnSpc>
                <a:spcPct val="93000"/>
              </a:lnSpc>
              <a:spcBef>
                <a:spcPts val="0"/>
              </a:spcBef>
              <a:spcAft>
                <a:spcPts val="0"/>
              </a:spcAft>
              <a:buClr>
                <a:srgbClr val="000000"/>
              </a:buClr>
              <a:buSzPts val="2400"/>
              <a:buFont typeface="Times New Roman"/>
              <a:buNone/>
            </a:pPr>
            <a:r>
              <a:rPr lang="fr-FR" sz="2400" b="1">
                <a:solidFill>
                  <a:schemeClr val="dk1"/>
                </a:solidFill>
                <a:latin typeface="Century Gothic"/>
                <a:ea typeface="Century Gothic"/>
                <a:cs typeface="Century Gothic"/>
                <a:sym typeface="Century Gothic"/>
              </a:rPr>
              <a:t>1 kg CH</a:t>
            </a:r>
            <a:r>
              <a:rPr lang="fr-FR" sz="2400" b="1" baseline="-25000">
                <a:solidFill>
                  <a:schemeClr val="dk1"/>
                </a:solidFill>
                <a:latin typeface="Century Gothic"/>
                <a:ea typeface="Century Gothic"/>
                <a:cs typeface="Century Gothic"/>
                <a:sym typeface="Century Gothic"/>
              </a:rPr>
              <a:t>4</a:t>
            </a:r>
            <a:r>
              <a:rPr lang="fr-FR" sz="2400" b="1">
                <a:solidFill>
                  <a:schemeClr val="dk1"/>
                </a:solidFill>
                <a:latin typeface="Century Gothic"/>
                <a:ea typeface="Century Gothic"/>
                <a:cs typeface="Century Gothic"/>
                <a:sym typeface="Century Gothic"/>
              </a:rPr>
              <a:t> = 28 kg CO2e</a:t>
            </a:r>
            <a:endParaRPr sz="2400" b="1" baseline="-25000">
              <a:solidFill>
                <a:schemeClr val="dk1"/>
              </a:solidFill>
              <a:latin typeface="Century Gothic"/>
              <a:ea typeface="Century Gothic"/>
              <a:cs typeface="Century Gothic"/>
              <a:sym typeface="Century Gothic"/>
            </a:endParaRPr>
          </a:p>
        </p:txBody>
      </p:sp>
      <p:sp>
        <p:nvSpPr>
          <p:cNvPr id="696" name="Google Shape;696;p36"/>
          <p:cNvSpPr txBox="1"/>
          <p:nvPr/>
        </p:nvSpPr>
        <p:spPr>
          <a:xfrm>
            <a:off x="6142038" y="5373688"/>
            <a:ext cx="4418012" cy="431800"/>
          </a:xfrm>
          <a:prstGeom prst="rect">
            <a:avLst/>
          </a:prstGeom>
          <a:noFill/>
          <a:ln>
            <a:noFill/>
          </a:ln>
        </p:spPr>
        <p:txBody>
          <a:bodyPr spcFirstLastPara="1" wrap="square" lIns="91425" tIns="45700" rIns="91425" bIns="45700" anchor="t" anchorCtr="0">
            <a:spAutoFit/>
          </a:bodyPr>
          <a:lstStyle/>
          <a:p>
            <a:pPr marL="0" marR="0" lvl="0" indent="0" algn="l" rtl="0">
              <a:lnSpc>
                <a:spcPct val="93000"/>
              </a:lnSpc>
              <a:spcBef>
                <a:spcPts val="0"/>
              </a:spcBef>
              <a:spcAft>
                <a:spcPts val="0"/>
              </a:spcAft>
              <a:buClr>
                <a:srgbClr val="000000"/>
              </a:buClr>
              <a:buSzPts val="2400"/>
              <a:buFont typeface="Times New Roman"/>
              <a:buNone/>
            </a:pPr>
            <a:r>
              <a:rPr lang="fr-FR" sz="2400" b="1">
                <a:solidFill>
                  <a:schemeClr val="dk1"/>
                </a:solidFill>
                <a:latin typeface="Century Gothic"/>
                <a:ea typeface="Century Gothic"/>
                <a:cs typeface="Century Gothic"/>
                <a:sym typeface="Century Gothic"/>
              </a:rPr>
              <a:t>1 kg N</a:t>
            </a:r>
            <a:r>
              <a:rPr lang="fr-FR" sz="2400" b="1" baseline="-25000">
                <a:solidFill>
                  <a:schemeClr val="dk1"/>
                </a:solidFill>
                <a:latin typeface="Century Gothic"/>
                <a:ea typeface="Century Gothic"/>
                <a:cs typeface="Century Gothic"/>
                <a:sym typeface="Century Gothic"/>
              </a:rPr>
              <a:t>2</a:t>
            </a:r>
            <a:r>
              <a:rPr lang="fr-FR" sz="2400" b="1">
                <a:solidFill>
                  <a:schemeClr val="dk1"/>
                </a:solidFill>
                <a:latin typeface="Century Gothic"/>
                <a:ea typeface="Century Gothic"/>
                <a:cs typeface="Century Gothic"/>
                <a:sym typeface="Century Gothic"/>
              </a:rPr>
              <a:t>O = 265 kg CO2e</a:t>
            </a:r>
            <a:endParaRPr sz="2400" b="1" baseline="-25000">
              <a:solidFill>
                <a:schemeClr val="dk1"/>
              </a:solidFill>
              <a:latin typeface="Century Gothic"/>
              <a:ea typeface="Century Gothic"/>
              <a:cs typeface="Century Gothic"/>
              <a:sym typeface="Century Gothic"/>
            </a:endParaRPr>
          </a:p>
        </p:txBody>
      </p:sp>
      <p:sp>
        <p:nvSpPr>
          <p:cNvPr id="697" name="Google Shape;697;p36"/>
          <p:cNvSpPr txBox="1"/>
          <p:nvPr/>
        </p:nvSpPr>
        <p:spPr>
          <a:xfrm>
            <a:off x="6142038" y="3500438"/>
            <a:ext cx="4418012" cy="431800"/>
          </a:xfrm>
          <a:prstGeom prst="rect">
            <a:avLst/>
          </a:prstGeom>
          <a:noFill/>
          <a:ln>
            <a:noFill/>
          </a:ln>
        </p:spPr>
        <p:txBody>
          <a:bodyPr spcFirstLastPara="1" wrap="square" lIns="91425" tIns="45700" rIns="91425" bIns="45700" anchor="t" anchorCtr="0">
            <a:spAutoFit/>
          </a:bodyPr>
          <a:lstStyle/>
          <a:p>
            <a:pPr marL="0" marR="0" lvl="0" indent="0" algn="l" rtl="0">
              <a:lnSpc>
                <a:spcPct val="93000"/>
              </a:lnSpc>
              <a:spcBef>
                <a:spcPts val="0"/>
              </a:spcBef>
              <a:spcAft>
                <a:spcPts val="0"/>
              </a:spcAft>
              <a:buClr>
                <a:srgbClr val="000000"/>
              </a:buClr>
              <a:buSzPts val="2400"/>
              <a:buFont typeface="Times New Roman"/>
              <a:buNone/>
            </a:pPr>
            <a:r>
              <a:rPr lang="fr-FR" sz="2400" b="1">
                <a:solidFill>
                  <a:schemeClr val="dk1"/>
                </a:solidFill>
                <a:latin typeface="Century Gothic"/>
                <a:ea typeface="Century Gothic"/>
                <a:cs typeface="Century Gothic"/>
                <a:sym typeface="Century Gothic"/>
              </a:rPr>
              <a:t>1 kg CO</a:t>
            </a:r>
            <a:r>
              <a:rPr lang="fr-FR" sz="2400" b="1" baseline="-25000">
                <a:solidFill>
                  <a:schemeClr val="dk1"/>
                </a:solidFill>
                <a:latin typeface="Century Gothic"/>
                <a:ea typeface="Century Gothic"/>
                <a:cs typeface="Century Gothic"/>
                <a:sym typeface="Century Gothic"/>
              </a:rPr>
              <a:t>2</a:t>
            </a:r>
            <a:r>
              <a:rPr lang="fr-FR" sz="2400" b="1">
                <a:solidFill>
                  <a:schemeClr val="dk1"/>
                </a:solidFill>
                <a:latin typeface="Century Gothic"/>
                <a:ea typeface="Century Gothic"/>
                <a:cs typeface="Century Gothic"/>
                <a:sym typeface="Century Gothic"/>
              </a:rPr>
              <a:t> = 1 kg CO2e</a:t>
            </a:r>
            <a:endParaRPr sz="2400" b="1" baseline="-25000">
              <a:solidFill>
                <a:schemeClr val="dk1"/>
              </a:solidFill>
              <a:latin typeface="Century Gothic"/>
              <a:ea typeface="Century Gothic"/>
              <a:cs typeface="Century Gothic"/>
              <a:sym typeface="Century Gothic"/>
            </a:endParaRPr>
          </a:p>
        </p:txBody>
      </p:sp>
      <p:pic>
        <p:nvPicPr>
          <p:cNvPr id="698" name="Google Shape;698;p36" descr="Gaz2"/>
          <p:cNvPicPr preferRelativeResize="0"/>
          <p:nvPr/>
        </p:nvPicPr>
        <p:blipFill rotWithShape="1">
          <a:blip r:embed="rId3">
            <a:alphaModFix/>
          </a:blip>
          <a:srcRect/>
          <a:stretch/>
        </p:blipFill>
        <p:spPr>
          <a:xfrm>
            <a:off x="2424113" y="908050"/>
            <a:ext cx="7180262" cy="1238250"/>
          </a:xfrm>
          <a:prstGeom prst="rect">
            <a:avLst/>
          </a:prstGeom>
          <a:noFill/>
          <a:ln>
            <a:noFill/>
          </a:ln>
        </p:spPr>
      </p:pic>
      <p:pic>
        <p:nvPicPr>
          <p:cNvPr id="699" name="Google Shape;699;p36" descr="BalanceN2O"/>
          <p:cNvPicPr preferRelativeResize="0"/>
          <p:nvPr/>
        </p:nvPicPr>
        <p:blipFill rotWithShape="1">
          <a:blip r:embed="rId4">
            <a:alphaModFix/>
          </a:blip>
          <a:srcRect/>
          <a:stretch/>
        </p:blipFill>
        <p:spPr>
          <a:xfrm>
            <a:off x="2063750" y="2780928"/>
            <a:ext cx="2740824" cy="3229260"/>
          </a:xfrm>
          <a:prstGeom prst="rect">
            <a:avLst/>
          </a:prstGeom>
          <a:noFill/>
          <a:ln>
            <a:noFill/>
          </a:ln>
        </p:spPr>
      </p:pic>
      <p:sp>
        <p:nvSpPr>
          <p:cNvPr id="14" name="Google Shape;130;p3">
            <a:extLst>
              <a:ext uri="{FF2B5EF4-FFF2-40B4-BE49-F238E27FC236}">
                <a16:creationId xmlns:a16="http://schemas.microsoft.com/office/drawing/2014/main" id="{20130131-066E-4354-8469-2235C087F4DB}"/>
              </a:ext>
            </a:extLst>
          </p:cNvPr>
          <p:cNvSpPr txBox="1">
            <a:spLocks/>
          </p:cNvSpPr>
          <p:nvPr/>
        </p:nvSpPr>
        <p:spPr>
          <a:xfrm>
            <a:off x="0" y="6259758"/>
            <a:ext cx="611188" cy="365125"/>
          </a:xfrm>
          <a:prstGeom prst="rect">
            <a:avLst/>
          </a:prstGeom>
          <a:noFill/>
          <a:ln>
            <a:noFill/>
          </a:ln>
        </p:spPr>
        <p:txBody>
          <a:bodyPr spcFirstLastPara="1" wrap="square" lIns="0" tIns="0" rIns="0" bIns="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
                <a:srgbClr val="000000"/>
              </a:buClr>
              <a:buSzPts val="1400"/>
              <a:buFont typeface="Arial"/>
              <a:buNone/>
            </a:pPr>
            <a:fld id="{00000000-1234-1234-1234-123412341234}" type="slidenum">
              <a:rPr lang="fr-FR" smtClean="0"/>
              <a:pPr algn="ctr">
                <a:buClr>
                  <a:srgbClr val="000000"/>
                </a:buClr>
                <a:buSzPts val="1400"/>
                <a:buFont typeface="Arial"/>
                <a:buNone/>
              </a:pPr>
              <a:t>6</a:t>
            </a:fld>
            <a:endParaRPr lang="fr-FR" dirty="0"/>
          </a:p>
        </p:txBody>
      </p:sp>
    </p:spTree>
    <p:extLst>
      <p:ext uri="{BB962C8B-B14F-4D97-AF65-F5344CB8AC3E}">
        <p14:creationId xmlns:p14="http://schemas.microsoft.com/office/powerpoint/2010/main" val="20820303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p38"/>
          <p:cNvSpPr txBox="1">
            <a:spLocks noGrp="1"/>
          </p:cNvSpPr>
          <p:nvPr>
            <p:ph type="title"/>
          </p:nvPr>
        </p:nvSpPr>
        <p:spPr>
          <a:xfrm>
            <a:off x="2027548" y="0"/>
            <a:ext cx="8028892" cy="9807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fr-FR"/>
              <a:t>Comment quantifier les émissions de GES ?</a:t>
            </a:r>
            <a:endParaRPr/>
          </a:p>
        </p:txBody>
      </p:sp>
      <p:sp>
        <p:nvSpPr>
          <p:cNvPr id="715" name="Google Shape;715;p38"/>
          <p:cNvSpPr txBox="1">
            <a:spLocks noGrp="1"/>
          </p:cNvSpPr>
          <p:nvPr>
            <p:ph type="body" idx="1"/>
          </p:nvPr>
        </p:nvSpPr>
        <p:spPr>
          <a:xfrm>
            <a:off x="609600" y="1052736"/>
            <a:ext cx="10972800" cy="48574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2200"/>
              <a:buNone/>
            </a:pPr>
            <a:r>
              <a:rPr lang="fr-FR" sz="2200"/>
              <a:t>Mesure directe</a:t>
            </a:r>
            <a:endParaRPr/>
          </a:p>
          <a:p>
            <a:pPr marL="742950" lvl="1" indent="-285750" algn="l" rtl="0">
              <a:spcBef>
                <a:spcPts val="440"/>
              </a:spcBef>
              <a:spcAft>
                <a:spcPts val="0"/>
              </a:spcAft>
              <a:buClr>
                <a:schemeClr val="dk1"/>
              </a:buClr>
              <a:buSzPts val="2200"/>
              <a:buChar char="•"/>
            </a:pPr>
            <a:r>
              <a:rPr lang="fr-FR" sz="2200"/>
              <a:t>Très précis mais contraignant</a:t>
            </a:r>
            <a:endParaRPr/>
          </a:p>
          <a:p>
            <a:pPr marL="742950" lvl="1" indent="-285750" algn="l" rtl="0">
              <a:spcBef>
                <a:spcPts val="440"/>
              </a:spcBef>
              <a:spcAft>
                <a:spcPts val="0"/>
              </a:spcAft>
              <a:buClr>
                <a:schemeClr val="dk1"/>
              </a:buClr>
              <a:buSzPts val="2200"/>
              <a:buChar char="•"/>
            </a:pPr>
            <a:r>
              <a:rPr lang="fr-FR" sz="2200"/>
              <a:t>Souvent </a:t>
            </a:r>
            <a:r>
              <a:rPr lang="fr-FR" sz="2200" b="1"/>
              <a:t>impossible</a:t>
            </a:r>
            <a:r>
              <a:rPr lang="fr-FR" sz="2200"/>
              <a:t> car les émissions ont lieu hors site</a:t>
            </a:r>
            <a:br>
              <a:rPr lang="fr-FR" sz="2200"/>
            </a:br>
            <a:r>
              <a:rPr lang="fr-FR" sz="2200"/>
              <a:t>(ex : électricité) et/ou sont passées (ex : fabrication)</a:t>
            </a:r>
            <a:endParaRPr/>
          </a:p>
          <a:p>
            <a:pPr marL="0" lvl="0" indent="0" algn="l" rtl="0">
              <a:spcBef>
                <a:spcPts val="440"/>
              </a:spcBef>
              <a:spcAft>
                <a:spcPts val="0"/>
              </a:spcAft>
              <a:buSzPts val="2200"/>
              <a:buNone/>
            </a:pPr>
            <a:endParaRPr sz="2200"/>
          </a:p>
          <a:p>
            <a:pPr marL="0" lvl="0" indent="0" algn="l" rtl="0">
              <a:spcBef>
                <a:spcPts val="440"/>
              </a:spcBef>
              <a:spcAft>
                <a:spcPts val="0"/>
              </a:spcAft>
              <a:buSzPts val="2200"/>
              <a:buNone/>
            </a:pPr>
            <a:r>
              <a:rPr lang="fr-FR" sz="2200"/>
              <a:t>Estimation par un facteur d’émission</a:t>
            </a:r>
            <a:endParaRPr/>
          </a:p>
          <a:p>
            <a:pPr marL="742950" lvl="1" indent="-285750" algn="l" rtl="0">
              <a:spcBef>
                <a:spcPts val="440"/>
              </a:spcBef>
              <a:spcAft>
                <a:spcPts val="0"/>
              </a:spcAft>
              <a:buClr>
                <a:schemeClr val="dk1"/>
              </a:buClr>
              <a:buSzPts val="2200"/>
              <a:buChar char="•"/>
            </a:pPr>
            <a:r>
              <a:rPr lang="fr-FR" sz="2200"/>
              <a:t>Le facteur d’émission est le résultat d’une étude et représente </a:t>
            </a:r>
            <a:r>
              <a:rPr lang="fr-FR" sz="2200" b="1"/>
              <a:t>la quantité moyenne de GES émis par une unité de référence</a:t>
            </a:r>
            <a:endParaRPr/>
          </a:p>
          <a:p>
            <a:pPr marL="742950" lvl="1" indent="-285750" algn="l" rtl="0">
              <a:spcBef>
                <a:spcPts val="440"/>
              </a:spcBef>
              <a:spcAft>
                <a:spcPts val="0"/>
              </a:spcAft>
              <a:buClr>
                <a:schemeClr val="dk1"/>
              </a:buClr>
              <a:buSzPts val="2200"/>
              <a:buChar char="•"/>
            </a:pPr>
            <a:r>
              <a:rPr lang="fr-FR" sz="2200"/>
              <a:t>Moins précis mais suffisant pour nos besoins</a:t>
            </a:r>
            <a:endParaRPr/>
          </a:p>
        </p:txBody>
      </p:sp>
      <p:pic>
        <p:nvPicPr>
          <p:cNvPr id="716" name="Google Shape;716;p38" descr="controle-antipollution"/>
          <p:cNvPicPr preferRelativeResize="0"/>
          <p:nvPr/>
        </p:nvPicPr>
        <p:blipFill rotWithShape="1">
          <a:blip r:embed="rId3">
            <a:alphaModFix/>
          </a:blip>
          <a:srcRect/>
          <a:stretch/>
        </p:blipFill>
        <p:spPr>
          <a:xfrm>
            <a:off x="9591600" y="908720"/>
            <a:ext cx="1905000" cy="1428750"/>
          </a:xfrm>
          <a:prstGeom prst="rect">
            <a:avLst/>
          </a:prstGeom>
          <a:noFill/>
          <a:ln>
            <a:noFill/>
          </a:ln>
        </p:spPr>
      </p:pic>
      <p:pic>
        <p:nvPicPr>
          <p:cNvPr id="717" name="Google Shape;717;p38"/>
          <p:cNvPicPr preferRelativeResize="0"/>
          <p:nvPr/>
        </p:nvPicPr>
        <p:blipFill rotWithShape="1">
          <a:blip r:embed="rId4">
            <a:alphaModFix/>
          </a:blip>
          <a:srcRect l="7440" t="7903" r="7277" b="3336"/>
          <a:stretch/>
        </p:blipFill>
        <p:spPr>
          <a:xfrm>
            <a:off x="3027840" y="4725144"/>
            <a:ext cx="1508019" cy="1747838"/>
          </a:xfrm>
          <a:prstGeom prst="rect">
            <a:avLst/>
          </a:prstGeom>
          <a:noFill/>
          <a:ln>
            <a:noFill/>
          </a:ln>
        </p:spPr>
      </p:pic>
      <p:sp>
        <p:nvSpPr>
          <p:cNvPr id="718" name="Google Shape;718;p38"/>
          <p:cNvSpPr txBox="1"/>
          <p:nvPr/>
        </p:nvSpPr>
        <p:spPr>
          <a:xfrm>
            <a:off x="9342859" y="2332063"/>
            <a:ext cx="2341562" cy="457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200"/>
              <a:buFont typeface="Noto Sans Symbols"/>
              <a:buNone/>
            </a:pPr>
            <a:r>
              <a:rPr lang="fr-FR" sz="1200">
                <a:solidFill>
                  <a:schemeClr val="dk1"/>
                </a:solidFill>
                <a:latin typeface="Arial"/>
                <a:ea typeface="Arial"/>
                <a:cs typeface="Arial"/>
                <a:sym typeface="Arial"/>
              </a:rPr>
              <a:t>Mesure directe de gaz polluants au contrôle technique</a:t>
            </a:r>
            <a:endParaRPr/>
          </a:p>
        </p:txBody>
      </p:sp>
      <p:pic>
        <p:nvPicPr>
          <p:cNvPr id="719" name="Google Shape;719;p38" descr="Gaz2"/>
          <p:cNvPicPr preferRelativeResize="0"/>
          <p:nvPr/>
        </p:nvPicPr>
        <p:blipFill rotWithShape="1">
          <a:blip r:embed="rId5">
            <a:alphaModFix/>
          </a:blip>
          <a:srcRect r="74622" b="44185"/>
          <a:stretch/>
        </p:blipFill>
        <p:spPr>
          <a:xfrm>
            <a:off x="4367808" y="5459697"/>
            <a:ext cx="1822235" cy="691133"/>
          </a:xfrm>
          <a:prstGeom prst="rect">
            <a:avLst/>
          </a:prstGeom>
          <a:noFill/>
          <a:ln>
            <a:noFill/>
          </a:ln>
        </p:spPr>
      </p:pic>
      <p:grpSp>
        <p:nvGrpSpPr>
          <p:cNvPr id="720" name="Google Shape;720;p38"/>
          <p:cNvGrpSpPr/>
          <p:nvPr/>
        </p:nvGrpSpPr>
        <p:grpSpPr>
          <a:xfrm flipH="1">
            <a:off x="5597956" y="4327757"/>
            <a:ext cx="2816484" cy="2955014"/>
            <a:chOff x="93862" y="4314179"/>
            <a:chExt cx="3524724" cy="3401983"/>
          </a:xfrm>
        </p:grpSpPr>
        <p:sp>
          <p:nvSpPr>
            <p:cNvPr id="721" name="Google Shape;721;p38"/>
            <p:cNvSpPr/>
            <p:nvPr/>
          </p:nvSpPr>
          <p:spPr>
            <a:xfrm>
              <a:off x="3258546" y="6236420"/>
              <a:ext cx="360040" cy="144016"/>
            </a:xfrm>
            <a:prstGeom prst="rect">
              <a:avLst/>
            </a:prstGeom>
            <a:solidFill>
              <a:srgbClr val="3F3F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722" name="Google Shape;722;p38"/>
            <p:cNvPicPr preferRelativeResize="0"/>
            <p:nvPr/>
          </p:nvPicPr>
          <p:blipFill rotWithShape="1">
            <a:blip r:embed="rId6">
              <a:alphaModFix/>
            </a:blip>
            <a:srcRect/>
            <a:stretch/>
          </p:blipFill>
          <p:spPr>
            <a:xfrm>
              <a:off x="93862" y="4314179"/>
              <a:ext cx="3401983" cy="3401983"/>
            </a:xfrm>
            <a:prstGeom prst="rect">
              <a:avLst/>
            </a:prstGeom>
            <a:noFill/>
            <a:ln>
              <a:noFill/>
            </a:ln>
          </p:spPr>
        </p:pic>
      </p:grpSp>
      <p:pic>
        <p:nvPicPr>
          <p:cNvPr id="723" name="Google Shape;723;p38"/>
          <p:cNvPicPr preferRelativeResize="0"/>
          <p:nvPr/>
        </p:nvPicPr>
        <p:blipFill rotWithShape="1">
          <a:blip r:embed="rId7">
            <a:alphaModFix/>
          </a:blip>
          <a:srcRect r="5024"/>
          <a:stretch/>
        </p:blipFill>
        <p:spPr>
          <a:xfrm>
            <a:off x="9803696" y="4523865"/>
            <a:ext cx="1692904" cy="1871663"/>
          </a:xfrm>
          <a:prstGeom prst="rect">
            <a:avLst/>
          </a:prstGeom>
          <a:noFill/>
          <a:ln>
            <a:noFill/>
          </a:ln>
        </p:spPr>
      </p:pic>
      <p:sp>
        <p:nvSpPr>
          <p:cNvPr id="12" name="Google Shape;130;p3">
            <a:extLst>
              <a:ext uri="{FF2B5EF4-FFF2-40B4-BE49-F238E27FC236}">
                <a16:creationId xmlns:a16="http://schemas.microsoft.com/office/drawing/2014/main" id="{709CA877-DCB6-41DC-A0CF-6C6B3E4E3D75}"/>
              </a:ext>
            </a:extLst>
          </p:cNvPr>
          <p:cNvSpPr txBox="1">
            <a:spLocks/>
          </p:cNvSpPr>
          <p:nvPr/>
        </p:nvSpPr>
        <p:spPr>
          <a:xfrm>
            <a:off x="0" y="6259758"/>
            <a:ext cx="611188" cy="365125"/>
          </a:xfrm>
          <a:prstGeom prst="rect">
            <a:avLst/>
          </a:prstGeom>
          <a:noFill/>
          <a:ln>
            <a:noFill/>
          </a:ln>
        </p:spPr>
        <p:txBody>
          <a:bodyPr spcFirstLastPara="1" wrap="square" lIns="0" tIns="0" rIns="0" bIns="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
                <a:srgbClr val="000000"/>
              </a:buClr>
              <a:buSzPts val="1400"/>
              <a:buFont typeface="Arial"/>
              <a:buNone/>
            </a:pPr>
            <a:fld id="{00000000-1234-1234-1234-123412341234}" type="slidenum">
              <a:rPr lang="fr-FR" smtClean="0"/>
              <a:pPr algn="ctr">
                <a:buClr>
                  <a:srgbClr val="000000"/>
                </a:buClr>
                <a:buSzPts val="1400"/>
                <a:buFont typeface="Arial"/>
                <a:buNone/>
              </a:pPr>
              <a:t>7</a:t>
            </a:fld>
            <a:endParaRPr lang="fr-FR" dirty="0"/>
          </a:p>
        </p:txBody>
      </p:sp>
    </p:spTree>
    <p:extLst>
      <p:ext uri="{BB962C8B-B14F-4D97-AF65-F5344CB8AC3E}">
        <p14:creationId xmlns:p14="http://schemas.microsoft.com/office/powerpoint/2010/main" val="348021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p39"/>
          <p:cNvSpPr txBox="1">
            <a:spLocks noGrp="1"/>
          </p:cNvSpPr>
          <p:nvPr>
            <p:ph type="title"/>
          </p:nvPr>
        </p:nvSpPr>
        <p:spPr>
          <a:xfrm>
            <a:off x="2027548" y="0"/>
            <a:ext cx="8028892" cy="9807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fr-FR"/>
              <a:t>L’incertitude d’un facteur d’émission</a:t>
            </a:r>
            <a:endParaRPr/>
          </a:p>
        </p:txBody>
      </p:sp>
      <p:sp>
        <p:nvSpPr>
          <p:cNvPr id="729" name="Google Shape;729;p39"/>
          <p:cNvSpPr txBox="1">
            <a:spLocks noGrp="1"/>
          </p:cNvSpPr>
          <p:nvPr>
            <p:ph type="body" idx="1"/>
          </p:nvPr>
        </p:nvSpPr>
        <p:spPr>
          <a:xfrm>
            <a:off x="609600" y="1268760"/>
            <a:ext cx="10972800" cy="48574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2400"/>
              <a:buNone/>
            </a:pPr>
            <a:r>
              <a:rPr lang="fr-FR"/>
              <a:t>Chaque facteur d’émission est construit sur la base de </a:t>
            </a:r>
            <a:r>
              <a:rPr lang="fr-FR">
                <a:solidFill>
                  <a:srgbClr val="F6AB38"/>
                </a:solidFill>
              </a:rPr>
              <a:t>moyennes.</a:t>
            </a:r>
            <a:endParaRPr/>
          </a:p>
          <a:p>
            <a:pPr marL="0" lvl="0" indent="0" algn="l" rtl="0">
              <a:spcBef>
                <a:spcPts val="480"/>
              </a:spcBef>
              <a:spcAft>
                <a:spcPts val="0"/>
              </a:spcAft>
              <a:buSzPts val="2400"/>
              <a:buNone/>
            </a:pPr>
            <a:endParaRPr/>
          </a:p>
          <a:p>
            <a:pPr marL="0" lvl="0" indent="0" algn="l" rtl="0">
              <a:spcBef>
                <a:spcPts val="480"/>
              </a:spcBef>
              <a:spcAft>
                <a:spcPts val="0"/>
              </a:spcAft>
              <a:buSzPts val="2400"/>
              <a:buNone/>
            </a:pPr>
            <a:r>
              <a:rPr lang="fr-FR"/>
              <a:t>Il existe donc une </a:t>
            </a:r>
            <a:r>
              <a:rPr lang="fr-FR">
                <a:solidFill>
                  <a:srgbClr val="F6AB38"/>
                </a:solidFill>
              </a:rPr>
              <a:t>incertitude</a:t>
            </a:r>
            <a:r>
              <a:rPr lang="fr-FR"/>
              <a:t> associée à chaque </a:t>
            </a:r>
            <a:r>
              <a:rPr lang="fr-FR">
                <a:solidFill>
                  <a:srgbClr val="F6AB38"/>
                </a:solidFill>
              </a:rPr>
              <a:t>facteur</a:t>
            </a:r>
            <a:r>
              <a:rPr lang="fr-FR"/>
              <a:t>. </a:t>
            </a:r>
            <a:endParaRPr/>
          </a:p>
          <a:p>
            <a:pPr marL="0" lvl="0" indent="0" algn="l" rtl="0">
              <a:spcBef>
                <a:spcPts val="480"/>
              </a:spcBef>
              <a:spcAft>
                <a:spcPts val="0"/>
              </a:spcAft>
              <a:buSzPts val="2400"/>
              <a:buNone/>
            </a:pPr>
            <a:endParaRPr/>
          </a:p>
          <a:p>
            <a:pPr marL="0" lvl="0" indent="0" algn="l" rtl="0">
              <a:spcBef>
                <a:spcPts val="480"/>
              </a:spcBef>
              <a:spcAft>
                <a:spcPts val="0"/>
              </a:spcAft>
              <a:buSzPts val="2400"/>
              <a:buNone/>
            </a:pPr>
            <a:r>
              <a:rPr lang="fr-FR"/>
              <a:t>De même, la </a:t>
            </a:r>
            <a:r>
              <a:rPr lang="fr-FR">
                <a:solidFill>
                  <a:srgbClr val="F6AB38"/>
                </a:solidFill>
              </a:rPr>
              <a:t>donnée</a:t>
            </a:r>
            <a:r>
              <a:rPr lang="fr-FR"/>
              <a:t> collectée est soumise à une </a:t>
            </a:r>
            <a:r>
              <a:rPr lang="fr-FR">
                <a:solidFill>
                  <a:srgbClr val="F6AB38"/>
                </a:solidFill>
              </a:rPr>
              <a:t>incertitude</a:t>
            </a:r>
            <a:r>
              <a:rPr lang="fr-FR"/>
              <a:t>. </a:t>
            </a:r>
            <a:endParaRPr/>
          </a:p>
          <a:p>
            <a:pPr marL="0" lvl="0" indent="0" algn="l" rtl="0">
              <a:spcBef>
                <a:spcPts val="480"/>
              </a:spcBef>
              <a:spcAft>
                <a:spcPts val="0"/>
              </a:spcAft>
              <a:buSzPts val="2400"/>
              <a:buNone/>
            </a:pPr>
            <a:endParaRPr/>
          </a:p>
          <a:p>
            <a:pPr marL="0" lvl="0" indent="0" algn="l" rtl="0">
              <a:spcBef>
                <a:spcPts val="480"/>
              </a:spcBef>
              <a:spcAft>
                <a:spcPts val="0"/>
              </a:spcAft>
              <a:buSzPts val="2400"/>
              <a:buNone/>
            </a:pPr>
            <a:endParaRPr/>
          </a:p>
          <a:p>
            <a:pPr marL="1371600" lvl="3" indent="0" algn="l" rtl="0">
              <a:spcBef>
                <a:spcPts val="480"/>
              </a:spcBef>
              <a:spcAft>
                <a:spcPts val="0"/>
              </a:spcAft>
              <a:buClr>
                <a:srgbClr val="085160"/>
              </a:buClr>
              <a:buSzPts val="2400"/>
              <a:buNone/>
            </a:pPr>
            <a:r>
              <a:rPr lang="fr-FR" sz="2400" b="1">
                <a:solidFill>
                  <a:srgbClr val="085160"/>
                </a:solidFill>
              </a:rPr>
              <a:t>Un Bilan Carbone® manipule des </a:t>
            </a:r>
            <a:r>
              <a:rPr lang="fr-FR" sz="2400" b="1">
                <a:solidFill>
                  <a:srgbClr val="F6AB38"/>
                </a:solidFill>
              </a:rPr>
              <a:t>ordres de grandeur. </a:t>
            </a:r>
            <a:r>
              <a:rPr lang="fr-FR" sz="2400" b="1">
                <a:solidFill>
                  <a:srgbClr val="085160"/>
                </a:solidFill>
              </a:rPr>
              <a:t>Ce qui compte ce n’est pas le résultat exact mais savoir </a:t>
            </a:r>
            <a:r>
              <a:rPr lang="fr-FR" sz="2400" b="1">
                <a:solidFill>
                  <a:srgbClr val="F6AB38"/>
                </a:solidFill>
              </a:rPr>
              <a:t>où et comment agir </a:t>
            </a:r>
            <a:r>
              <a:rPr lang="fr-FR" sz="2400" b="1">
                <a:solidFill>
                  <a:srgbClr val="085160"/>
                </a:solidFill>
              </a:rPr>
              <a:t>! </a:t>
            </a:r>
            <a:endParaRPr/>
          </a:p>
        </p:txBody>
      </p:sp>
      <p:grpSp>
        <p:nvGrpSpPr>
          <p:cNvPr id="730" name="Google Shape;730;p39"/>
          <p:cNvGrpSpPr/>
          <p:nvPr/>
        </p:nvGrpSpPr>
        <p:grpSpPr>
          <a:xfrm>
            <a:off x="10560496" y="1772816"/>
            <a:ext cx="1205576" cy="1205576"/>
            <a:chOff x="4563565" y="3050600"/>
            <a:chExt cx="1800000" cy="1800000"/>
          </a:xfrm>
        </p:grpSpPr>
        <p:sp>
          <p:nvSpPr>
            <p:cNvPr id="731" name="Google Shape;731;p39"/>
            <p:cNvSpPr/>
            <p:nvPr/>
          </p:nvSpPr>
          <p:spPr>
            <a:xfrm>
              <a:off x="4563565" y="3050600"/>
              <a:ext cx="1800000" cy="1800000"/>
            </a:xfrm>
            <a:prstGeom prst="ellipse">
              <a:avLst/>
            </a:prstGeom>
            <a:solidFill>
              <a:srgbClr val="0851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732" name="Google Shape;732;p39"/>
            <p:cNvPicPr preferRelativeResize="0"/>
            <p:nvPr/>
          </p:nvPicPr>
          <p:blipFill rotWithShape="1">
            <a:blip r:embed="rId3">
              <a:alphaModFix/>
            </a:blip>
            <a:srcRect/>
            <a:stretch/>
          </p:blipFill>
          <p:spPr>
            <a:xfrm>
              <a:off x="4698781" y="3161115"/>
              <a:ext cx="1578969" cy="1578969"/>
            </a:xfrm>
            <a:prstGeom prst="rect">
              <a:avLst/>
            </a:prstGeom>
            <a:noFill/>
            <a:ln>
              <a:noFill/>
            </a:ln>
          </p:spPr>
        </p:pic>
      </p:grpSp>
      <p:pic>
        <p:nvPicPr>
          <p:cNvPr id="733" name="Google Shape;733;p39"/>
          <p:cNvPicPr preferRelativeResize="0"/>
          <p:nvPr/>
        </p:nvPicPr>
        <p:blipFill rotWithShape="1">
          <a:blip r:embed="rId4">
            <a:alphaModFix/>
          </a:blip>
          <a:srcRect/>
          <a:stretch/>
        </p:blipFill>
        <p:spPr>
          <a:xfrm>
            <a:off x="598878" y="4149080"/>
            <a:ext cx="1313870" cy="1313870"/>
          </a:xfrm>
          <a:prstGeom prst="rect">
            <a:avLst/>
          </a:prstGeom>
          <a:noFill/>
          <a:ln>
            <a:noFill/>
          </a:ln>
        </p:spPr>
      </p:pic>
      <p:sp>
        <p:nvSpPr>
          <p:cNvPr id="8" name="Google Shape;130;p3">
            <a:extLst>
              <a:ext uri="{FF2B5EF4-FFF2-40B4-BE49-F238E27FC236}">
                <a16:creationId xmlns:a16="http://schemas.microsoft.com/office/drawing/2014/main" id="{077252DB-027F-4F75-9A46-BF0D81E4BF5E}"/>
              </a:ext>
            </a:extLst>
          </p:cNvPr>
          <p:cNvSpPr txBox="1">
            <a:spLocks/>
          </p:cNvSpPr>
          <p:nvPr/>
        </p:nvSpPr>
        <p:spPr>
          <a:xfrm>
            <a:off x="0" y="6259758"/>
            <a:ext cx="611188" cy="365125"/>
          </a:xfrm>
          <a:prstGeom prst="rect">
            <a:avLst/>
          </a:prstGeom>
          <a:noFill/>
          <a:ln>
            <a:noFill/>
          </a:ln>
        </p:spPr>
        <p:txBody>
          <a:bodyPr spcFirstLastPara="1" wrap="square" lIns="0" tIns="0" rIns="0" bIns="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
                <a:srgbClr val="000000"/>
              </a:buClr>
              <a:buSzPts val="1400"/>
              <a:buFont typeface="Arial"/>
              <a:buNone/>
            </a:pPr>
            <a:fld id="{00000000-1234-1234-1234-123412341234}" type="slidenum">
              <a:rPr lang="fr-FR" smtClean="0"/>
              <a:pPr algn="ctr">
                <a:buClr>
                  <a:srgbClr val="000000"/>
                </a:buClr>
                <a:buSzPts val="1400"/>
                <a:buFont typeface="Arial"/>
                <a:buNone/>
              </a:pPr>
              <a:t>8</a:t>
            </a:fld>
            <a:endParaRPr lang="fr-FR" dirty="0"/>
          </a:p>
        </p:txBody>
      </p:sp>
    </p:spTree>
    <p:extLst>
      <p:ext uri="{BB962C8B-B14F-4D97-AF65-F5344CB8AC3E}">
        <p14:creationId xmlns:p14="http://schemas.microsoft.com/office/powerpoint/2010/main" val="14279062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99"/>
        <p:cNvGrpSpPr/>
        <p:nvPr/>
      </p:nvGrpSpPr>
      <p:grpSpPr>
        <a:xfrm>
          <a:off x="0" y="0"/>
          <a:ext cx="0" cy="0"/>
          <a:chOff x="0" y="0"/>
          <a:chExt cx="0" cy="0"/>
        </a:xfrm>
      </p:grpSpPr>
      <p:sp>
        <p:nvSpPr>
          <p:cNvPr id="1000" name="Google Shape;1000;p52"/>
          <p:cNvSpPr txBox="1">
            <a:spLocks noGrp="1"/>
          </p:cNvSpPr>
          <p:nvPr>
            <p:ph type="title"/>
          </p:nvPr>
        </p:nvSpPr>
        <p:spPr>
          <a:xfrm>
            <a:off x="2027548" y="0"/>
            <a:ext cx="8028892" cy="9807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fr-FR" sz="2800"/>
              <a:t>Ce</a:t>
            </a:r>
            <a:r>
              <a:rPr lang="fr-FR"/>
              <a:t> qu’il faut re</a:t>
            </a:r>
            <a:r>
              <a:rPr lang="fr-FR" sz="3600"/>
              <a:t>te</a:t>
            </a:r>
            <a:r>
              <a:rPr lang="fr-FR"/>
              <a:t>nir</a:t>
            </a:r>
            <a:endParaRPr/>
          </a:p>
        </p:txBody>
      </p:sp>
      <p:pic>
        <p:nvPicPr>
          <p:cNvPr id="1001" name="Google Shape;1001;p52"/>
          <p:cNvPicPr preferRelativeResize="0"/>
          <p:nvPr/>
        </p:nvPicPr>
        <p:blipFill rotWithShape="1">
          <a:blip r:embed="rId3">
            <a:alphaModFix/>
          </a:blip>
          <a:srcRect/>
          <a:stretch/>
        </p:blipFill>
        <p:spPr>
          <a:xfrm flipH="1">
            <a:off x="4223792" y="199033"/>
            <a:ext cx="939563" cy="939563"/>
          </a:xfrm>
          <a:prstGeom prst="rect">
            <a:avLst/>
          </a:prstGeom>
          <a:noFill/>
          <a:ln>
            <a:noFill/>
          </a:ln>
        </p:spPr>
      </p:pic>
      <p:sp>
        <p:nvSpPr>
          <p:cNvPr id="1002" name="Google Shape;1002;p52"/>
          <p:cNvSpPr txBox="1"/>
          <p:nvPr/>
        </p:nvSpPr>
        <p:spPr>
          <a:xfrm>
            <a:off x="1559496" y="1179761"/>
            <a:ext cx="10351453" cy="5372175"/>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Clr>
                <a:srgbClr val="166478"/>
              </a:buClr>
              <a:buSzPts val="2400"/>
              <a:buFont typeface="Arial"/>
              <a:buNone/>
            </a:pPr>
            <a:r>
              <a:rPr lang="fr-FR" sz="2400" b="1" cap="none">
                <a:solidFill>
                  <a:srgbClr val="166478"/>
                </a:solidFill>
                <a:latin typeface="Century Gothic"/>
                <a:ea typeface="Century Gothic"/>
                <a:cs typeface="Century Gothic"/>
                <a:sym typeface="Century Gothic"/>
              </a:rPr>
              <a:t>Il y a beaucoup de gaz à effet de serre et tous ont des effets différents. Il faut </a:t>
            </a:r>
            <a:r>
              <a:rPr lang="fr-FR" sz="2400" b="1" cap="none">
                <a:solidFill>
                  <a:srgbClr val="F6AB38"/>
                </a:solidFill>
                <a:latin typeface="Century Gothic"/>
                <a:ea typeface="Century Gothic"/>
                <a:cs typeface="Century Gothic"/>
                <a:sym typeface="Century Gothic"/>
              </a:rPr>
              <a:t>une unité commune : le kgCO2e </a:t>
            </a:r>
            <a:r>
              <a:rPr lang="fr-FR" sz="2400" b="1" cap="none">
                <a:solidFill>
                  <a:srgbClr val="166478"/>
                </a:solidFill>
                <a:latin typeface="Century Gothic"/>
                <a:ea typeface="Century Gothic"/>
                <a:cs typeface="Century Gothic"/>
                <a:sym typeface="Century Gothic"/>
              </a:rPr>
              <a:t>!</a:t>
            </a:r>
            <a:endParaRPr/>
          </a:p>
          <a:p>
            <a:pPr marL="0" marR="0" lvl="0" indent="0" algn="just" rtl="0">
              <a:spcBef>
                <a:spcPts val="3000"/>
              </a:spcBef>
              <a:spcAft>
                <a:spcPts val="0"/>
              </a:spcAft>
              <a:buClr>
                <a:srgbClr val="166478"/>
              </a:buClr>
              <a:buSzPts val="2400"/>
              <a:buFont typeface="Arial"/>
              <a:buNone/>
            </a:pPr>
            <a:r>
              <a:rPr lang="fr-FR" sz="2400" b="1" cap="none">
                <a:solidFill>
                  <a:srgbClr val="166478"/>
                </a:solidFill>
                <a:latin typeface="Century Gothic"/>
                <a:ea typeface="Century Gothic"/>
                <a:cs typeface="Century Gothic"/>
                <a:sym typeface="Century Gothic"/>
              </a:rPr>
              <a:t>Impossible de mesurer directement toutes les émissions de gaz à effet de serre. On utilise </a:t>
            </a:r>
            <a:r>
              <a:rPr lang="fr-FR" sz="2400" b="1" cap="none">
                <a:solidFill>
                  <a:srgbClr val="F6AB38"/>
                </a:solidFill>
                <a:latin typeface="Century Gothic"/>
                <a:ea typeface="Century Gothic"/>
                <a:cs typeface="Century Gothic"/>
                <a:sym typeface="Century Gothic"/>
              </a:rPr>
              <a:t>des facteurs d’émissions </a:t>
            </a:r>
            <a:r>
              <a:rPr lang="fr-FR" sz="2400" b="1" cap="none">
                <a:solidFill>
                  <a:srgbClr val="166478"/>
                </a:solidFill>
                <a:latin typeface="Century Gothic"/>
                <a:ea typeface="Century Gothic"/>
                <a:cs typeface="Century Gothic"/>
                <a:sym typeface="Century Gothic"/>
              </a:rPr>
              <a:t>associés à des valeurs moyennes et à des incertitudes.</a:t>
            </a:r>
            <a:endParaRPr/>
          </a:p>
          <a:p>
            <a:pPr marL="0" marR="0" lvl="0" indent="0" algn="just" rtl="0">
              <a:spcBef>
                <a:spcPts val="3000"/>
              </a:spcBef>
              <a:spcAft>
                <a:spcPts val="0"/>
              </a:spcAft>
              <a:buClr>
                <a:srgbClr val="166478"/>
              </a:buClr>
              <a:buSzPts val="2400"/>
              <a:buFont typeface="Arial"/>
              <a:buNone/>
            </a:pPr>
            <a:r>
              <a:rPr lang="fr-FR" sz="2400" b="1" cap="none">
                <a:solidFill>
                  <a:srgbClr val="166478"/>
                </a:solidFill>
                <a:latin typeface="Century Gothic"/>
                <a:ea typeface="Century Gothic"/>
                <a:cs typeface="Century Gothic"/>
                <a:sym typeface="Century Gothic"/>
              </a:rPr>
              <a:t>Ce qui compte ce n'est pas le résultat exact mais </a:t>
            </a:r>
            <a:r>
              <a:rPr lang="fr-FR" sz="2400" b="1" cap="none">
                <a:solidFill>
                  <a:srgbClr val="F6AB38"/>
                </a:solidFill>
                <a:latin typeface="Century Gothic"/>
                <a:ea typeface="Century Gothic"/>
                <a:cs typeface="Century Gothic"/>
                <a:sym typeface="Century Gothic"/>
              </a:rPr>
              <a:t>l'ordre de grandeur</a:t>
            </a:r>
            <a:r>
              <a:rPr lang="fr-FR" sz="2400" b="1" cap="none">
                <a:solidFill>
                  <a:srgbClr val="166478"/>
                </a:solidFill>
                <a:latin typeface="Century Gothic"/>
                <a:ea typeface="Century Gothic"/>
                <a:cs typeface="Century Gothic"/>
                <a:sym typeface="Century Gothic"/>
              </a:rPr>
              <a:t> qui va nous permettre d'agir !</a:t>
            </a:r>
            <a:endParaRPr/>
          </a:p>
          <a:p>
            <a:pPr marL="0" marR="0" lvl="0" indent="0" algn="just" rtl="0">
              <a:spcBef>
                <a:spcPts val="3000"/>
              </a:spcBef>
              <a:spcAft>
                <a:spcPts val="0"/>
              </a:spcAft>
              <a:buClr>
                <a:srgbClr val="166478"/>
              </a:buClr>
              <a:buSzPts val="2400"/>
              <a:buFont typeface="Arial"/>
              <a:buNone/>
            </a:pPr>
            <a:r>
              <a:rPr lang="fr-FR" sz="2400" b="1" cap="none">
                <a:solidFill>
                  <a:srgbClr val="166478"/>
                </a:solidFill>
                <a:latin typeface="Century Gothic"/>
                <a:ea typeface="Century Gothic"/>
                <a:cs typeface="Century Gothic"/>
                <a:sym typeface="Century Gothic"/>
              </a:rPr>
              <a:t>Pour obtenir les émissions de gaz à effet de serre d’un poste, il faut </a:t>
            </a:r>
            <a:r>
              <a:rPr lang="fr-FR" sz="2400" b="1" cap="none">
                <a:solidFill>
                  <a:srgbClr val="F6AB38"/>
                </a:solidFill>
                <a:latin typeface="Century Gothic"/>
                <a:ea typeface="Century Gothic"/>
                <a:cs typeface="Century Gothic"/>
                <a:sym typeface="Century Gothic"/>
              </a:rPr>
              <a:t>multiplier</a:t>
            </a:r>
            <a:r>
              <a:rPr lang="fr-FR" sz="2400" b="1" cap="none">
                <a:solidFill>
                  <a:srgbClr val="166478"/>
                </a:solidFill>
                <a:latin typeface="Century Gothic"/>
                <a:ea typeface="Century Gothic"/>
                <a:cs typeface="Century Gothic"/>
                <a:sym typeface="Century Gothic"/>
              </a:rPr>
              <a:t> </a:t>
            </a:r>
            <a:r>
              <a:rPr lang="fr-FR" sz="2400" b="1" cap="none">
                <a:solidFill>
                  <a:srgbClr val="F6AB38"/>
                </a:solidFill>
                <a:latin typeface="Century Gothic"/>
                <a:ea typeface="Century Gothic"/>
                <a:cs typeface="Century Gothic"/>
                <a:sym typeface="Century Gothic"/>
              </a:rPr>
              <a:t>une</a:t>
            </a:r>
            <a:r>
              <a:rPr lang="fr-FR" sz="2400" b="1" cap="none">
                <a:solidFill>
                  <a:srgbClr val="166478"/>
                </a:solidFill>
                <a:latin typeface="Century Gothic"/>
                <a:ea typeface="Century Gothic"/>
                <a:cs typeface="Century Gothic"/>
                <a:sym typeface="Century Gothic"/>
              </a:rPr>
              <a:t> </a:t>
            </a:r>
            <a:r>
              <a:rPr lang="fr-FR" sz="2400" b="1" cap="none">
                <a:solidFill>
                  <a:srgbClr val="F6AB38"/>
                </a:solidFill>
                <a:latin typeface="Century Gothic"/>
                <a:ea typeface="Century Gothic"/>
                <a:cs typeface="Century Gothic"/>
                <a:sym typeface="Century Gothic"/>
              </a:rPr>
              <a:t>donnée</a:t>
            </a:r>
            <a:r>
              <a:rPr lang="fr-FR" sz="2400" b="1" cap="none">
                <a:solidFill>
                  <a:srgbClr val="166478"/>
                </a:solidFill>
                <a:latin typeface="Century Gothic"/>
                <a:ea typeface="Century Gothic"/>
                <a:cs typeface="Century Gothic"/>
                <a:sym typeface="Century Gothic"/>
              </a:rPr>
              <a:t> issue de la collecte </a:t>
            </a:r>
            <a:r>
              <a:rPr lang="fr-FR" sz="2400" b="1" cap="none">
                <a:solidFill>
                  <a:srgbClr val="F6AB38"/>
                </a:solidFill>
                <a:latin typeface="Century Gothic"/>
                <a:ea typeface="Century Gothic"/>
                <a:cs typeface="Century Gothic"/>
                <a:sym typeface="Century Gothic"/>
              </a:rPr>
              <a:t>par le bon facteur d’émission </a:t>
            </a:r>
            <a:r>
              <a:rPr lang="fr-FR" sz="2400" b="1" cap="none">
                <a:solidFill>
                  <a:srgbClr val="166478"/>
                </a:solidFill>
                <a:latin typeface="Century Gothic"/>
                <a:ea typeface="Century Gothic"/>
                <a:cs typeface="Century Gothic"/>
                <a:sym typeface="Century Gothic"/>
              </a:rPr>
              <a:t>qui lui correspond ! </a:t>
            </a:r>
            <a:endParaRPr/>
          </a:p>
          <a:p>
            <a:pPr marL="0" marR="0" lvl="0" indent="0" algn="just" rtl="0">
              <a:spcBef>
                <a:spcPts val="2400"/>
              </a:spcBef>
              <a:spcAft>
                <a:spcPts val="0"/>
              </a:spcAft>
              <a:buClr>
                <a:srgbClr val="166478"/>
              </a:buClr>
              <a:buSzPts val="2400"/>
              <a:buFont typeface="Arial"/>
              <a:buNone/>
            </a:pPr>
            <a:endParaRPr sz="2400" b="1" cap="none">
              <a:solidFill>
                <a:srgbClr val="166478"/>
              </a:solidFill>
              <a:latin typeface="Century Gothic"/>
              <a:ea typeface="Century Gothic"/>
              <a:cs typeface="Century Gothic"/>
              <a:sym typeface="Century Gothic"/>
            </a:endParaRPr>
          </a:p>
        </p:txBody>
      </p:sp>
      <p:pic>
        <p:nvPicPr>
          <p:cNvPr id="1003" name="Google Shape;1003;p52"/>
          <p:cNvPicPr preferRelativeResize="0"/>
          <p:nvPr/>
        </p:nvPicPr>
        <p:blipFill rotWithShape="1">
          <a:blip r:embed="rId4">
            <a:alphaModFix/>
          </a:blip>
          <a:srcRect l="7440" t="7903" r="7277" b="3336"/>
          <a:stretch/>
        </p:blipFill>
        <p:spPr>
          <a:xfrm>
            <a:off x="281050" y="2427489"/>
            <a:ext cx="864095" cy="1001511"/>
          </a:xfrm>
          <a:prstGeom prst="rect">
            <a:avLst/>
          </a:prstGeom>
          <a:noFill/>
          <a:ln>
            <a:noFill/>
          </a:ln>
        </p:spPr>
      </p:pic>
      <p:pic>
        <p:nvPicPr>
          <p:cNvPr id="1004" name="Google Shape;1004;p52" descr="Résultat de recherche d'images pour &quot;molécule co2&quot;"/>
          <p:cNvPicPr preferRelativeResize="0"/>
          <p:nvPr/>
        </p:nvPicPr>
        <p:blipFill rotWithShape="1">
          <a:blip r:embed="rId5">
            <a:alphaModFix/>
          </a:blip>
          <a:srcRect/>
          <a:stretch/>
        </p:blipFill>
        <p:spPr>
          <a:xfrm>
            <a:off x="278637" y="1165258"/>
            <a:ext cx="1232369" cy="875707"/>
          </a:xfrm>
          <a:prstGeom prst="rect">
            <a:avLst/>
          </a:prstGeom>
          <a:noFill/>
          <a:ln>
            <a:noFill/>
          </a:ln>
        </p:spPr>
      </p:pic>
      <p:grpSp>
        <p:nvGrpSpPr>
          <p:cNvPr id="1005" name="Google Shape;1005;p52"/>
          <p:cNvGrpSpPr/>
          <p:nvPr/>
        </p:nvGrpSpPr>
        <p:grpSpPr>
          <a:xfrm>
            <a:off x="534821" y="5085184"/>
            <a:ext cx="720000" cy="720000"/>
            <a:chOff x="4563565" y="3050600"/>
            <a:chExt cx="1800000" cy="1800000"/>
          </a:xfrm>
        </p:grpSpPr>
        <p:sp>
          <p:nvSpPr>
            <p:cNvPr id="1006" name="Google Shape;1006;p52"/>
            <p:cNvSpPr/>
            <p:nvPr/>
          </p:nvSpPr>
          <p:spPr>
            <a:xfrm>
              <a:off x="4563565" y="3050600"/>
              <a:ext cx="1800000" cy="1800000"/>
            </a:xfrm>
            <a:prstGeom prst="ellipse">
              <a:avLst/>
            </a:prstGeom>
            <a:solidFill>
              <a:srgbClr val="0851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007" name="Google Shape;1007;p52"/>
            <p:cNvPicPr preferRelativeResize="0"/>
            <p:nvPr/>
          </p:nvPicPr>
          <p:blipFill rotWithShape="1">
            <a:blip r:embed="rId6">
              <a:alphaModFix/>
            </a:blip>
            <a:srcRect/>
            <a:stretch/>
          </p:blipFill>
          <p:spPr>
            <a:xfrm>
              <a:off x="4698781" y="3161115"/>
              <a:ext cx="1578969" cy="1578969"/>
            </a:xfrm>
            <a:prstGeom prst="rect">
              <a:avLst/>
            </a:prstGeom>
            <a:noFill/>
            <a:ln>
              <a:noFill/>
            </a:ln>
          </p:spPr>
        </p:pic>
      </p:grpSp>
      <p:pic>
        <p:nvPicPr>
          <p:cNvPr id="1008" name="Google Shape;1008;p52"/>
          <p:cNvPicPr preferRelativeResize="0"/>
          <p:nvPr/>
        </p:nvPicPr>
        <p:blipFill rotWithShape="1">
          <a:blip r:embed="rId7">
            <a:alphaModFix/>
          </a:blip>
          <a:srcRect/>
          <a:stretch/>
        </p:blipFill>
        <p:spPr>
          <a:xfrm>
            <a:off x="513556" y="3815523"/>
            <a:ext cx="875707" cy="875707"/>
          </a:xfrm>
          <a:prstGeom prst="rect">
            <a:avLst/>
          </a:prstGeom>
          <a:noFill/>
          <a:ln>
            <a:noFill/>
          </a:ln>
        </p:spPr>
      </p:pic>
      <p:sp>
        <p:nvSpPr>
          <p:cNvPr id="11" name="Google Shape;130;p3">
            <a:extLst>
              <a:ext uri="{FF2B5EF4-FFF2-40B4-BE49-F238E27FC236}">
                <a16:creationId xmlns:a16="http://schemas.microsoft.com/office/drawing/2014/main" id="{1AB66B79-C89C-4BAB-95C5-1A27F76DE5F2}"/>
              </a:ext>
            </a:extLst>
          </p:cNvPr>
          <p:cNvSpPr txBox="1">
            <a:spLocks/>
          </p:cNvSpPr>
          <p:nvPr/>
        </p:nvSpPr>
        <p:spPr>
          <a:xfrm>
            <a:off x="0" y="6283204"/>
            <a:ext cx="611188" cy="365125"/>
          </a:xfrm>
          <a:prstGeom prst="rect">
            <a:avLst/>
          </a:prstGeom>
          <a:noFill/>
          <a:ln>
            <a:noFill/>
          </a:ln>
        </p:spPr>
        <p:txBody>
          <a:bodyPr spcFirstLastPara="1" wrap="square" lIns="0" tIns="0" rIns="0" bIns="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
                <a:srgbClr val="000000"/>
              </a:buClr>
              <a:buSzPts val="1400"/>
              <a:buFont typeface="Arial"/>
              <a:buNone/>
            </a:pPr>
            <a:fld id="{00000000-1234-1234-1234-123412341234}" type="slidenum">
              <a:rPr lang="fr-FR" smtClean="0"/>
              <a:pPr algn="ctr">
                <a:buClr>
                  <a:srgbClr val="000000"/>
                </a:buClr>
                <a:buSzPts val="1400"/>
                <a:buFont typeface="Arial"/>
                <a:buNone/>
              </a:pPr>
              <a:t>9</a:t>
            </a:fld>
            <a:endParaRPr lang="fr-FR" dirty="0"/>
          </a:p>
        </p:txBody>
      </p:sp>
    </p:spTree>
    <p:extLst>
      <p:ext uri="{BB962C8B-B14F-4D97-AF65-F5344CB8AC3E}">
        <p14:creationId xmlns:p14="http://schemas.microsoft.com/office/powerpoint/2010/main" val="27758792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12"/>
        <p:cNvGrpSpPr/>
        <p:nvPr/>
      </p:nvGrpSpPr>
      <p:grpSpPr>
        <a:xfrm>
          <a:off x="0" y="0"/>
          <a:ext cx="0" cy="0"/>
          <a:chOff x="0" y="0"/>
          <a:chExt cx="0" cy="0"/>
        </a:xfrm>
      </p:grpSpPr>
      <p:sp>
        <p:nvSpPr>
          <p:cNvPr id="1013" name="Google Shape;1013;p53"/>
          <p:cNvSpPr txBox="1">
            <a:spLocks noGrp="1"/>
          </p:cNvSpPr>
          <p:nvPr>
            <p:ph type="body" idx="1"/>
          </p:nvPr>
        </p:nvSpPr>
        <p:spPr>
          <a:xfrm>
            <a:off x="0" y="2492897"/>
            <a:ext cx="5303912" cy="1500187"/>
          </a:xfrm>
          <a:prstGeom prst="rect">
            <a:avLst/>
          </a:prstGeom>
          <a:solidFill>
            <a:srgbClr val="F6AB38"/>
          </a:solidFill>
          <a:ln>
            <a:noFill/>
          </a:ln>
        </p:spPr>
        <p:txBody>
          <a:bodyPr spcFirstLastPara="1" wrap="square" lIns="216000" tIns="45700" rIns="91425" bIns="45700" anchor="ctr" anchorCtr="0">
            <a:normAutofit/>
          </a:bodyPr>
          <a:lstStyle/>
          <a:p>
            <a:pPr marL="0" lvl="0" indent="0" algn="l" rtl="0">
              <a:spcBef>
                <a:spcPts val="0"/>
              </a:spcBef>
              <a:spcAft>
                <a:spcPts val="0"/>
              </a:spcAft>
              <a:buSzPts val="4000"/>
              <a:buNone/>
            </a:pPr>
            <a:r>
              <a:rPr lang="fr-FR"/>
              <a:t>Fixer son périmètre</a:t>
            </a:r>
            <a:endParaRPr baseline="30000"/>
          </a:p>
        </p:txBody>
      </p:sp>
      <p:pic>
        <p:nvPicPr>
          <p:cNvPr id="1014" name="Google Shape;1014;p53"/>
          <p:cNvPicPr preferRelativeResize="0"/>
          <p:nvPr/>
        </p:nvPicPr>
        <p:blipFill rotWithShape="1">
          <a:blip r:embed="rId3">
            <a:alphaModFix/>
          </a:blip>
          <a:srcRect/>
          <a:stretch/>
        </p:blipFill>
        <p:spPr>
          <a:xfrm>
            <a:off x="5807968" y="2128313"/>
            <a:ext cx="5673572" cy="2913367"/>
          </a:xfrm>
          <a:prstGeom prst="rect">
            <a:avLst/>
          </a:prstGeom>
          <a:noFill/>
          <a:ln>
            <a:noFill/>
          </a:ln>
        </p:spPr>
      </p:pic>
      <p:sp>
        <p:nvSpPr>
          <p:cNvPr id="4" name="Google Shape;130;p3">
            <a:extLst>
              <a:ext uri="{FF2B5EF4-FFF2-40B4-BE49-F238E27FC236}">
                <a16:creationId xmlns:a16="http://schemas.microsoft.com/office/drawing/2014/main" id="{0E89A272-4E50-432F-820E-3625EBC1BA99}"/>
              </a:ext>
            </a:extLst>
          </p:cNvPr>
          <p:cNvSpPr txBox="1">
            <a:spLocks/>
          </p:cNvSpPr>
          <p:nvPr/>
        </p:nvSpPr>
        <p:spPr>
          <a:xfrm>
            <a:off x="0" y="6376988"/>
            <a:ext cx="611188" cy="365125"/>
          </a:xfrm>
          <a:prstGeom prst="rect">
            <a:avLst/>
          </a:prstGeom>
          <a:noFill/>
          <a:ln>
            <a:noFill/>
          </a:ln>
        </p:spPr>
        <p:txBody>
          <a:bodyPr spcFirstLastPara="1" wrap="square" lIns="0" tIns="0" rIns="0" bIns="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
                <a:srgbClr val="000000"/>
              </a:buClr>
              <a:buSzPts val="1400"/>
              <a:buFont typeface="Arial"/>
              <a:buNone/>
            </a:pPr>
            <a:fld id="{00000000-1234-1234-1234-123412341234}" type="slidenum">
              <a:rPr lang="fr-FR" smtClean="0"/>
              <a:pPr algn="ctr">
                <a:buClr>
                  <a:srgbClr val="000000"/>
                </a:buClr>
                <a:buSzPts val="1400"/>
                <a:buFont typeface="Arial"/>
                <a:buNone/>
              </a:pPr>
              <a:t>10</a:t>
            </a:fld>
            <a:endParaRPr lang="fr-FR" dirty="0"/>
          </a:p>
        </p:txBody>
      </p:sp>
    </p:spTree>
    <p:extLst>
      <p:ext uri="{BB962C8B-B14F-4D97-AF65-F5344CB8AC3E}">
        <p14:creationId xmlns:p14="http://schemas.microsoft.com/office/powerpoint/2010/main" val="3604724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6"/>
        <p:cNvGrpSpPr/>
        <p:nvPr/>
      </p:nvGrpSpPr>
      <p:grpSpPr>
        <a:xfrm>
          <a:off x="0" y="0"/>
          <a:ext cx="0" cy="0"/>
          <a:chOff x="0" y="0"/>
          <a:chExt cx="0" cy="0"/>
        </a:xfrm>
      </p:grpSpPr>
      <p:sp>
        <p:nvSpPr>
          <p:cNvPr id="1497" name="Google Shape;1497;p79"/>
          <p:cNvSpPr txBox="1">
            <a:spLocks noGrp="1"/>
          </p:cNvSpPr>
          <p:nvPr>
            <p:ph type="title"/>
          </p:nvPr>
        </p:nvSpPr>
        <p:spPr>
          <a:xfrm>
            <a:off x="2027548" y="0"/>
            <a:ext cx="7092788" cy="9807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fr-FR"/>
              <a:t>Comment lister les émissions potentielles ? Quelques pistes</a:t>
            </a:r>
            <a:endParaRPr/>
          </a:p>
        </p:txBody>
      </p:sp>
      <p:sp>
        <p:nvSpPr>
          <p:cNvPr id="1498" name="Google Shape;1498;p79"/>
          <p:cNvSpPr txBox="1">
            <a:spLocks noGrp="1"/>
          </p:cNvSpPr>
          <p:nvPr>
            <p:ph type="body" idx="1"/>
          </p:nvPr>
        </p:nvSpPr>
        <p:spPr>
          <a:xfrm>
            <a:off x="609600" y="1268760"/>
            <a:ext cx="9806880" cy="48574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800"/>
              <a:buNone/>
            </a:pPr>
            <a:r>
              <a:rPr lang="fr-FR" sz="1800" dirty="0"/>
              <a:t>Bien définir l’activité que l’on souhaite évaluer</a:t>
            </a:r>
            <a:endParaRPr dirty="0"/>
          </a:p>
          <a:p>
            <a:pPr marL="742950" lvl="1" indent="-285750" algn="l" rtl="0">
              <a:spcBef>
                <a:spcPts val="320"/>
              </a:spcBef>
              <a:spcAft>
                <a:spcPts val="0"/>
              </a:spcAft>
              <a:buClr>
                <a:schemeClr val="dk1"/>
              </a:buClr>
              <a:buSzPts val="1600"/>
              <a:buChar char="•"/>
            </a:pPr>
            <a:r>
              <a:rPr lang="fr-FR" sz="1600" dirty="0"/>
              <a:t>Toute activité ayant lieu sur le campus ?</a:t>
            </a:r>
            <a:endParaRPr dirty="0"/>
          </a:p>
          <a:p>
            <a:pPr marL="742950" lvl="1" indent="-285750" algn="l" rtl="0">
              <a:spcBef>
                <a:spcPts val="320"/>
              </a:spcBef>
              <a:spcAft>
                <a:spcPts val="0"/>
              </a:spcAft>
              <a:buClr>
                <a:schemeClr val="dk1"/>
              </a:buClr>
              <a:buSzPts val="1600"/>
              <a:buChar char="•"/>
            </a:pPr>
            <a:r>
              <a:rPr lang="fr-FR" sz="1600" dirty="0"/>
              <a:t>La vie étudiante sur le campus, restauration et logement compris ?</a:t>
            </a:r>
            <a:endParaRPr dirty="0"/>
          </a:p>
          <a:p>
            <a:pPr marL="742950" lvl="1" indent="-285750" algn="l" rtl="0">
              <a:spcBef>
                <a:spcPts val="320"/>
              </a:spcBef>
              <a:spcAft>
                <a:spcPts val="0"/>
              </a:spcAft>
              <a:buClr>
                <a:schemeClr val="dk1"/>
              </a:buClr>
              <a:buSzPts val="1600"/>
              <a:buChar char="•"/>
            </a:pPr>
            <a:r>
              <a:rPr lang="fr-FR" sz="1600" dirty="0"/>
              <a:t>Les émissions liées à la formation, stages compris ?</a:t>
            </a:r>
            <a:endParaRPr dirty="0"/>
          </a:p>
          <a:p>
            <a:pPr marL="742950" lvl="1" indent="-285750" algn="l" rtl="0">
              <a:spcBef>
                <a:spcPts val="320"/>
              </a:spcBef>
              <a:spcAft>
                <a:spcPts val="0"/>
              </a:spcAft>
              <a:buClr>
                <a:schemeClr val="dk1"/>
              </a:buClr>
              <a:buSzPts val="1600"/>
              <a:buChar char="•"/>
            </a:pPr>
            <a:r>
              <a:rPr lang="fr-FR" sz="1600" dirty="0"/>
              <a:t>Recherche scientifique sur le campus ?</a:t>
            </a:r>
            <a:endParaRPr dirty="0"/>
          </a:p>
          <a:p>
            <a:pPr marL="742950" lvl="1" indent="-285750" algn="l" rtl="0">
              <a:spcBef>
                <a:spcPts val="320"/>
              </a:spcBef>
              <a:spcAft>
                <a:spcPts val="0"/>
              </a:spcAft>
              <a:buClr>
                <a:schemeClr val="dk1"/>
              </a:buClr>
              <a:buSzPts val="1600"/>
              <a:buChar char="•"/>
            </a:pPr>
            <a:r>
              <a:rPr lang="fr-FR" sz="1600" dirty="0"/>
              <a:t>Loisirs sur le campus ?</a:t>
            </a:r>
            <a:endParaRPr dirty="0"/>
          </a:p>
          <a:p>
            <a:pPr marL="0" lvl="0" indent="0" algn="l" rtl="0">
              <a:spcBef>
                <a:spcPts val="360"/>
              </a:spcBef>
              <a:spcAft>
                <a:spcPts val="0"/>
              </a:spcAft>
              <a:buSzPts val="1800"/>
              <a:buNone/>
            </a:pPr>
            <a:endParaRPr sz="1800" dirty="0"/>
          </a:p>
          <a:p>
            <a:pPr marL="0" lvl="0" indent="0" algn="l" rtl="0">
              <a:spcBef>
                <a:spcPts val="360"/>
              </a:spcBef>
              <a:spcAft>
                <a:spcPts val="0"/>
              </a:spcAft>
              <a:buSzPts val="1800"/>
              <a:buNone/>
            </a:pPr>
            <a:r>
              <a:rPr lang="fr-FR" sz="1800" dirty="0"/>
              <a:t>Tracer la frontière physique de votre campus et lister tout ce qui :</a:t>
            </a:r>
            <a:endParaRPr dirty="0"/>
          </a:p>
          <a:p>
            <a:pPr marL="742950" lvl="1" indent="-285750" algn="l" rtl="0">
              <a:spcBef>
                <a:spcPts val="320"/>
              </a:spcBef>
              <a:spcAft>
                <a:spcPts val="0"/>
              </a:spcAft>
              <a:buClr>
                <a:schemeClr val="dk1"/>
              </a:buClr>
              <a:buSzPts val="1600"/>
              <a:buChar char="•"/>
            </a:pPr>
            <a:r>
              <a:rPr lang="fr-FR" sz="1600" dirty="0"/>
              <a:t>la traverse (voitures, livraisons, électricité, internet,</a:t>
            </a:r>
            <a:br>
              <a:rPr lang="fr-FR" sz="1600" dirty="0"/>
            </a:br>
            <a:r>
              <a:rPr lang="fr-FR" sz="1600" dirty="0"/>
              <a:t>égouts, déchets, …)</a:t>
            </a:r>
            <a:endParaRPr dirty="0"/>
          </a:p>
          <a:p>
            <a:pPr marL="742950" lvl="1" indent="-285750" algn="l" rtl="0">
              <a:spcBef>
                <a:spcPts val="320"/>
              </a:spcBef>
              <a:spcAft>
                <a:spcPts val="0"/>
              </a:spcAft>
              <a:buClr>
                <a:schemeClr val="dk1"/>
              </a:buClr>
              <a:buSzPts val="1600"/>
              <a:buChar char="•"/>
            </a:pPr>
            <a:r>
              <a:rPr lang="fr-FR" sz="1600" dirty="0"/>
              <a:t>se passe en dehors (restauration, résidences,</a:t>
            </a:r>
            <a:br>
              <a:rPr lang="fr-FR" sz="1600" dirty="0"/>
            </a:br>
            <a:r>
              <a:rPr lang="fr-FR" sz="1600" dirty="0"/>
              <a:t>voyages, évènements, loisirs, …)</a:t>
            </a:r>
            <a:endParaRPr dirty="0"/>
          </a:p>
          <a:p>
            <a:pPr marL="742950" lvl="1" indent="-285750" algn="l" rtl="0">
              <a:spcBef>
                <a:spcPts val="320"/>
              </a:spcBef>
              <a:spcAft>
                <a:spcPts val="0"/>
              </a:spcAft>
              <a:buClr>
                <a:schemeClr val="dk1"/>
              </a:buClr>
              <a:buSzPts val="1600"/>
              <a:buChar char="•"/>
            </a:pPr>
            <a:r>
              <a:rPr lang="fr-FR" sz="1600" dirty="0"/>
              <a:t>se passe à l’intérieur (chauffage des locaux et de</a:t>
            </a:r>
            <a:br>
              <a:rPr lang="fr-FR" sz="1600" dirty="0"/>
            </a:br>
            <a:r>
              <a:rPr lang="fr-FR" sz="1600" dirty="0"/>
              <a:t>l’eau, coupe d’arbres, restauration, travaux, …)</a:t>
            </a:r>
            <a:endParaRPr dirty="0"/>
          </a:p>
          <a:p>
            <a:pPr marL="0" lvl="0" indent="0" algn="l" rtl="0">
              <a:spcBef>
                <a:spcPts val="360"/>
              </a:spcBef>
              <a:spcAft>
                <a:spcPts val="0"/>
              </a:spcAft>
              <a:buSzPts val="1800"/>
              <a:buNone/>
            </a:pPr>
            <a:endParaRPr sz="1800" b="1" dirty="0">
              <a:solidFill>
                <a:srgbClr val="085160"/>
              </a:solidFill>
            </a:endParaRPr>
          </a:p>
          <a:p>
            <a:pPr marL="0" lvl="0" indent="0" algn="l" rtl="0">
              <a:spcBef>
                <a:spcPts val="360"/>
              </a:spcBef>
              <a:spcAft>
                <a:spcPts val="0"/>
              </a:spcAft>
              <a:buSzPts val="1800"/>
              <a:buNone/>
            </a:pPr>
            <a:r>
              <a:rPr lang="fr-FR" sz="1800" b="1" dirty="0">
                <a:solidFill>
                  <a:srgbClr val="085160"/>
                </a:solidFill>
              </a:rPr>
              <a:t>Consigner toutes les hypothèses de calculs dans </a:t>
            </a:r>
            <a:r>
              <a:rPr lang="fr-FR" sz="1800" b="1" dirty="0">
                <a:solidFill>
                  <a:srgbClr val="F6AB38"/>
                </a:solidFill>
              </a:rPr>
              <a:t>un rapport </a:t>
            </a:r>
            <a:r>
              <a:rPr lang="fr-FR" sz="1800" b="1" dirty="0">
                <a:solidFill>
                  <a:srgbClr val="085160"/>
                </a:solidFill>
              </a:rPr>
              <a:t>pour s’en souvenir et pouvoir y revenir ! </a:t>
            </a:r>
            <a:endParaRPr dirty="0"/>
          </a:p>
          <a:p>
            <a:pPr marL="742950" lvl="1" indent="-171450" algn="l" rtl="0">
              <a:spcBef>
                <a:spcPts val="360"/>
              </a:spcBef>
              <a:spcAft>
                <a:spcPts val="0"/>
              </a:spcAft>
              <a:buClr>
                <a:schemeClr val="dk1"/>
              </a:buClr>
              <a:buSzPts val="1800"/>
              <a:buNone/>
            </a:pPr>
            <a:endParaRPr sz="1800" dirty="0"/>
          </a:p>
        </p:txBody>
      </p:sp>
      <p:pic>
        <p:nvPicPr>
          <p:cNvPr id="1499" name="Google Shape;1499;p79"/>
          <p:cNvPicPr preferRelativeResize="0"/>
          <p:nvPr/>
        </p:nvPicPr>
        <p:blipFill rotWithShape="1">
          <a:blip r:embed="rId3">
            <a:alphaModFix/>
          </a:blip>
          <a:srcRect/>
          <a:stretch/>
        </p:blipFill>
        <p:spPr>
          <a:xfrm>
            <a:off x="10311064" y="4492698"/>
            <a:ext cx="1633465" cy="1633465"/>
          </a:xfrm>
          <a:prstGeom prst="rect">
            <a:avLst/>
          </a:prstGeom>
          <a:noFill/>
          <a:ln>
            <a:noFill/>
          </a:ln>
        </p:spPr>
      </p:pic>
      <p:pic>
        <p:nvPicPr>
          <p:cNvPr id="1500" name="Google Shape;1500;p79"/>
          <p:cNvPicPr preferRelativeResize="0"/>
          <p:nvPr/>
        </p:nvPicPr>
        <p:blipFill rotWithShape="1">
          <a:blip r:embed="rId4">
            <a:alphaModFix/>
          </a:blip>
          <a:srcRect/>
          <a:stretch/>
        </p:blipFill>
        <p:spPr>
          <a:xfrm>
            <a:off x="8424531" y="1573414"/>
            <a:ext cx="3519998" cy="2430615"/>
          </a:xfrm>
          <a:prstGeom prst="rect">
            <a:avLst/>
          </a:prstGeom>
          <a:noFill/>
          <a:ln>
            <a:noFill/>
          </a:ln>
        </p:spPr>
      </p:pic>
      <p:sp>
        <p:nvSpPr>
          <p:cNvPr id="6" name="Google Shape;130;p3">
            <a:extLst>
              <a:ext uri="{FF2B5EF4-FFF2-40B4-BE49-F238E27FC236}">
                <a16:creationId xmlns:a16="http://schemas.microsoft.com/office/drawing/2014/main" id="{ED2381A6-EAFC-470A-964D-A84121CA7692}"/>
              </a:ext>
            </a:extLst>
          </p:cNvPr>
          <p:cNvSpPr txBox="1">
            <a:spLocks/>
          </p:cNvSpPr>
          <p:nvPr/>
        </p:nvSpPr>
        <p:spPr>
          <a:xfrm>
            <a:off x="0" y="6283204"/>
            <a:ext cx="611188" cy="365125"/>
          </a:xfrm>
          <a:prstGeom prst="rect">
            <a:avLst/>
          </a:prstGeom>
          <a:noFill/>
          <a:ln>
            <a:noFill/>
          </a:ln>
        </p:spPr>
        <p:txBody>
          <a:bodyPr spcFirstLastPara="1" wrap="square" lIns="0" tIns="0" rIns="0" bIns="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
                <a:srgbClr val="000000"/>
              </a:buClr>
              <a:buSzPts val="1400"/>
              <a:buFont typeface="Arial"/>
              <a:buNone/>
            </a:pPr>
            <a:fld id="{00000000-1234-1234-1234-123412341234}" type="slidenum">
              <a:rPr lang="fr-FR" smtClean="0"/>
              <a:pPr algn="ctr">
                <a:buClr>
                  <a:srgbClr val="000000"/>
                </a:buClr>
                <a:buSzPts val="1400"/>
                <a:buFont typeface="Arial"/>
                <a:buNone/>
              </a:pPr>
              <a:t>11</a:t>
            </a:fld>
            <a:endParaRPr lang="fr-FR" dirty="0"/>
          </a:p>
        </p:txBody>
      </p:sp>
    </p:spTree>
    <p:extLst>
      <p:ext uri="{BB962C8B-B14F-4D97-AF65-F5344CB8AC3E}">
        <p14:creationId xmlns:p14="http://schemas.microsoft.com/office/powerpoint/2010/main" val="16147345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41"/>
        <p:cNvGrpSpPr/>
        <p:nvPr/>
      </p:nvGrpSpPr>
      <p:grpSpPr>
        <a:xfrm>
          <a:off x="0" y="0"/>
          <a:ext cx="0" cy="0"/>
          <a:chOff x="0" y="0"/>
          <a:chExt cx="0" cy="0"/>
        </a:xfrm>
      </p:grpSpPr>
      <p:sp>
        <p:nvSpPr>
          <p:cNvPr id="1542" name="Google Shape;1542;p83"/>
          <p:cNvSpPr txBox="1">
            <a:spLocks noGrp="1"/>
          </p:cNvSpPr>
          <p:nvPr>
            <p:ph type="title"/>
          </p:nvPr>
        </p:nvSpPr>
        <p:spPr>
          <a:xfrm>
            <a:off x="2027548" y="0"/>
            <a:ext cx="8028892" cy="9807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fr-FR"/>
              <a:t>Les SCOPES</a:t>
            </a:r>
            <a:endParaRPr/>
          </a:p>
        </p:txBody>
      </p:sp>
      <p:sp>
        <p:nvSpPr>
          <p:cNvPr id="1543" name="Google Shape;1543;p83"/>
          <p:cNvSpPr txBox="1">
            <a:spLocks noGrp="1"/>
          </p:cNvSpPr>
          <p:nvPr>
            <p:ph type="body" idx="1"/>
          </p:nvPr>
        </p:nvSpPr>
        <p:spPr>
          <a:xfrm>
            <a:off x="609600" y="1268760"/>
            <a:ext cx="11175032" cy="980729"/>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400"/>
              <a:buNone/>
            </a:pPr>
            <a:r>
              <a:rPr lang="fr-FR"/>
              <a:t>Pour les Bilans GES réglementaires, on ne peut pas choisir son périmètre n’importe comment ! </a:t>
            </a:r>
            <a:endParaRPr/>
          </a:p>
        </p:txBody>
      </p:sp>
      <p:sp>
        <p:nvSpPr>
          <p:cNvPr id="1544" name="Google Shape;1544;p83"/>
          <p:cNvSpPr txBox="1"/>
          <p:nvPr/>
        </p:nvSpPr>
        <p:spPr>
          <a:xfrm>
            <a:off x="1640126" y="2284963"/>
            <a:ext cx="9721080" cy="122413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F79124"/>
              </a:buClr>
              <a:buSzPts val="2400"/>
              <a:buFont typeface="Arial"/>
              <a:buNone/>
            </a:pPr>
            <a:r>
              <a:rPr lang="fr-FR" sz="2400" b="1" cap="none" dirty="0">
                <a:solidFill>
                  <a:srgbClr val="085160"/>
                </a:solidFill>
                <a:latin typeface="Century Gothic"/>
                <a:ea typeface="Century Gothic"/>
                <a:cs typeface="Century Gothic"/>
                <a:sym typeface="Century Gothic"/>
              </a:rPr>
              <a:t>Scope 1 : les émissions directes</a:t>
            </a:r>
            <a:endParaRPr dirty="0"/>
          </a:p>
          <a:p>
            <a:pPr marL="0" marR="0" lvl="0" indent="0" algn="l" rtl="0">
              <a:spcBef>
                <a:spcPts val="480"/>
              </a:spcBef>
              <a:spcAft>
                <a:spcPts val="0"/>
              </a:spcAft>
              <a:buClr>
                <a:srgbClr val="F79124"/>
              </a:buClr>
              <a:buSzPts val="2400"/>
              <a:buFont typeface="Arial"/>
              <a:buNone/>
            </a:pPr>
            <a:r>
              <a:rPr lang="fr-FR" sz="2400" b="0" cap="none" dirty="0">
                <a:solidFill>
                  <a:schemeClr val="dk1"/>
                </a:solidFill>
                <a:latin typeface="Century Gothic"/>
                <a:ea typeface="Century Gothic"/>
                <a:cs typeface="Century Gothic"/>
                <a:sym typeface="Century Gothic"/>
              </a:rPr>
              <a:t>Combustion d’énergie fossile (pétrole, charbon, gaz)</a:t>
            </a:r>
            <a:endParaRPr dirty="0"/>
          </a:p>
          <a:p>
            <a:pPr marL="0" marR="0" lvl="0" indent="0" algn="l" rtl="0">
              <a:spcBef>
                <a:spcPts val="480"/>
              </a:spcBef>
              <a:spcAft>
                <a:spcPts val="0"/>
              </a:spcAft>
              <a:buClr>
                <a:srgbClr val="F79124"/>
              </a:buClr>
              <a:buSzPts val="2400"/>
              <a:buFont typeface="Arial"/>
              <a:buNone/>
            </a:pPr>
            <a:r>
              <a:rPr lang="fr-FR" sz="2400" b="0" cap="none" dirty="0">
                <a:solidFill>
                  <a:schemeClr val="dk1"/>
                </a:solidFill>
                <a:latin typeface="Century Gothic"/>
                <a:ea typeface="Century Gothic"/>
                <a:cs typeface="Century Gothic"/>
                <a:sym typeface="Century Gothic"/>
              </a:rPr>
              <a:t>Procédés industriels ou agricoles produisant directement des GES (méthane, protoxyde d’azote…)</a:t>
            </a:r>
            <a:endParaRPr dirty="0"/>
          </a:p>
          <a:p>
            <a:pPr marL="0" marR="0" lvl="0" indent="0" algn="l" rtl="0">
              <a:spcBef>
                <a:spcPts val="480"/>
              </a:spcBef>
              <a:spcAft>
                <a:spcPts val="0"/>
              </a:spcAft>
              <a:buClr>
                <a:srgbClr val="F79124"/>
              </a:buClr>
              <a:buSzPts val="2400"/>
              <a:buFont typeface="Arial"/>
              <a:buNone/>
            </a:pPr>
            <a:endParaRPr sz="2400" b="1" cap="none" dirty="0">
              <a:solidFill>
                <a:srgbClr val="085160"/>
              </a:solidFill>
              <a:latin typeface="Century Gothic"/>
              <a:ea typeface="Century Gothic"/>
              <a:cs typeface="Century Gothic"/>
              <a:sym typeface="Century Gothic"/>
            </a:endParaRPr>
          </a:p>
        </p:txBody>
      </p:sp>
      <p:sp>
        <p:nvSpPr>
          <p:cNvPr id="1545" name="Google Shape;1545;p83"/>
          <p:cNvSpPr txBox="1"/>
          <p:nvPr/>
        </p:nvSpPr>
        <p:spPr>
          <a:xfrm>
            <a:off x="1568117" y="4077072"/>
            <a:ext cx="9208053" cy="1224136"/>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rgbClr val="F79124"/>
              </a:buClr>
              <a:buSzPts val="2400"/>
              <a:buFont typeface="Arial"/>
              <a:buNone/>
            </a:pPr>
            <a:r>
              <a:rPr lang="fr-FR" sz="2400" b="1" cap="none" dirty="0">
                <a:solidFill>
                  <a:srgbClr val="085160"/>
                </a:solidFill>
                <a:latin typeface="Century Gothic"/>
                <a:ea typeface="Century Gothic"/>
                <a:cs typeface="Century Gothic"/>
                <a:sym typeface="Century Gothic"/>
              </a:rPr>
              <a:t>Scope 2 : les émissions indirectes liées à l’énergie</a:t>
            </a:r>
            <a:endParaRPr dirty="0"/>
          </a:p>
          <a:p>
            <a:pPr marL="0" marR="0" lvl="0" indent="0" algn="l" rtl="0">
              <a:spcBef>
                <a:spcPts val="480"/>
              </a:spcBef>
              <a:spcAft>
                <a:spcPts val="0"/>
              </a:spcAft>
              <a:buClr>
                <a:srgbClr val="F79124"/>
              </a:buClr>
              <a:buSzPts val="2400"/>
              <a:buFont typeface="Arial"/>
              <a:buNone/>
            </a:pPr>
            <a:r>
              <a:rPr lang="fr-FR" sz="2400" b="0" cap="none" dirty="0">
                <a:solidFill>
                  <a:schemeClr val="dk1"/>
                </a:solidFill>
                <a:latin typeface="Century Gothic"/>
                <a:ea typeface="Century Gothic"/>
                <a:cs typeface="Century Gothic"/>
                <a:sym typeface="Century Gothic"/>
              </a:rPr>
              <a:t>Consommation d’électricité, réseaux de chaleur ou de froid</a:t>
            </a:r>
            <a:endParaRPr dirty="0"/>
          </a:p>
          <a:p>
            <a:pPr marL="0" marR="0" lvl="0" indent="0" algn="l" rtl="0">
              <a:spcBef>
                <a:spcPts val="480"/>
              </a:spcBef>
              <a:spcAft>
                <a:spcPts val="0"/>
              </a:spcAft>
              <a:buClr>
                <a:srgbClr val="F79124"/>
              </a:buClr>
              <a:buSzPts val="2400"/>
              <a:buFont typeface="Arial"/>
              <a:buNone/>
            </a:pPr>
            <a:endParaRPr sz="2400" b="1" cap="none" dirty="0">
              <a:solidFill>
                <a:srgbClr val="085160"/>
              </a:solidFill>
              <a:latin typeface="Century Gothic"/>
              <a:ea typeface="Century Gothic"/>
              <a:cs typeface="Century Gothic"/>
              <a:sym typeface="Century Gothic"/>
            </a:endParaRPr>
          </a:p>
        </p:txBody>
      </p:sp>
      <p:sp>
        <p:nvSpPr>
          <p:cNvPr id="1546" name="Google Shape;1546;p83"/>
          <p:cNvSpPr txBox="1"/>
          <p:nvPr/>
        </p:nvSpPr>
        <p:spPr>
          <a:xfrm>
            <a:off x="4943872" y="5178444"/>
            <a:ext cx="6912769" cy="1224136"/>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F79124"/>
              </a:buClr>
              <a:buSzPts val="2400"/>
              <a:buFont typeface="Arial"/>
              <a:buNone/>
            </a:pPr>
            <a:r>
              <a:rPr lang="fr-FR" sz="2400" b="1" cap="none">
                <a:solidFill>
                  <a:srgbClr val="085160"/>
                </a:solidFill>
                <a:latin typeface="Century Gothic"/>
                <a:ea typeface="Century Gothic"/>
                <a:cs typeface="Century Gothic"/>
                <a:sym typeface="Century Gothic"/>
              </a:rPr>
              <a:t>Scope 3 : Tout le reste (≈ 80% des émissions)!</a:t>
            </a:r>
            <a:endParaRPr/>
          </a:p>
          <a:p>
            <a:pPr marL="0" marR="0" lvl="0" indent="0" algn="l" rtl="0">
              <a:lnSpc>
                <a:spcPct val="90000"/>
              </a:lnSpc>
              <a:spcBef>
                <a:spcPts val="480"/>
              </a:spcBef>
              <a:spcAft>
                <a:spcPts val="0"/>
              </a:spcAft>
              <a:buClr>
                <a:srgbClr val="F79124"/>
              </a:buClr>
              <a:buSzPts val="2400"/>
              <a:buFont typeface="Arial"/>
              <a:buNone/>
            </a:pPr>
            <a:r>
              <a:rPr lang="fr-FR" sz="2400" b="0" cap="none">
                <a:solidFill>
                  <a:schemeClr val="dk1"/>
                </a:solidFill>
                <a:latin typeface="Century Gothic"/>
                <a:ea typeface="Century Gothic"/>
                <a:cs typeface="Century Gothic"/>
                <a:sym typeface="Century Gothic"/>
              </a:rPr>
              <a:t>Utilisation du produit, transport, gestion des déchets…</a:t>
            </a:r>
            <a:endParaRPr/>
          </a:p>
          <a:p>
            <a:pPr marL="0" marR="0" lvl="0" indent="0" algn="l" rtl="0">
              <a:lnSpc>
                <a:spcPct val="90000"/>
              </a:lnSpc>
              <a:spcBef>
                <a:spcPts val="480"/>
              </a:spcBef>
              <a:spcAft>
                <a:spcPts val="0"/>
              </a:spcAft>
              <a:buClr>
                <a:srgbClr val="F79124"/>
              </a:buClr>
              <a:buSzPts val="2400"/>
              <a:buFont typeface="Arial"/>
              <a:buNone/>
            </a:pPr>
            <a:endParaRPr sz="2400" b="1" cap="none">
              <a:solidFill>
                <a:srgbClr val="085160"/>
              </a:solidFill>
              <a:latin typeface="Century Gothic"/>
              <a:ea typeface="Century Gothic"/>
              <a:cs typeface="Century Gothic"/>
              <a:sym typeface="Century Gothic"/>
            </a:endParaRPr>
          </a:p>
        </p:txBody>
      </p:sp>
      <p:pic>
        <p:nvPicPr>
          <p:cNvPr id="1547" name="Google Shape;1547;p83"/>
          <p:cNvPicPr preferRelativeResize="0"/>
          <p:nvPr/>
        </p:nvPicPr>
        <p:blipFill rotWithShape="1">
          <a:blip r:embed="rId3">
            <a:alphaModFix/>
          </a:blip>
          <a:srcRect/>
          <a:stretch/>
        </p:blipFill>
        <p:spPr>
          <a:xfrm>
            <a:off x="839766" y="4079506"/>
            <a:ext cx="720080" cy="720080"/>
          </a:xfrm>
          <a:prstGeom prst="rect">
            <a:avLst/>
          </a:prstGeom>
          <a:noFill/>
          <a:ln>
            <a:noFill/>
          </a:ln>
        </p:spPr>
      </p:pic>
      <p:grpSp>
        <p:nvGrpSpPr>
          <p:cNvPr id="1548" name="Google Shape;1548;p83"/>
          <p:cNvGrpSpPr/>
          <p:nvPr/>
        </p:nvGrpSpPr>
        <p:grpSpPr>
          <a:xfrm>
            <a:off x="3287688" y="5157192"/>
            <a:ext cx="1384954" cy="1205991"/>
            <a:chOff x="3571256" y="5299860"/>
            <a:chExt cx="1384954" cy="1205991"/>
          </a:xfrm>
        </p:grpSpPr>
        <p:pic>
          <p:nvPicPr>
            <p:cNvPr id="1549" name="Google Shape;1549;p83"/>
            <p:cNvPicPr preferRelativeResize="0"/>
            <p:nvPr/>
          </p:nvPicPr>
          <p:blipFill rotWithShape="1">
            <a:blip r:embed="rId4">
              <a:alphaModFix/>
            </a:blip>
            <a:srcRect/>
            <a:stretch/>
          </p:blipFill>
          <p:spPr>
            <a:xfrm flipH="1">
              <a:off x="4463716" y="6107770"/>
              <a:ext cx="347464" cy="360000"/>
            </a:xfrm>
            <a:prstGeom prst="rect">
              <a:avLst/>
            </a:prstGeom>
            <a:noFill/>
            <a:ln>
              <a:noFill/>
            </a:ln>
          </p:spPr>
        </p:pic>
        <p:pic>
          <p:nvPicPr>
            <p:cNvPr id="1550" name="Google Shape;1550;p83"/>
            <p:cNvPicPr preferRelativeResize="0"/>
            <p:nvPr/>
          </p:nvPicPr>
          <p:blipFill rotWithShape="1">
            <a:blip r:embed="rId5">
              <a:alphaModFix/>
            </a:blip>
            <a:srcRect/>
            <a:stretch/>
          </p:blipFill>
          <p:spPr>
            <a:xfrm>
              <a:off x="4182292" y="5747770"/>
              <a:ext cx="360000" cy="360000"/>
            </a:xfrm>
            <a:prstGeom prst="rect">
              <a:avLst/>
            </a:prstGeom>
            <a:noFill/>
            <a:ln>
              <a:noFill/>
            </a:ln>
          </p:spPr>
        </p:pic>
        <p:pic>
          <p:nvPicPr>
            <p:cNvPr id="1551" name="Google Shape;1551;p83"/>
            <p:cNvPicPr preferRelativeResize="0"/>
            <p:nvPr/>
          </p:nvPicPr>
          <p:blipFill rotWithShape="1">
            <a:blip r:embed="rId6">
              <a:alphaModFix/>
            </a:blip>
            <a:srcRect/>
            <a:stretch/>
          </p:blipFill>
          <p:spPr>
            <a:xfrm>
              <a:off x="4596210" y="5567770"/>
              <a:ext cx="360000" cy="360000"/>
            </a:xfrm>
            <a:prstGeom prst="rect">
              <a:avLst/>
            </a:prstGeom>
            <a:noFill/>
            <a:ln>
              <a:noFill/>
            </a:ln>
          </p:spPr>
        </p:pic>
        <p:pic>
          <p:nvPicPr>
            <p:cNvPr id="1552" name="Google Shape;1552;p83"/>
            <p:cNvPicPr preferRelativeResize="0"/>
            <p:nvPr/>
          </p:nvPicPr>
          <p:blipFill rotWithShape="1">
            <a:blip r:embed="rId7">
              <a:alphaModFix/>
            </a:blip>
            <a:srcRect/>
            <a:stretch/>
          </p:blipFill>
          <p:spPr>
            <a:xfrm>
              <a:off x="3571256" y="5659860"/>
              <a:ext cx="360000" cy="360000"/>
            </a:xfrm>
            <a:prstGeom prst="rect">
              <a:avLst/>
            </a:prstGeom>
            <a:noFill/>
            <a:ln>
              <a:noFill/>
            </a:ln>
          </p:spPr>
        </p:pic>
        <p:pic>
          <p:nvPicPr>
            <p:cNvPr id="1553" name="Google Shape;1553;p83"/>
            <p:cNvPicPr preferRelativeResize="0"/>
            <p:nvPr/>
          </p:nvPicPr>
          <p:blipFill rotWithShape="1">
            <a:blip r:embed="rId8">
              <a:alphaModFix/>
            </a:blip>
            <a:srcRect/>
            <a:stretch/>
          </p:blipFill>
          <p:spPr>
            <a:xfrm>
              <a:off x="4041580" y="5299860"/>
              <a:ext cx="360000" cy="360000"/>
            </a:xfrm>
            <a:prstGeom prst="rect">
              <a:avLst/>
            </a:prstGeom>
            <a:noFill/>
            <a:ln>
              <a:noFill/>
            </a:ln>
          </p:spPr>
        </p:pic>
        <p:pic>
          <p:nvPicPr>
            <p:cNvPr id="1554" name="Google Shape;1554;p83"/>
            <p:cNvPicPr preferRelativeResize="0"/>
            <p:nvPr/>
          </p:nvPicPr>
          <p:blipFill rotWithShape="1">
            <a:blip r:embed="rId9">
              <a:alphaModFix/>
            </a:blip>
            <a:srcRect/>
            <a:stretch/>
          </p:blipFill>
          <p:spPr>
            <a:xfrm>
              <a:off x="3852680" y="6145851"/>
              <a:ext cx="360000" cy="360000"/>
            </a:xfrm>
            <a:prstGeom prst="rect">
              <a:avLst/>
            </a:prstGeom>
            <a:noFill/>
            <a:ln>
              <a:noFill/>
            </a:ln>
          </p:spPr>
        </p:pic>
      </p:grpSp>
      <p:pic>
        <p:nvPicPr>
          <p:cNvPr id="1555" name="Google Shape;1555;p83"/>
          <p:cNvPicPr preferRelativeResize="0"/>
          <p:nvPr/>
        </p:nvPicPr>
        <p:blipFill rotWithShape="1">
          <a:blip r:embed="rId10">
            <a:alphaModFix/>
          </a:blip>
          <a:srcRect/>
          <a:stretch/>
        </p:blipFill>
        <p:spPr>
          <a:xfrm>
            <a:off x="767408" y="2348880"/>
            <a:ext cx="720080" cy="720080"/>
          </a:xfrm>
          <a:prstGeom prst="rect">
            <a:avLst/>
          </a:prstGeom>
          <a:noFill/>
          <a:ln>
            <a:noFill/>
          </a:ln>
        </p:spPr>
      </p:pic>
      <p:sp>
        <p:nvSpPr>
          <p:cNvPr id="1556" name="Google Shape;1556;p83"/>
          <p:cNvSpPr/>
          <p:nvPr/>
        </p:nvSpPr>
        <p:spPr>
          <a:xfrm>
            <a:off x="10704512" y="2420888"/>
            <a:ext cx="432048" cy="2088232"/>
          </a:xfrm>
          <a:prstGeom prst="rightBrace">
            <a:avLst>
              <a:gd name="adj1" fmla="val 61244"/>
              <a:gd name="adj2" fmla="val 49652"/>
            </a:avLst>
          </a:prstGeom>
          <a:noFill/>
          <a:ln w="38100" cap="flat" cmpd="sng">
            <a:solidFill>
              <a:srgbClr val="08516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pic>
        <p:nvPicPr>
          <p:cNvPr id="1557" name="Google Shape;1557;p83"/>
          <p:cNvPicPr preferRelativeResize="0"/>
          <p:nvPr/>
        </p:nvPicPr>
        <p:blipFill rotWithShape="1">
          <a:blip r:embed="rId11">
            <a:alphaModFix/>
          </a:blip>
          <a:srcRect/>
          <a:stretch/>
        </p:blipFill>
        <p:spPr>
          <a:xfrm>
            <a:off x="11326604" y="3105004"/>
            <a:ext cx="720000" cy="720000"/>
          </a:xfrm>
          <a:prstGeom prst="rect">
            <a:avLst/>
          </a:prstGeom>
          <a:noFill/>
          <a:ln>
            <a:noFill/>
          </a:ln>
        </p:spPr>
      </p:pic>
      <p:sp>
        <p:nvSpPr>
          <p:cNvPr id="19" name="Google Shape;1255;p66">
            <a:extLst>
              <a:ext uri="{FF2B5EF4-FFF2-40B4-BE49-F238E27FC236}">
                <a16:creationId xmlns:a16="http://schemas.microsoft.com/office/drawing/2014/main" id="{B49DF7E1-D67B-4A04-8DFE-242FA5F27961}"/>
              </a:ext>
            </a:extLst>
          </p:cNvPr>
          <p:cNvSpPr txBox="1"/>
          <p:nvPr/>
        </p:nvSpPr>
        <p:spPr>
          <a:xfrm>
            <a:off x="11032070" y="3901887"/>
            <a:ext cx="1309068" cy="64629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085160"/>
              </a:buClr>
              <a:buSzPts val="1800"/>
              <a:buFont typeface="Noto Sans Symbols"/>
              <a:buNone/>
            </a:pPr>
            <a:r>
              <a:rPr lang="fr-FR" sz="1800" b="1" dirty="0">
                <a:solidFill>
                  <a:schemeClr val="accent1"/>
                </a:solidFill>
                <a:latin typeface="Century Gothic"/>
                <a:ea typeface="Century Gothic"/>
                <a:cs typeface="Century Gothic"/>
                <a:sym typeface="Century Gothic"/>
              </a:rPr>
              <a:t>BEGES légal</a:t>
            </a:r>
            <a:endParaRPr dirty="0">
              <a:solidFill>
                <a:schemeClr val="accent1"/>
              </a:solidFill>
            </a:endParaRPr>
          </a:p>
        </p:txBody>
      </p:sp>
      <p:sp>
        <p:nvSpPr>
          <p:cNvPr id="20" name="Google Shape;130;p3">
            <a:extLst>
              <a:ext uri="{FF2B5EF4-FFF2-40B4-BE49-F238E27FC236}">
                <a16:creationId xmlns:a16="http://schemas.microsoft.com/office/drawing/2014/main" id="{7F673C92-A3A0-4C48-BF90-F4DC59CCE390}"/>
              </a:ext>
            </a:extLst>
          </p:cNvPr>
          <p:cNvSpPr txBox="1">
            <a:spLocks/>
          </p:cNvSpPr>
          <p:nvPr/>
        </p:nvSpPr>
        <p:spPr>
          <a:xfrm>
            <a:off x="0" y="6306650"/>
            <a:ext cx="611188" cy="365125"/>
          </a:xfrm>
          <a:prstGeom prst="rect">
            <a:avLst/>
          </a:prstGeom>
          <a:noFill/>
          <a:ln>
            <a:noFill/>
          </a:ln>
        </p:spPr>
        <p:txBody>
          <a:bodyPr spcFirstLastPara="1" wrap="square" lIns="0" tIns="0" rIns="0" bIns="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
                <a:srgbClr val="000000"/>
              </a:buClr>
              <a:buSzPts val="1400"/>
              <a:buFont typeface="Arial"/>
              <a:buNone/>
            </a:pPr>
            <a:fld id="{00000000-1234-1234-1234-123412341234}" type="slidenum">
              <a:rPr lang="fr-FR" smtClean="0"/>
              <a:pPr algn="ctr">
                <a:buClr>
                  <a:srgbClr val="000000"/>
                </a:buClr>
                <a:buSzPts val="1400"/>
                <a:buFont typeface="Arial"/>
                <a:buNone/>
              </a:pPr>
              <a:t>12</a:t>
            </a:fld>
            <a:endParaRPr lang="fr-FR" dirty="0"/>
          </a:p>
        </p:txBody>
      </p:sp>
    </p:spTree>
    <p:extLst>
      <p:ext uri="{BB962C8B-B14F-4D97-AF65-F5344CB8AC3E}">
        <p14:creationId xmlns:p14="http://schemas.microsoft.com/office/powerpoint/2010/main" val="21339098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84"/>
        <p:cNvGrpSpPr/>
        <p:nvPr/>
      </p:nvGrpSpPr>
      <p:grpSpPr>
        <a:xfrm>
          <a:off x="0" y="0"/>
          <a:ext cx="0" cy="0"/>
          <a:chOff x="0" y="0"/>
          <a:chExt cx="0" cy="0"/>
        </a:xfrm>
      </p:grpSpPr>
      <p:sp>
        <p:nvSpPr>
          <p:cNvPr id="1785" name="Google Shape;1785;p90"/>
          <p:cNvSpPr txBox="1">
            <a:spLocks noGrp="1"/>
          </p:cNvSpPr>
          <p:nvPr>
            <p:ph type="title"/>
          </p:nvPr>
        </p:nvSpPr>
        <p:spPr>
          <a:xfrm>
            <a:off x="2027548" y="0"/>
            <a:ext cx="8028892" cy="9807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fr-FR" sz="2800"/>
              <a:t>Ce</a:t>
            </a:r>
            <a:r>
              <a:rPr lang="fr-FR"/>
              <a:t> qu’il faut re</a:t>
            </a:r>
            <a:r>
              <a:rPr lang="fr-FR" sz="3600"/>
              <a:t>te</a:t>
            </a:r>
            <a:r>
              <a:rPr lang="fr-FR"/>
              <a:t>nir</a:t>
            </a:r>
            <a:endParaRPr/>
          </a:p>
        </p:txBody>
      </p:sp>
      <p:pic>
        <p:nvPicPr>
          <p:cNvPr id="1786" name="Google Shape;1786;p90"/>
          <p:cNvPicPr preferRelativeResize="0"/>
          <p:nvPr/>
        </p:nvPicPr>
        <p:blipFill rotWithShape="1">
          <a:blip r:embed="rId3">
            <a:alphaModFix/>
          </a:blip>
          <a:srcRect/>
          <a:stretch/>
        </p:blipFill>
        <p:spPr>
          <a:xfrm flipH="1">
            <a:off x="4223792" y="199033"/>
            <a:ext cx="939563" cy="939563"/>
          </a:xfrm>
          <a:prstGeom prst="rect">
            <a:avLst/>
          </a:prstGeom>
          <a:noFill/>
          <a:ln>
            <a:noFill/>
          </a:ln>
        </p:spPr>
      </p:pic>
      <p:sp>
        <p:nvSpPr>
          <p:cNvPr id="1787" name="Google Shape;1787;p90"/>
          <p:cNvSpPr txBox="1"/>
          <p:nvPr/>
        </p:nvSpPr>
        <p:spPr>
          <a:xfrm>
            <a:off x="1559496" y="1179761"/>
            <a:ext cx="10351453" cy="53721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F79124"/>
              </a:buClr>
              <a:buSzPts val="2400"/>
              <a:buFont typeface="Arial"/>
              <a:buNone/>
            </a:pPr>
            <a:r>
              <a:rPr lang="fr-FR" sz="2400" b="1" cap="none" dirty="0">
                <a:solidFill>
                  <a:srgbClr val="085160"/>
                </a:solidFill>
                <a:latin typeface="Century Gothic"/>
                <a:ea typeface="Century Gothic"/>
                <a:cs typeface="Century Gothic"/>
                <a:sym typeface="Century Gothic"/>
              </a:rPr>
              <a:t>Un Bilan Carbone® ne mesure pas les émissions dont on est responsable. </a:t>
            </a:r>
            <a:r>
              <a:rPr lang="fr-FR" sz="2400" b="1" cap="none" dirty="0">
                <a:solidFill>
                  <a:srgbClr val="F6AB38"/>
                </a:solidFill>
                <a:latin typeface="Century Gothic"/>
                <a:ea typeface="Century Gothic"/>
                <a:cs typeface="Century Gothic"/>
                <a:sym typeface="Century Gothic"/>
              </a:rPr>
              <a:t>On ne cherche pas de coupable. </a:t>
            </a:r>
            <a:r>
              <a:rPr lang="fr-FR" sz="2400" b="1" cap="none" dirty="0">
                <a:solidFill>
                  <a:srgbClr val="085160"/>
                </a:solidFill>
                <a:latin typeface="Century Gothic"/>
                <a:ea typeface="Century Gothic"/>
                <a:cs typeface="Century Gothic"/>
                <a:sym typeface="Century Gothic"/>
              </a:rPr>
              <a:t>On cherche à  déterminer là où on peut agir le plus efficacement !</a:t>
            </a:r>
            <a:endParaRPr sz="2400" b="1" cap="none" dirty="0">
              <a:solidFill>
                <a:srgbClr val="085160"/>
              </a:solidFill>
              <a:latin typeface="Century Gothic"/>
              <a:ea typeface="Century Gothic"/>
              <a:cs typeface="Century Gothic"/>
              <a:sym typeface="Century Gothic"/>
            </a:endParaRPr>
          </a:p>
          <a:p>
            <a:pPr marL="0" marR="0" lvl="0" indent="0" algn="just" rtl="0">
              <a:spcBef>
                <a:spcPts val="1800"/>
              </a:spcBef>
              <a:spcAft>
                <a:spcPts val="0"/>
              </a:spcAft>
              <a:buClr>
                <a:srgbClr val="166478"/>
              </a:buClr>
              <a:buSzPts val="2400"/>
              <a:buFont typeface="Arial"/>
              <a:buNone/>
            </a:pPr>
            <a:r>
              <a:rPr lang="fr-FR" sz="2400" b="1" cap="none" dirty="0">
                <a:solidFill>
                  <a:srgbClr val="085160"/>
                </a:solidFill>
                <a:latin typeface="Century Gothic"/>
                <a:ea typeface="Century Gothic"/>
                <a:cs typeface="Century Gothic"/>
                <a:sym typeface="Century Gothic"/>
              </a:rPr>
              <a:t>Faire un Bilan Carbone®, ça commence par </a:t>
            </a:r>
            <a:r>
              <a:rPr lang="fr-FR" sz="2400" b="1" cap="none" dirty="0">
                <a:solidFill>
                  <a:srgbClr val="F6AB38"/>
                </a:solidFill>
                <a:latin typeface="Century Gothic"/>
                <a:ea typeface="Century Gothic"/>
                <a:cs typeface="Century Gothic"/>
                <a:sym typeface="Century Gothic"/>
              </a:rPr>
              <a:t>fixer un périmètre</a:t>
            </a:r>
            <a:r>
              <a:rPr lang="fr-FR" sz="2400" b="1" cap="none" dirty="0">
                <a:solidFill>
                  <a:srgbClr val="085160"/>
                </a:solidFill>
                <a:latin typeface="Century Gothic"/>
                <a:ea typeface="Century Gothic"/>
                <a:cs typeface="Century Gothic"/>
                <a:sym typeface="Century Gothic"/>
              </a:rPr>
              <a:t>. Des choix à faire, et </a:t>
            </a:r>
            <a:r>
              <a:rPr lang="fr-FR" sz="2400" b="1" cap="none" dirty="0">
                <a:solidFill>
                  <a:srgbClr val="F6AB38"/>
                </a:solidFill>
                <a:latin typeface="Century Gothic"/>
                <a:ea typeface="Century Gothic"/>
                <a:cs typeface="Century Gothic"/>
                <a:sym typeface="Century Gothic"/>
              </a:rPr>
              <a:t>pas de règle absolue</a:t>
            </a:r>
            <a:r>
              <a:rPr lang="fr-FR" sz="2400" b="1" cap="none" dirty="0">
                <a:solidFill>
                  <a:srgbClr val="085160"/>
                </a:solidFill>
                <a:latin typeface="Century Gothic"/>
                <a:ea typeface="Century Gothic"/>
                <a:cs typeface="Century Gothic"/>
                <a:sym typeface="Century Gothic"/>
              </a:rPr>
              <a:t>, tant que c’est argumenté ! Pensez à bien noter vos justifications quelque part ! </a:t>
            </a:r>
            <a:endParaRPr dirty="0"/>
          </a:p>
          <a:p>
            <a:pPr marL="0" marR="0" lvl="0" indent="0" algn="just" rtl="0">
              <a:spcBef>
                <a:spcPts val="3000"/>
              </a:spcBef>
              <a:spcAft>
                <a:spcPts val="0"/>
              </a:spcAft>
              <a:buClr>
                <a:srgbClr val="166478"/>
              </a:buClr>
              <a:buSzPts val="2400"/>
              <a:buFont typeface="Arial"/>
              <a:buNone/>
            </a:pPr>
            <a:r>
              <a:rPr lang="fr-FR" sz="2400" b="1" cap="none" dirty="0">
                <a:solidFill>
                  <a:srgbClr val="F6AB38"/>
                </a:solidFill>
                <a:latin typeface="Century Gothic"/>
                <a:ea typeface="Century Gothic"/>
                <a:cs typeface="Century Gothic"/>
                <a:sym typeface="Century Gothic"/>
              </a:rPr>
              <a:t>3 règles d’or : </a:t>
            </a:r>
            <a:r>
              <a:rPr lang="fr-FR" sz="2400" b="1" cap="none" dirty="0">
                <a:solidFill>
                  <a:srgbClr val="085160"/>
                </a:solidFill>
                <a:latin typeface="Century Gothic"/>
                <a:ea typeface="Century Gothic"/>
                <a:cs typeface="Century Gothic"/>
                <a:sym typeface="Century Gothic"/>
              </a:rPr>
              <a:t>Compter au prorata, chercher ses dépendances et ses leviers d’actions et procéder de manière itérative ! </a:t>
            </a:r>
            <a:endParaRPr dirty="0"/>
          </a:p>
          <a:p>
            <a:pPr marL="0" marR="0" lvl="0" indent="0" algn="just" rtl="0">
              <a:spcBef>
                <a:spcPts val="2400"/>
              </a:spcBef>
              <a:spcAft>
                <a:spcPts val="0"/>
              </a:spcAft>
              <a:buClr>
                <a:srgbClr val="166478"/>
              </a:buClr>
              <a:buSzPts val="2400"/>
              <a:buFont typeface="Arial"/>
              <a:buNone/>
            </a:pPr>
            <a:r>
              <a:rPr lang="fr-FR" sz="2400" b="1" cap="none" dirty="0">
                <a:solidFill>
                  <a:srgbClr val="085160"/>
                </a:solidFill>
                <a:latin typeface="Century Gothic"/>
                <a:ea typeface="Century Gothic"/>
                <a:cs typeface="Century Gothic"/>
                <a:sym typeface="Century Gothic"/>
              </a:rPr>
              <a:t>La question du périmètre est fondamentale, et doit être largement détaillée dans </a:t>
            </a:r>
            <a:r>
              <a:rPr lang="fr-FR" sz="2400" b="1" cap="none" dirty="0">
                <a:solidFill>
                  <a:srgbClr val="F6AB38"/>
                </a:solidFill>
                <a:latin typeface="Century Gothic"/>
                <a:ea typeface="Century Gothic"/>
                <a:cs typeface="Century Gothic"/>
                <a:sym typeface="Century Gothic"/>
              </a:rPr>
              <a:t>la restitution </a:t>
            </a:r>
            <a:r>
              <a:rPr lang="fr-FR" sz="2400" b="1" cap="none" dirty="0">
                <a:solidFill>
                  <a:srgbClr val="085160"/>
                </a:solidFill>
                <a:latin typeface="Century Gothic"/>
                <a:ea typeface="Century Gothic"/>
                <a:cs typeface="Century Gothic"/>
                <a:sym typeface="Century Gothic"/>
              </a:rPr>
              <a:t>de la démarche Bilan Carbone. C’est pour ça qu’il faut un </a:t>
            </a:r>
            <a:r>
              <a:rPr lang="fr-FR" sz="2400" b="1" cap="none" dirty="0">
                <a:solidFill>
                  <a:srgbClr val="F6AB38"/>
                </a:solidFill>
                <a:latin typeface="Century Gothic"/>
                <a:ea typeface="Century Gothic"/>
                <a:cs typeface="Century Gothic"/>
                <a:sym typeface="Century Gothic"/>
              </a:rPr>
              <a:t>rapport</a:t>
            </a:r>
            <a:r>
              <a:rPr lang="fr-FR" sz="2400" b="1" cap="none" dirty="0">
                <a:solidFill>
                  <a:srgbClr val="085160"/>
                </a:solidFill>
                <a:latin typeface="Century Gothic"/>
                <a:ea typeface="Century Gothic"/>
                <a:cs typeface="Century Gothic"/>
                <a:sym typeface="Century Gothic"/>
              </a:rPr>
              <a:t> détaillé !</a:t>
            </a:r>
            <a:endParaRPr dirty="0"/>
          </a:p>
        </p:txBody>
      </p:sp>
      <p:pic>
        <p:nvPicPr>
          <p:cNvPr id="1788" name="Google Shape;1788;p90"/>
          <p:cNvPicPr preferRelativeResize="0"/>
          <p:nvPr/>
        </p:nvPicPr>
        <p:blipFill rotWithShape="1">
          <a:blip r:embed="rId4">
            <a:alphaModFix/>
          </a:blip>
          <a:srcRect/>
          <a:stretch/>
        </p:blipFill>
        <p:spPr>
          <a:xfrm>
            <a:off x="533726" y="2780928"/>
            <a:ext cx="720000" cy="720000"/>
          </a:xfrm>
          <a:prstGeom prst="rect">
            <a:avLst/>
          </a:prstGeom>
          <a:noFill/>
          <a:ln>
            <a:noFill/>
          </a:ln>
        </p:spPr>
      </p:pic>
      <p:pic>
        <p:nvPicPr>
          <p:cNvPr id="1789" name="Google Shape;1789;p90"/>
          <p:cNvPicPr preferRelativeResize="0"/>
          <p:nvPr/>
        </p:nvPicPr>
        <p:blipFill rotWithShape="1">
          <a:blip r:embed="rId5">
            <a:alphaModFix/>
          </a:blip>
          <a:srcRect/>
          <a:stretch/>
        </p:blipFill>
        <p:spPr>
          <a:xfrm>
            <a:off x="533726" y="4149080"/>
            <a:ext cx="720000" cy="720000"/>
          </a:xfrm>
          <a:prstGeom prst="rect">
            <a:avLst/>
          </a:prstGeom>
          <a:noFill/>
          <a:ln>
            <a:noFill/>
          </a:ln>
        </p:spPr>
      </p:pic>
      <p:pic>
        <p:nvPicPr>
          <p:cNvPr id="1790" name="Google Shape;1790;p90"/>
          <p:cNvPicPr preferRelativeResize="0"/>
          <p:nvPr/>
        </p:nvPicPr>
        <p:blipFill rotWithShape="1">
          <a:blip r:embed="rId6">
            <a:alphaModFix/>
          </a:blip>
          <a:srcRect/>
          <a:stretch/>
        </p:blipFill>
        <p:spPr>
          <a:xfrm>
            <a:off x="479376" y="1411925"/>
            <a:ext cx="720000" cy="720000"/>
          </a:xfrm>
          <a:prstGeom prst="rect">
            <a:avLst/>
          </a:prstGeom>
          <a:noFill/>
          <a:ln>
            <a:noFill/>
          </a:ln>
        </p:spPr>
      </p:pic>
      <p:pic>
        <p:nvPicPr>
          <p:cNvPr id="1791" name="Google Shape;1791;p90"/>
          <p:cNvPicPr preferRelativeResize="0"/>
          <p:nvPr/>
        </p:nvPicPr>
        <p:blipFill rotWithShape="1">
          <a:blip r:embed="rId7">
            <a:alphaModFix/>
          </a:blip>
          <a:srcRect/>
          <a:stretch/>
        </p:blipFill>
        <p:spPr>
          <a:xfrm>
            <a:off x="533726" y="5301208"/>
            <a:ext cx="720000" cy="720000"/>
          </a:xfrm>
          <a:prstGeom prst="rect">
            <a:avLst/>
          </a:prstGeom>
          <a:noFill/>
          <a:ln>
            <a:noFill/>
          </a:ln>
        </p:spPr>
      </p:pic>
      <p:sp>
        <p:nvSpPr>
          <p:cNvPr id="9" name="Google Shape;130;p3">
            <a:extLst>
              <a:ext uri="{FF2B5EF4-FFF2-40B4-BE49-F238E27FC236}">
                <a16:creationId xmlns:a16="http://schemas.microsoft.com/office/drawing/2014/main" id="{29B55518-C55A-444E-9B0B-303EC89522CC}"/>
              </a:ext>
            </a:extLst>
          </p:cNvPr>
          <p:cNvSpPr txBox="1">
            <a:spLocks/>
          </p:cNvSpPr>
          <p:nvPr/>
        </p:nvSpPr>
        <p:spPr>
          <a:xfrm>
            <a:off x="0" y="6259758"/>
            <a:ext cx="611188" cy="365125"/>
          </a:xfrm>
          <a:prstGeom prst="rect">
            <a:avLst/>
          </a:prstGeom>
          <a:noFill/>
          <a:ln>
            <a:noFill/>
          </a:ln>
        </p:spPr>
        <p:txBody>
          <a:bodyPr spcFirstLastPara="1" wrap="square" lIns="0" tIns="0" rIns="0" bIns="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
                <a:srgbClr val="000000"/>
              </a:buClr>
              <a:buSzPts val="1400"/>
              <a:buFont typeface="Arial"/>
              <a:buNone/>
            </a:pPr>
            <a:fld id="{00000000-1234-1234-1234-123412341234}" type="slidenum">
              <a:rPr lang="fr-FR" smtClean="0"/>
              <a:pPr algn="ctr">
                <a:buClr>
                  <a:srgbClr val="000000"/>
                </a:buClr>
                <a:buSzPts val="1400"/>
                <a:buFont typeface="Arial"/>
                <a:buNone/>
              </a:pPr>
              <a:t>13</a:t>
            </a:fld>
            <a:endParaRPr lang="fr-FR" dirty="0"/>
          </a:p>
        </p:txBody>
      </p:sp>
    </p:spTree>
    <p:extLst>
      <p:ext uri="{BB962C8B-B14F-4D97-AF65-F5344CB8AC3E}">
        <p14:creationId xmlns:p14="http://schemas.microsoft.com/office/powerpoint/2010/main" val="1567451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95"/>
        <p:cNvGrpSpPr/>
        <p:nvPr/>
      </p:nvGrpSpPr>
      <p:grpSpPr>
        <a:xfrm>
          <a:off x="0" y="0"/>
          <a:ext cx="0" cy="0"/>
          <a:chOff x="0" y="0"/>
          <a:chExt cx="0" cy="0"/>
        </a:xfrm>
      </p:grpSpPr>
      <p:sp>
        <p:nvSpPr>
          <p:cNvPr id="1796" name="Google Shape;1796;p91"/>
          <p:cNvSpPr txBox="1">
            <a:spLocks noGrp="1"/>
          </p:cNvSpPr>
          <p:nvPr>
            <p:ph type="body" idx="1"/>
          </p:nvPr>
        </p:nvSpPr>
        <p:spPr>
          <a:xfrm>
            <a:off x="0" y="2492897"/>
            <a:ext cx="10363200" cy="1500187"/>
          </a:xfrm>
          <a:prstGeom prst="rect">
            <a:avLst/>
          </a:prstGeom>
          <a:solidFill>
            <a:srgbClr val="F6AB38"/>
          </a:solidFill>
          <a:ln>
            <a:noFill/>
          </a:ln>
        </p:spPr>
        <p:txBody>
          <a:bodyPr spcFirstLastPara="1" wrap="square" lIns="216000" tIns="45700" rIns="91425" bIns="45700" anchor="ctr" anchorCtr="0">
            <a:normAutofit/>
          </a:bodyPr>
          <a:lstStyle/>
          <a:p>
            <a:pPr marL="0" lvl="0" indent="0" algn="l" rtl="0">
              <a:spcBef>
                <a:spcPts val="0"/>
              </a:spcBef>
              <a:spcAft>
                <a:spcPts val="0"/>
              </a:spcAft>
              <a:buSzPts val="4000"/>
              <a:buNone/>
            </a:pPr>
            <a:r>
              <a:rPr lang="fr-FR"/>
              <a:t>Collecter les données</a:t>
            </a:r>
            <a:endParaRPr/>
          </a:p>
        </p:txBody>
      </p:sp>
      <p:grpSp>
        <p:nvGrpSpPr>
          <p:cNvPr id="1797" name="Google Shape;1797;p91"/>
          <p:cNvGrpSpPr/>
          <p:nvPr/>
        </p:nvGrpSpPr>
        <p:grpSpPr>
          <a:xfrm>
            <a:off x="3287688" y="4149080"/>
            <a:ext cx="5875109" cy="2232248"/>
            <a:chOff x="3821291" y="4293096"/>
            <a:chExt cx="5875109" cy="2232248"/>
          </a:xfrm>
        </p:grpSpPr>
        <p:pic>
          <p:nvPicPr>
            <p:cNvPr id="1798" name="Google Shape;1798;p91"/>
            <p:cNvPicPr preferRelativeResize="0"/>
            <p:nvPr/>
          </p:nvPicPr>
          <p:blipFill rotWithShape="1">
            <a:blip r:embed="rId3">
              <a:alphaModFix/>
            </a:blip>
            <a:srcRect/>
            <a:stretch/>
          </p:blipFill>
          <p:spPr>
            <a:xfrm>
              <a:off x="7464152" y="4293096"/>
              <a:ext cx="2232248" cy="2232248"/>
            </a:xfrm>
            <a:prstGeom prst="rect">
              <a:avLst/>
            </a:prstGeom>
            <a:noFill/>
            <a:ln>
              <a:noFill/>
            </a:ln>
          </p:spPr>
        </p:pic>
        <p:pic>
          <p:nvPicPr>
            <p:cNvPr id="1799" name="Google Shape;1799;p91"/>
            <p:cNvPicPr preferRelativeResize="0"/>
            <p:nvPr/>
          </p:nvPicPr>
          <p:blipFill rotWithShape="1">
            <a:blip r:embed="rId4">
              <a:alphaModFix/>
            </a:blip>
            <a:srcRect/>
            <a:stretch/>
          </p:blipFill>
          <p:spPr>
            <a:xfrm>
              <a:off x="4947679" y="4638502"/>
              <a:ext cx="576000" cy="576000"/>
            </a:xfrm>
            <a:prstGeom prst="rect">
              <a:avLst/>
            </a:prstGeom>
            <a:noFill/>
            <a:ln>
              <a:noFill/>
            </a:ln>
          </p:spPr>
        </p:pic>
        <p:pic>
          <p:nvPicPr>
            <p:cNvPr id="1800" name="Google Shape;1800;p91"/>
            <p:cNvPicPr preferRelativeResize="0"/>
            <p:nvPr/>
          </p:nvPicPr>
          <p:blipFill rotWithShape="1">
            <a:blip r:embed="rId5">
              <a:alphaModFix/>
            </a:blip>
            <a:srcRect/>
            <a:stretch/>
          </p:blipFill>
          <p:spPr>
            <a:xfrm>
              <a:off x="4764291" y="5773114"/>
              <a:ext cx="576000" cy="576000"/>
            </a:xfrm>
            <a:prstGeom prst="rect">
              <a:avLst/>
            </a:prstGeom>
            <a:noFill/>
            <a:ln>
              <a:noFill/>
            </a:ln>
          </p:spPr>
        </p:pic>
        <p:grpSp>
          <p:nvGrpSpPr>
            <p:cNvPr id="1801" name="Google Shape;1801;p91"/>
            <p:cNvGrpSpPr/>
            <p:nvPr/>
          </p:nvGrpSpPr>
          <p:grpSpPr>
            <a:xfrm flipH="1">
              <a:off x="3821291" y="5812763"/>
              <a:ext cx="576000" cy="576000"/>
              <a:chOff x="93862" y="4314179"/>
              <a:chExt cx="3524724" cy="3401983"/>
            </a:xfrm>
          </p:grpSpPr>
          <p:sp>
            <p:nvSpPr>
              <p:cNvPr id="1802" name="Google Shape;1802;p91"/>
              <p:cNvSpPr/>
              <p:nvPr/>
            </p:nvSpPr>
            <p:spPr>
              <a:xfrm>
                <a:off x="3258546" y="6236420"/>
                <a:ext cx="360040" cy="144016"/>
              </a:xfrm>
              <a:prstGeom prst="rect">
                <a:avLst/>
              </a:prstGeom>
              <a:solidFill>
                <a:srgbClr val="3F3F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803" name="Google Shape;1803;p91"/>
              <p:cNvPicPr preferRelativeResize="0"/>
              <p:nvPr/>
            </p:nvPicPr>
            <p:blipFill rotWithShape="1">
              <a:blip r:embed="rId6">
                <a:alphaModFix/>
              </a:blip>
              <a:srcRect/>
              <a:stretch/>
            </p:blipFill>
            <p:spPr>
              <a:xfrm>
                <a:off x="93862" y="4314179"/>
                <a:ext cx="3401983" cy="3401983"/>
              </a:xfrm>
              <a:prstGeom prst="rect">
                <a:avLst/>
              </a:prstGeom>
              <a:noFill/>
              <a:ln>
                <a:noFill/>
              </a:ln>
            </p:spPr>
          </p:pic>
        </p:grpSp>
        <p:pic>
          <p:nvPicPr>
            <p:cNvPr id="1804" name="Google Shape;1804;p91"/>
            <p:cNvPicPr preferRelativeResize="0"/>
            <p:nvPr/>
          </p:nvPicPr>
          <p:blipFill rotWithShape="1">
            <a:blip r:embed="rId7">
              <a:alphaModFix/>
            </a:blip>
            <a:srcRect/>
            <a:stretch/>
          </p:blipFill>
          <p:spPr>
            <a:xfrm>
              <a:off x="4118478" y="4513242"/>
              <a:ext cx="576000" cy="576000"/>
            </a:xfrm>
            <a:prstGeom prst="rect">
              <a:avLst/>
            </a:prstGeom>
            <a:noFill/>
            <a:ln>
              <a:noFill/>
            </a:ln>
          </p:spPr>
        </p:pic>
        <p:pic>
          <p:nvPicPr>
            <p:cNvPr id="1805" name="Google Shape;1805;p91"/>
            <p:cNvPicPr preferRelativeResize="0"/>
            <p:nvPr/>
          </p:nvPicPr>
          <p:blipFill rotWithShape="1">
            <a:blip r:embed="rId8">
              <a:alphaModFix/>
            </a:blip>
            <a:srcRect/>
            <a:stretch/>
          </p:blipFill>
          <p:spPr>
            <a:xfrm>
              <a:off x="4433359" y="5174853"/>
              <a:ext cx="572861" cy="572861"/>
            </a:xfrm>
            <a:prstGeom prst="rect">
              <a:avLst/>
            </a:prstGeom>
            <a:noFill/>
            <a:ln>
              <a:noFill/>
            </a:ln>
          </p:spPr>
        </p:pic>
        <p:sp>
          <p:nvSpPr>
            <p:cNvPr id="1806" name="Google Shape;1806;p91"/>
            <p:cNvSpPr/>
            <p:nvPr/>
          </p:nvSpPr>
          <p:spPr>
            <a:xfrm>
              <a:off x="5817630" y="5258615"/>
              <a:ext cx="1368152" cy="483645"/>
            </a:xfrm>
            <a:prstGeom prst="rightArrow">
              <a:avLst>
                <a:gd name="adj1" fmla="val 50000"/>
                <a:gd name="adj2" fmla="val 50000"/>
              </a:avLst>
            </a:prstGeom>
            <a:solidFill>
              <a:srgbClr val="F6AB3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13" name="Google Shape;130;p3">
            <a:extLst>
              <a:ext uri="{FF2B5EF4-FFF2-40B4-BE49-F238E27FC236}">
                <a16:creationId xmlns:a16="http://schemas.microsoft.com/office/drawing/2014/main" id="{0787A4FE-60C6-4595-A2D1-782CBB280438}"/>
              </a:ext>
            </a:extLst>
          </p:cNvPr>
          <p:cNvSpPr txBox="1">
            <a:spLocks/>
          </p:cNvSpPr>
          <p:nvPr/>
        </p:nvSpPr>
        <p:spPr>
          <a:xfrm>
            <a:off x="0" y="6376988"/>
            <a:ext cx="611188" cy="365125"/>
          </a:xfrm>
          <a:prstGeom prst="rect">
            <a:avLst/>
          </a:prstGeom>
          <a:noFill/>
          <a:ln>
            <a:noFill/>
          </a:ln>
        </p:spPr>
        <p:txBody>
          <a:bodyPr spcFirstLastPara="1" wrap="square" lIns="0" tIns="0" rIns="0" bIns="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
                <a:srgbClr val="000000"/>
              </a:buClr>
              <a:buSzPts val="1400"/>
              <a:buFont typeface="Arial"/>
              <a:buNone/>
            </a:pPr>
            <a:fld id="{00000000-1234-1234-1234-123412341234}" type="slidenum">
              <a:rPr lang="fr-FR" smtClean="0"/>
              <a:pPr algn="ctr">
                <a:buClr>
                  <a:srgbClr val="000000"/>
                </a:buClr>
                <a:buSzPts val="1400"/>
                <a:buFont typeface="Arial"/>
                <a:buNone/>
              </a:pPr>
              <a:t>14</a:t>
            </a:fld>
            <a:endParaRPr lang="fr-FR" dirty="0"/>
          </a:p>
        </p:txBody>
      </p:sp>
    </p:spTree>
    <p:extLst>
      <p:ext uri="{BB962C8B-B14F-4D97-AF65-F5344CB8AC3E}">
        <p14:creationId xmlns:p14="http://schemas.microsoft.com/office/powerpoint/2010/main" val="29088798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41"/>
        <p:cNvGrpSpPr/>
        <p:nvPr/>
      </p:nvGrpSpPr>
      <p:grpSpPr>
        <a:xfrm>
          <a:off x="0" y="0"/>
          <a:ext cx="0" cy="0"/>
          <a:chOff x="0" y="0"/>
          <a:chExt cx="0" cy="0"/>
        </a:xfrm>
      </p:grpSpPr>
      <p:sp>
        <p:nvSpPr>
          <p:cNvPr id="1842" name="Google Shape;1842;p95"/>
          <p:cNvSpPr txBox="1">
            <a:spLocks noGrp="1"/>
          </p:cNvSpPr>
          <p:nvPr>
            <p:ph type="title"/>
          </p:nvPr>
        </p:nvSpPr>
        <p:spPr>
          <a:xfrm>
            <a:off x="2027548" y="0"/>
            <a:ext cx="7164796" cy="9807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fr-FR"/>
              <a:t>Avant de collecter et compter, que fait-on ? </a:t>
            </a:r>
            <a:endParaRPr/>
          </a:p>
        </p:txBody>
      </p:sp>
      <p:sp>
        <p:nvSpPr>
          <p:cNvPr id="1843" name="Google Shape;1843;p95"/>
          <p:cNvSpPr txBox="1">
            <a:spLocks noGrp="1"/>
          </p:cNvSpPr>
          <p:nvPr>
            <p:ph type="body" idx="1"/>
          </p:nvPr>
        </p:nvSpPr>
        <p:spPr>
          <a:xfrm>
            <a:off x="609600" y="1268760"/>
            <a:ext cx="10972800" cy="48574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2200"/>
              <a:buFont typeface="Arial"/>
              <a:buChar char="•"/>
            </a:pPr>
            <a:r>
              <a:rPr lang="fr-FR" sz="2200"/>
              <a:t>Définition de la fonction étudiée</a:t>
            </a:r>
            <a:endParaRPr/>
          </a:p>
          <a:p>
            <a:pPr marL="742950" lvl="1" indent="-285750" algn="l" rtl="0">
              <a:spcBef>
                <a:spcPts val="400"/>
              </a:spcBef>
              <a:spcAft>
                <a:spcPts val="0"/>
              </a:spcAft>
              <a:buClr>
                <a:schemeClr val="dk1"/>
              </a:buClr>
              <a:buSzPts val="2000"/>
              <a:buChar char="•"/>
            </a:pPr>
            <a:r>
              <a:rPr lang="fr-FR" sz="2000"/>
              <a:t>« Former un étudiant pendant tout un an tous programmes confondus »</a:t>
            </a:r>
            <a:endParaRPr/>
          </a:p>
          <a:p>
            <a:pPr marL="742950" lvl="1" indent="-158750" algn="l" rtl="0">
              <a:spcBef>
                <a:spcPts val="400"/>
              </a:spcBef>
              <a:spcAft>
                <a:spcPts val="0"/>
              </a:spcAft>
              <a:buClr>
                <a:schemeClr val="dk1"/>
              </a:buClr>
              <a:buSzPts val="2000"/>
              <a:buNone/>
            </a:pPr>
            <a:endParaRPr sz="2000"/>
          </a:p>
          <a:p>
            <a:pPr marL="0" lvl="0" indent="139700" algn="l" rtl="0">
              <a:spcBef>
                <a:spcPts val="440"/>
              </a:spcBef>
              <a:spcAft>
                <a:spcPts val="0"/>
              </a:spcAft>
              <a:buSzPts val="2200"/>
              <a:buFont typeface="Arial"/>
              <a:buNone/>
            </a:pPr>
            <a:endParaRPr sz="2200"/>
          </a:p>
        </p:txBody>
      </p:sp>
      <p:sp>
        <p:nvSpPr>
          <p:cNvPr id="1844" name="Google Shape;1844;p95"/>
          <p:cNvSpPr/>
          <p:nvPr/>
        </p:nvSpPr>
        <p:spPr>
          <a:xfrm>
            <a:off x="609600" y="2276872"/>
            <a:ext cx="10238928" cy="26838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F79124"/>
              </a:buClr>
              <a:buSzPts val="2200"/>
              <a:buFont typeface="Arial"/>
              <a:buChar char="•"/>
            </a:pPr>
            <a:r>
              <a:rPr lang="fr-FR" sz="2200" b="1">
                <a:solidFill>
                  <a:srgbClr val="085160"/>
                </a:solidFill>
                <a:latin typeface="Century Gothic"/>
                <a:ea typeface="Century Gothic"/>
                <a:cs typeface="Century Gothic"/>
                <a:sym typeface="Century Gothic"/>
              </a:rPr>
              <a:t>Définition du périmètre</a:t>
            </a:r>
            <a:endParaRPr/>
          </a:p>
          <a:p>
            <a:pPr marL="742950" marR="0" lvl="1" indent="-285750" algn="l" rtl="0">
              <a:spcBef>
                <a:spcPts val="400"/>
              </a:spcBef>
              <a:spcAft>
                <a:spcPts val="0"/>
              </a:spcAft>
              <a:buClr>
                <a:srgbClr val="000000"/>
              </a:buClr>
              <a:buSzPts val="2000"/>
              <a:buFont typeface="Arial"/>
              <a:buChar char="•"/>
            </a:pPr>
            <a:r>
              <a:rPr lang="fr-FR" sz="2000" b="0" i="0" u="none" strike="noStrike" cap="none">
                <a:solidFill>
                  <a:srgbClr val="000000"/>
                </a:solidFill>
                <a:latin typeface="Century Gothic"/>
                <a:ea typeface="Century Gothic"/>
                <a:cs typeface="Century Gothic"/>
                <a:sym typeface="Century Gothic"/>
              </a:rPr>
              <a:t>Toute activité ayant lieu sur le campus</a:t>
            </a:r>
            <a:endParaRPr/>
          </a:p>
          <a:p>
            <a:pPr marL="742950" marR="0" lvl="1" indent="-285750" algn="l" rtl="0">
              <a:spcBef>
                <a:spcPts val="400"/>
              </a:spcBef>
              <a:spcAft>
                <a:spcPts val="0"/>
              </a:spcAft>
              <a:buClr>
                <a:srgbClr val="000000"/>
              </a:buClr>
              <a:buSzPts val="2000"/>
              <a:buFont typeface="Arial"/>
              <a:buChar char="•"/>
            </a:pPr>
            <a:r>
              <a:rPr lang="fr-FR" sz="2000" b="0" i="0" u="none" strike="noStrike" cap="none">
                <a:solidFill>
                  <a:srgbClr val="000000"/>
                </a:solidFill>
                <a:latin typeface="Century Gothic"/>
                <a:ea typeface="Century Gothic"/>
                <a:cs typeface="Century Gothic"/>
                <a:sym typeface="Century Gothic"/>
              </a:rPr>
              <a:t>Trajets domicile-travail (y compris week-end et vacances)</a:t>
            </a:r>
            <a:endParaRPr/>
          </a:p>
          <a:p>
            <a:pPr marL="742950" marR="0" lvl="1" indent="-285750" algn="l" rtl="0">
              <a:spcBef>
                <a:spcPts val="400"/>
              </a:spcBef>
              <a:spcAft>
                <a:spcPts val="0"/>
              </a:spcAft>
              <a:buClr>
                <a:srgbClr val="000000"/>
              </a:buClr>
              <a:buSzPts val="2000"/>
              <a:buFont typeface="Arial"/>
              <a:buChar char="•"/>
            </a:pPr>
            <a:r>
              <a:rPr lang="fr-FR" sz="2000" b="0" i="0" u="none" strike="noStrike" cap="none">
                <a:solidFill>
                  <a:srgbClr val="000000"/>
                </a:solidFill>
                <a:latin typeface="Century Gothic"/>
                <a:ea typeface="Century Gothic"/>
                <a:cs typeface="Century Gothic"/>
                <a:sym typeface="Century Gothic"/>
              </a:rPr>
              <a:t>Restauration</a:t>
            </a:r>
            <a:endParaRPr/>
          </a:p>
          <a:p>
            <a:pPr marL="742950" marR="0" lvl="1" indent="-285750" algn="l" rtl="0">
              <a:spcBef>
                <a:spcPts val="400"/>
              </a:spcBef>
              <a:spcAft>
                <a:spcPts val="0"/>
              </a:spcAft>
              <a:buClr>
                <a:srgbClr val="000000"/>
              </a:buClr>
              <a:buSzPts val="2000"/>
              <a:buFont typeface="Arial"/>
              <a:buChar char="•"/>
            </a:pPr>
            <a:r>
              <a:rPr lang="fr-FR" sz="2000" b="0" i="0" u="none" strike="noStrike" cap="none">
                <a:solidFill>
                  <a:srgbClr val="000000"/>
                </a:solidFill>
                <a:latin typeface="Century Gothic"/>
                <a:ea typeface="Century Gothic"/>
                <a:cs typeface="Century Gothic"/>
                <a:sym typeface="Century Gothic"/>
              </a:rPr>
              <a:t>Etc.</a:t>
            </a:r>
            <a:endParaRPr/>
          </a:p>
          <a:p>
            <a:pPr marL="0" marR="0" lvl="0" indent="0" algn="l" rtl="0">
              <a:spcBef>
                <a:spcPts val="440"/>
              </a:spcBef>
              <a:spcAft>
                <a:spcPts val="0"/>
              </a:spcAft>
              <a:buClr>
                <a:srgbClr val="F79124"/>
              </a:buClr>
              <a:buSzPts val="2200"/>
              <a:buFont typeface="Arial"/>
              <a:buChar char="•"/>
            </a:pPr>
            <a:r>
              <a:rPr lang="fr-FR" sz="2200" b="1">
                <a:solidFill>
                  <a:srgbClr val="085160"/>
                </a:solidFill>
                <a:latin typeface="Century Gothic"/>
                <a:ea typeface="Century Gothic"/>
                <a:cs typeface="Century Gothic"/>
                <a:sym typeface="Century Gothic"/>
              </a:rPr>
              <a:t>Choix d’une année de référence</a:t>
            </a:r>
            <a:endParaRPr/>
          </a:p>
          <a:p>
            <a:pPr marL="457200" marR="0" lvl="1" indent="0" algn="l" rtl="0">
              <a:spcBef>
                <a:spcPts val="400"/>
              </a:spcBef>
              <a:spcAft>
                <a:spcPts val="0"/>
              </a:spcAft>
              <a:buNone/>
            </a:pPr>
            <a:endParaRPr sz="2000" b="0" i="0" u="none" strike="noStrike" cap="none">
              <a:solidFill>
                <a:srgbClr val="000000"/>
              </a:solidFill>
              <a:latin typeface="Century Gothic"/>
              <a:ea typeface="Century Gothic"/>
              <a:cs typeface="Century Gothic"/>
              <a:sym typeface="Century Gothic"/>
            </a:endParaRPr>
          </a:p>
        </p:txBody>
      </p:sp>
      <p:grpSp>
        <p:nvGrpSpPr>
          <p:cNvPr id="1845" name="Google Shape;1845;p95"/>
          <p:cNvGrpSpPr/>
          <p:nvPr/>
        </p:nvGrpSpPr>
        <p:grpSpPr>
          <a:xfrm>
            <a:off x="609600" y="4996080"/>
            <a:ext cx="10298718" cy="972716"/>
            <a:chOff x="609600" y="4996080"/>
            <a:chExt cx="10298718" cy="972716"/>
          </a:xfrm>
        </p:grpSpPr>
        <p:pic>
          <p:nvPicPr>
            <p:cNvPr id="1846" name="Google Shape;1846;p95"/>
            <p:cNvPicPr preferRelativeResize="0"/>
            <p:nvPr/>
          </p:nvPicPr>
          <p:blipFill rotWithShape="1">
            <a:blip r:embed="rId3">
              <a:alphaModFix/>
            </a:blip>
            <a:srcRect/>
            <a:stretch/>
          </p:blipFill>
          <p:spPr>
            <a:xfrm>
              <a:off x="9935602" y="4996080"/>
              <a:ext cx="972716" cy="972716"/>
            </a:xfrm>
            <a:prstGeom prst="rect">
              <a:avLst/>
            </a:prstGeom>
            <a:noFill/>
            <a:ln>
              <a:noFill/>
            </a:ln>
          </p:spPr>
        </p:pic>
        <p:sp>
          <p:nvSpPr>
            <p:cNvPr id="1847" name="Google Shape;1847;p95"/>
            <p:cNvSpPr/>
            <p:nvPr/>
          </p:nvSpPr>
          <p:spPr>
            <a:xfrm>
              <a:off x="609600" y="5008533"/>
              <a:ext cx="9014792"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F79124"/>
                </a:buClr>
                <a:buSzPts val="2200"/>
                <a:buFont typeface="Arial"/>
                <a:buChar char="•"/>
              </a:pPr>
              <a:r>
                <a:rPr lang="fr-FR" sz="2200" b="1" dirty="0">
                  <a:solidFill>
                    <a:srgbClr val="085160"/>
                  </a:solidFill>
                  <a:latin typeface="Century Gothic"/>
                  <a:ea typeface="Century Gothic"/>
                  <a:cs typeface="Century Gothic"/>
                  <a:sym typeface="Century Gothic"/>
                </a:rPr>
                <a:t>Rappel : tous ces choix doivent être argumentés et consignés dans un </a:t>
              </a:r>
              <a:r>
                <a:rPr lang="fr-FR" sz="2200" b="1" dirty="0">
                  <a:solidFill>
                    <a:srgbClr val="F6AB38"/>
                  </a:solidFill>
                  <a:latin typeface="Century Gothic"/>
                  <a:ea typeface="Century Gothic"/>
                  <a:cs typeface="Century Gothic"/>
                  <a:sym typeface="Century Gothic"/>
                </a:rPr>
                <a:t>rapport</a:t>
              </a:r>
              <a:r>
                <a:rPr lang="fr-FR" sz="2200" b="1" dirty="0">
                  <a:solidFill>
                    <a:srgbClr val="085160"/>
                  </a:solidFill>
                  <a:latin typeface="Century Gothic"/>
                  <a:ea typeface="Century Gothic"/>
                  <a:cs typeface="Century Gothic"/>
                  <a:sym typeface="Century Gothic"/>
                </a:rPr>
                <a:t> qui accompagne le tableur</a:t>
              </a:r>
              <a:endParaRPr sz="1800" dirty="0">
                <a:solidFill>
                  <a:schemeClr val="dk1"/>
                </a:solidFill>
                <a:latin typeface="Arial"/>
                <a:ea typeface="Arial"/>
                <a:cs typeface="Arial"/>
                <a:sym typeface="Arial"/>
              </a:endParaRPr>
            </a:p>
          </p:txBody>
        </p:sp>
      </p:grpSp>
      <p:pic>
        <p:nvPicPr>
          <p:cNvPr id="1848" name="Google Shape;1848;p95"/>
          <p:cNvPicPr preferRelativeResize="0"/>
          <p:nvPr/>
        </p:nvPicPr>
        <p:blipFill rotWithShape="1">
          <a:blip r:embed="rId4">
            <a:alphaModFix/>
          </a:blip>
          <a:srcRect/>
          <a:stretch/>
        </p:blipFill>
        <p:spPr>
          <a:xfrm>
            <a:off x="10911090" y="1412776"/>
            <a:ext cx="671310" cy="671310"/>
          </a:xfrm>
          <a:prstGeom prst="rect">
            <a:avLst/>
          </a:prstGeom>
          <a:noFill/>
          <a:ln>
            <a:noFill/>
          </a:ln>
        </p:spPr>
      </p:pic>
      <p:grpSp>
        <p:nvGrpSpPr>
          <p:cNvPr id="1849" name="Google Shape;1849;p95"/>
          <p:cNvGrpSpPr/>
          <p:nvPr/>
        </p:nvGrpSpPr>
        <p:grpSpPr>
          <a:xfrm>
            <a:off x="609600" y="2276872"/>
            <a:ext cx="10238928" cy="2683812"/>
            <a:chOff x="609600" y="2276872"/>
            <a:chExt cx="10238928" cy="2683812"/>
          </a:xfrm>
        </p:grpSpPr>
        <p:pic>
          <p:nvPicPr>
            <p:cNvPr id="1850" name="Google Shape;1850;p95"/>
            <p:cNvPicPr preferRelativeResize="0"/>
            <p:nvPr/>
          </p:nvPicPr>
          <p:blipFill rotWithShape="1">
            <a:blip r:embed="rId5">
              <a:alphaModFix/>
            </a:blip>
            <a:srcRect/>
            <a:stretch/>
          </p:blipFill>
          <p:spPr>
            <a:xfrm>
              <a:off x="10063336" y="3933056"/>
              <a:ext cx="785192" cy="785192"/>
            </a:xfrm>
            <a:prstGeom prst="rect">
              <a:avLst/>
            </a:prstGeom>
            <a:noFill/>
            <a:ln>
              <a:noFill/>
            </a:ln>
          </p:spPr>
        </p:pic>
        <p:sp>
          <p:nvSpPr>
            <p:cNvPr id="1851" name="Google Shape;1851;p95"/>
            <p:cNvSpPr/>
            <p:nvPr/>
          </p:nvSpPr>
          <p:spPr>
            <a:xfrm>
              <a:off x="609600" y="2276872"/>
              <a:ext cx="10238928" cy="26838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F79124"/>
                </a:buClr>
                <a:buSzPts val="2200"/>
                <a:buFont typeface="Arial"/>
                <a:buChar char="•"/>
              </a:pPr>
              <a:r>
                <a:rPr lang="fr-FR" sz="2200" b="1" dirty="0">
                  <a:solidFill>
                    <a:srgbClr val="085160"/>
                  </a:solidFill>
                  <a:latin typeface="Century Gothic"/>
                  <a:ea typeface="Century Gothic"/>
                  <a:cs typeface="Century Gothic"/>
                  <a:sym typeface="Century Gothic"/>
                </a:rPr>
                <a:t>Définition du périmètre</a:t>
              </a:r>
              <a:endParaRPr dirty="0"/>
            </a:p>
            <a:p>
              <a:pPr marL="742950" marR="0" lvl="1" indent="-285750" algn="l" rtl="0">
                <a:spcBef>
                  <a:spcPts val="400"/>
                </a:spcBef>
                <a:spcAft>
                  <a:spcPts val="0"/>
                </a:spcAft>
                <a:buClr>
                  <a:srgbClr val="000000"/>
                </a:buClr>
                <a:buSzPts val="2000"/>
                <a:buFont typeface="Arial"/>
                <a:buChar char="•"/>
              </a:pPr>
              <a:r>
                <a:rPr lang="fr-FR" sz="2000" b="0" i="0" u="none" strike="noStrike" cap="none" dirty="0">
                  <a:solidFill>
                    <a:srgbClr val="000000"/>
                  </a:solidFill>
                  <a:latin typeface="Century Gothic"/>
                  <a:ea typeface="Century Gothic"/>
                  <a:cs typeface="Century Gothic"/>
                  <a:sym typeface="Century Gothic"/>
                </a:rPr>
                <a:t>Toute activité ayant lieu sur le campus</a:t>
              </a:r>
              <a:endParaRPr dirty="0"/>
            </a:p>
            <a:p>
              <a:pPr marL="742950" marR="0" lvl="1" indent="-285750" algn="l" rtl="0">
                <a:spcBef>
                  <a:spcPts val="400"/>
                </a:spcBef>
                <a:spcAft>
                  <a:spcPts val="0"/>
                </a:spcAft>
                <a:buClr>
                  <a:srgbClr val="000000"/>
                </a:buClr>
                <a:buSzPts val="2000"/>
                <a:buFont typeface="Arial"/>
                <a:buChar char="•"/>
              </a:pPr>
              <a:r>
                <a:rPr lang="fr-FR" sz="2000" b="0" i="0" u="none" strike="noStrike" cap="none" dirty="0">
                  <a:solidFill>
                    <a:srgbClr val="000000"/>
                  </a:solidFill>
                  <a:latin typeface="Century Gothic"/>
                  <a:ea typeface="Century Gothic"/>
                  <a:cs typeface="Century Gothic"/>
                  <a:sym typeface="Century Gothic"/>
                </a:rPr>
                <a:t>Trajets domicile-travail (y compris week-end et vacances)</a:t>
              </a:r>
              <a:endParaRPr dirty="0"/>
            </a:p>
            <a:p>
              <a:pPr marL="742950" marR="0" lvl="1" indent="-285750" algn="l" rtl="0">
                <a:spcBef>
                  <a:spcPts val="400"/>
                </a:spcBef>
                <a:spcAft>
                  <a:spcPts val="0"/>
                </a:spcAft>
                <a:buClr>
                  <a:srgbClr val="000000"/>
                </a:buClr>
                <a:buSzPts val="2000"/>
                <a:buFont typeface="Arial"/>
                <a:buChar char="•"/>
              </a:pPr>
              <a:r>
                <a:rPr lang="fr-FR" sz="2000" b="0" i="0" u="none" strike="noStrike" cap="none" dirty="0">
                  <a:solidFill>
                    <a:srgbClr val="000000"/>
                  </a:solidFill>
                  <a:latin typeface="Century Gothic"/>
                  <a:ea typeface="Century Gothic"/>
                  <a:cs typeface="Century Gothic"/>
                  <a:sym typeface="Century Gothic"/>
                </a:rPr>
                <a:t>Restauration</a:t>
              </a:r>
              <a:endParaRPr dirty="0"/>
            </a:p>
            <a:p>
              <a:pPr marL="742950" marR="0" lvl="1" indent="-285750" algn="l" rtl="0">
                <a:spcBef>
                  <a:spcPts val="400"/>
                </a:spcBef>
                <a:spcAft>
                  <a:spcPts val="0"/>
                </a:spcAft>
                <a:buClr>
                  <a:srgbClr val="000000"/>
                </a:buClr>
                <a:buSzPts val="2000"/>
                <a:buFont typeface="Arial"/>
                <a:buChar char="•"/>
              </a:pPr>
              <a:r>
                <a:rPr lang="fr-FR" sz="2000" b="0" i="0" u="none" strike="noStrike" cap="none" dirty="0">
                  <a:solidFill>
                    <a:srgbClr val="000000"/>
                  </a:solidFill>
                  <a:latin typeface="Century Gothic"/>
                  <a:ea typeface="Century Gothic"/>
                  <a:cs typeface="Century Gothic"/>
                  <a:sym typeface="Century Gothic"/>
                </a:rPr>
                <a:t>Etc.</a:t>
              </a:r>
              <a:endParaRPr dirty="0"/>
            </a:p>
            <a:p>
              <a:pPr marL="0" marR="0" lvl="0" indent="0" algn="l" rtl="0">
                <a:spcBef>
                  <a:spcPts val="440"/>
                </a:spcBef>
                <a:spcAft>
                  <a:spcPts val="0"/>
                </a:spcAft>
                <a:buClr>
                  <a:srgbClr val="F79124"/>
                </a:buClr>
                <a:buSzPts val="2200"/>
                <a:buFont typeface="Arial"/>
                <a:buChar char="•"/>
              </a:pPr>
              <a:r>
                <a:rPr lang="fr-FR" sz="2200" b="1" dirty="0">
                  <a:solidFill>
                    <a:srgbClr val="085160"/>
                  </a:solidFill>
                  <a:latin typeface="Century Gothic"/>
                  <a:ea typeface="Century Gothic"/>
                  <a:cs typeface="Century Gothic"/>
                  <a:sym typeface="Century Gothic"/>
                </a:rPr>
                <a:t>Choix d’une année de référence</a:t>
              </a:r>
              <a:endParaRPr dirty="0"/>
            </a:p>
            <a:p>
              <a:pPr marL="457200" marR="0" lvl="1" indent="0" algn="l" rtl="0">
                <a:spcBef>
                  <a:spcPts val="400"/>
                </a:spcBef>
                <a:spcAft>
                  <a:spcPts val="0"/>
                </a:spcAft>
                <a:buNone/>
              </a:pPr>
              <a:endParaRPr sz="2000" b="0" i="0" u="none" strike="noStrike" cap="none" dirty="0">
                <a:solidFill>
                  <a:srgbClr val="000000"/>
                </a:solidFill>
                <a:latin typeface="Century Gothic"/>
                <a:ea typeface="Century Gothic"/>
                <a:cs typeface="Century Gothic"/>
                <a:sym typeface="Century Gothic"/>
              </a:endParaRPr>
            </a:p>
          </p:txBody>
        </p:sp>
      </p:grpSp>
      <p:pic>
        <p:nvPicPr>
          <p:cNvPr id="1852" name="Google Shape;1852;p95"/>
          <p:cNvPicPr preferRelativeResize="0"/>
          <p:nvPr/>
        </p:nvPicPr>
        <p:blipFill rotWithShape="1">
          <a:blip r:embed="rId6">
            <a:alphaModFix/>
          </a:blip>
          <a:srcRect/>
          <a:stretch/>
        </p:blipFill>
        <p:spPr>
          <a:xfrm>
            <a:off x="10349763" y="2376302"/>
            <a:ext cx="997530" cy="1097283"/>
          </a:xfrm>
          <a:prstGeom prst="rect">
            <a:avLst/>
          </a:prstGeom>
          <a:noFill/>
          <a:ln>
            <a:noFill/>
          </a:ln>
        </p:spPr>
      </p:pic>
      <p:sp>
        <p:nvSpPr>
          <p:cNvPr id="13" name="Google Shape;130;p3">
            <a:extLst>
              <a:ext uri="{FF2B5EF4-FFF2-40B4-BE49-F238E27FC236}">
                <a16:creationId xmlns:a16="http://schemas.microsoft.com/office/drawing/2014/main" id="{B60E46D1-8455-49FE-A452-C329FB1A89FA}"/>
              </a:ext>
            </a:extLst>
          </p:cNvPr>
          <p:cNvSpPr txBox="1">
            <a:spLocks/>
          </p:cNvSpPr>
          <p:nvPr/>
        </p:nvSpPr>
        <p:spPr>
          <a:xfrm>
            <a:off x="0" y="6224589"/>
            <a:ext cx="611188" cy="365125"/>
          </a:xfrm>
          <a:prstGeom prst="rect">
            <a:avLst/>
          </a:prstGeom>
          <a:noFill/>
          <a:ln>
            <a:noFill/>
          </a:ln>
        </p:spPr>
        <p:txBody>
          <a:bodyPr spcFirstLastPara="1" wrap="square" lIns="0" tIns="0" rIns="0" bIns="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
                <a:srgbClr val="000000"/>
              </a:buClr>
              <a:buSzPts val="1400"/>
              <a:buFont typeface="Arial"/>
              <a:buNone/>
            </a:pPr>
            <a:fld id="{00000000-1234-1234-1234-123412341234}" type="slidenum">
              <a:rPr lang="fr-FR" smtClean="0"/>
              <a:pPr algn="ctr">
                <a:buClr>
                  <a:srgbClr val="000000"/>
                </a:buClr>
                <a:buSzPts val="1400"/>
                <a:buFont typeface="Arial"/>
                <a:buNone/>
              </a:pPr>
              <a:t>15</a:t>
            </a:fld>
            <a:endParaRPr lang="fr-FR" dirty="0"/>
          </a:p>
        </p:txBody>
      </p:sp>
    </p:spTree>
    <p:extLst>
      <p:ext uri="{BB962C8B-B14F-4D97-AF65-F5344CB8AC3E}">
        <p14:creationId xmlns:p14="http://schemas.microsoft.com/office/powerpoint/2010/main" val="20282054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93"/>
        <p:cNvGrpSpPr/>
        <p:nvPr/>
      </p:nvGrpSpPr>
      <p:grpSpPr>
        <a:xfrm>
          <a:off x="0" y="0"/>
          <a:ext cx="0" cy="0"/>
          <a:chOff x="0" y="0"/>
          <a:chExt cx="0" cy="0"/>
        </a:xfrm>
      </p:grpSpPr>
      <p:sp>
        <p:nvSpPr>
          <p:cNvPr id="2394" name="Google Shape;2394;p125"/>
          <p:cNvSpPr txBox="1">
            <a:spLocks noGrp="1"/>
          </p:cNvSpPr>
          <p:nvPr>
            <p:ph type="title"/>
          </p:nvPr>
        </p:nvSpPr>
        <p:spPr>
          <a:xfrm>
            <a:off x="2027548" y="0"/>
            <a:ext cx="8028892" cy="9807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fr-FR" sz="2800"/>
              <a:t>Ce</a:t>
            </a:r>
            <a:r>
              <a:rPr lang="fr-FR"/>
              <a:t> qu’il faut re</a:t>
            </a:r>
            <a:r>
              <a:rPr lang="fr-FR" sz="3600"/>
              <a:t>te</a:t>
            </a:r>
            <a:r>
              <a:rPr lang="fr-FR"/>
              <a:t>nir</a:t>
            </a:r>
            <a:endParaRPr/>
          </a:p>
        </p:txBody>
      </p:sp>
      <p:pic>
        <p:nvPicPr>
          <p:cNvPr id="2395" name="Google Shape;2395;p125"/>
          <p:cNvPicPr preferRelativeResize="0"/>
          <p:nvPr/>
        </p:nvPicPr>
        <p:blipFill rotWithShape="1">
          <a:blip r:embed="rId3">
            <a:alphaModFix/>
          </a:blip>
          <a:srcRect/>
          <a:stretch/>
        </p:blipFill>
        <p:spPr>
          <a:xfrm flipH="1">
            <a:off x="4223792" y="199033"/>
            <a:ext cx="939563" cy="939563"/>
          </a:xfrm>
          <a:prstGeom prst="rect">
            <a:avLst/>
          </a:prstGeom>
          <a:noFill/>
          <a:ln>
            <a:noFill/>
          </a:ln>
        </p:spPr>
      </p:pic>
      <p:sp>
        <p:nvSpPr>
          <p:cNvPr id="2396" name="Google Shape;2396;p125"/>
          <p:cNvSpPr txBox="1"/>
          <p:nvPr/>
        </p:nvSpPr>
        <p:spPr>
          <a:xfrm>
            <a:off x="1559496" y="1179761"/>
            <a:ext cx="10351453" cy="5372175"/>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Clr>
                <a:srgbClr val="166478"/>
              </a:buClr>
              <a:buSzPts val="2400"/>
              <a:buFont typeface="Arial"/>
              <a:buNone/>
            </a:pPr>
            <a:r>
              <a:rPr lang="fr-FR" sz="2400" b="1" cap="none" dirty="0">
                <a:solidFill>
                  <a:srgbClr val="166478"/>
                </a:solidFill>
                <a:latin typeface="Century Gothic"/>
                <a:ea typeface="Century Gothic"/>
                <a:cs typeface="Century Gothic"/>
                <a:sym typeface="Century Gothic"/>
              </a:rPr>
              <a:t>Avant de partir à la collecte des données, il faut lister toutes les informations dont vous aurez besoin. C’est l’occasion de construire votre </a:t>
            </a:r>
            <a:r>
              <a:rPr lang="fr-FR" sz="2400" b="1" cap="none" dirty="0">
                <a:solidFill>
                  <a:srgbClr val="F6AB38"/>
                </a:solidFill>
                <a:latin typeface="Century Gothic"/>
                <a:ea typeface="Century Gothic"/>
                <a:cs typeface="Century Gothic"/>
                <a:sym typeface="Century Gothic"/>
              </a:rPr>
              <a:t>matrice de collecte</a:t>
            </a:r>
            <a:r>
              <a:rPr lang="fr-FR" sz="2400" b="1" cap="none" dirty="0">
                <a:solidFill>
                  <a:srgbClr val="166478"/>
                </a:solidFill>
                <a:latin typeface="Century Gothic"/>
                <a:ea typeface="Century Gothic"/>
                <a:cs typeface="Century Gothic"/>
                <a:sym typeface="Century Gothic"/>
              </a:rPr>
              <a:t>. </a:t>
            </a:r>
            <a:endParaRPr dirty="0"/>
          </a:p>
          <a:p>
            <a:pPr marL="0" marR="0" lvl="0" indent="0" algn="just" rtl="0">
              <a:spcBef>
                <a:spcPts val="3000"/>
              </a:spcBef>
              <a:spcAft>
                <a:spcPts val="0"/>
              </a:spcAft>
              <a:buClr>
                <a:srgbClr val="166478"/>
              </a:buClr>
              <a:buSzPts val="2400"/>
              <a:buFont typeface="Arial"/>
              <a:buNone/>
            </a:pPr>
            <a:r>
              <a:rPr lang="fr-FR" sz="2400" b="1" cap="none" dirty="0">
                <a:solidFill>
                  <a:srgbClr val="166478"/>
                </a:solidFill>
                <a:latin typeface="Century Gothic"/>
                <a:ea typeface="Century Gothic"/>
                <a:cs typeface="Century Gothic"/>
                <a:sym typeface="Century Gothic"/>
              </a:rPr>
              <a:t>Quand il n’est pas possible de collecter toutes les données, vous pouvez procéder par </a:t>
            </a:r>
            <a:r>
              <a:rPr lang="fr-FR" sz="2400" b="1" cap="none" dirty="0">
                <a:solidFill>
                  <a:srgbClr val="F6AB38"/>
                </a:solidFill>
                <a:latin typeface="Century Gothic"/>
                <a:ea typeface="Century Gothic"/>
                <a:cs typeface="Century Gothic"/>
                <a:sym typeface="Century Gothic"/>
              </a:rPr>
              <a:t>échantillonnage</a:t>
            </a:r>
            <a:r>
              <a:rPr lang="fr-FR" sz="2400" b="1" cap="none" dirty="0">
                <a:solidFill>
                  <a:srgbClr val="166478"/>
                </a:solidFill>
                <a:latin typeface="Century Gothic"/>
                <a:ea typeface="Century Gothic"/>
                <a:cs typeface="Century Gothic"/>
                <a:sym typeface="Century Gothic"/>
              </a:rPr>
              <a:t> et extrapoler !</a:t>
            </a:r>
            <a:endParaRPr dirty="0"/>
          </a:p>
          <a:p>
            <a:pPr marL="0" marR="0" lvl="0" indent="0" algn="just" rtl="0">
              <a:spcBef>
                <a:spcPts val="3000"/>
              </a:spcBef>
              <a:spcAft>
                <a:spcPts val="0"/>
              </a:spcAft>
              <a:buClr>
                <a:srgbClr val="166478"/>
              </a:buClr>
              <a:buSzPts val="2400"/>
              <a:buFont typeface="Arial"/>
              <a:buNone/>
            </a:pPr>
            <a:r>
              <a:rPr lang="fr-FR" sz="2400" b="1" cap="none" dirty="0">
                <a:solidFill>
                  <a:srgbClr val="166478"/>
                </a:solidFill>
                <a:latin typeface="Century Gothic"/>
                <a:ea typeface="Century Gothic"/>
                <a:cs typeface="Century Gothic"/>
                <a:sym typeface="Century Gothic"/>
              </a:rPr>
              <a:t>Plusieurs </a:t>
            </a:r>
            <a:r>
              <a:rPr lang="fr-FR" sz="2400" b="1" cap="none" dirty="0">
                <a:solidFill>
                  <a:srgbClr val="F6AB38"/>
                </a:solidFill>
                <a:latin typeface="Century Gothic"/>
                <a:ea typeface="Century Gothic"/>
                <a:cs typeface="Century Gothic"/>
                <a:sym typeface="Century Gothic"/>
              </a:rPr>
              <a:t>personnes ressources </a:t>
            </a:r>
            <a:r>
              <a:rPr lang="fr-FR" sz="2400" b="1" cap="none" dirty="0">
                <a:solidFill>
                  <a:srgbClr val="166478"/>
                </a:solidFill>
                <a:latin typeface="Century Gothic"/>
                <a:ea typeface="Century Gothic"/>
                <a:cs typeface="Century Gothic"/>
                <a:sym typeface="Century Gothic"/>
              </a:rPr>
              <a:t>peuvent vous aider car elles possèdent des informations utiles pour vos calculs. Pensez à les solliciter de manière efficiente.</a:t>
            </a:r>
            <a:endParaRPr dirty="0"/>
          </a:p>
          <a:p>
            <a:pPr marL="0" marR="0" lvl="0" indent="0" algn="just" rtl="0">
              <a:spcBef>
                <a:spcPts val="3000"/>
              </a:spcBef>
              <a:spcAft>
                <a:spcPts val="0"/>
              </a:spcAft>
              <a:buClr>
                <a:srgbClr val="166478"/>
              </a:buClr>
              <a:buSzPts val="2400"/>
              <a:buFont typeface="Arial"/>
              <a:buNone/>
            </a:pPr>
            <a:r>
              <a:rPr lang="fr-FR" sz="2400" b="1" cap="none" dirty="0">
                <a:solidFill>
                  <a:srgbClr val="166478"/>
                </a:solidFill>
                <a:latin typeface="Century Gothic"/>
                <a:ea typeface="Century Gothic"/>
                <a:cs typeface="Century Gothic"/>
                <a:sym typeface="Century Gothic"/>
              </a:rPr>
              <a:t>Cette phase de collecte de données est l’occasion rêvée pour </a:t>
            </a:r>
            <a:r>
              <a:rPr lang="fr-FR" sz="2400" b="1" cap="none" dirty="0">
                <a:solidFill>
                  <a:srgbClr val="F6AB38"/>
                </a:solidFill>
                <a:latin typeface="Century Gothic"/>
                <a:ea typeface="Century Gothic"/>
                <a:cs typeface="Century Gothic"/>
                <a:sym typeface="Century Gothic"/>
              </a:rPr>
              <a:t>sensibiliser</a:t>
            </a:r>
            <a:r>
              <a:rPr lang="fr-FR" sz="2400" b="1" cap="none" dirty="0">
                <a:solidFill>
                  <a:srgbClr val="166478"/>
                </a:solidFill>
                <a:latin typeface="Century Gothic"/>
                <a:ea typeface="Century Gothic"/>
                <a:cs typeface="Century Gothic"/>
                <a:sym typeface="Century Gothic"/>
              </a:rPr>
              <a:t> autour de la démarche, profitez-en !</a:t>
            </a:r>
            <a:endParaRPr dirty="0"/>
          </a:p>
          <a:p>
            <a:pPr marL="0" marR="0" lvl="0" indent="0" algn="just" rtl="0">
              <a:spcBef>
                <a:spcPts val="2400"/>
              </a:spcBef>
              <a:spcAft>
                <a:spcPts val="0"/>
              </a:spcAft>
              <a:buClr>
                <a:srgbClr val="166478"/>
              </a:buClr>
              <a:buSzPts val="2400"/>
              <a:buFont typeface="Arial"/>
              <a:buNone/>
            </a:pPr>
            <a:endParaRPr sz="2400" b="1" cap="none" dirty="0">
              <a:solidFill>
                <a:srgbClr val="166478"/>
              </a:solidFill>
              <a:latin typeface="Century Gothic"/>
              <a:ea typeface="Century Gothic"/>
              <a:cs typeface="Century Gothic"/>
              <a:sym typeface="Century Gothic"/>
            </a:endParaRPr>
          </a:p>
        </p:txBody>
      </p:sp>
      <p:pic>
        <p:nvPicPr>
          <p:cNvPr id="2397" name="Google Shape;2397;p125"/>
          <p:cNvPicPr preferRelativeResize="0"/>
          <p:nvPr/>
        </p:nvPicPr>
        <p:blipFill rotWithShape="1">
          <a:blip r:embed="rId4">
            <a:alphaModFix/>
          </a:blip>
          <a:srcRect/>
          <a:stretch/>
        </p:blipFill>
        <p:spPr>
          <a:xfrm>
            <a:off x="418595" y="3929678"/>
            <a:ext cx="720000" cy="720000"/>
          </a:xfrm>
          <a:prstGeom prst="rect">
            <a:avLst/>
          </a:prstGeom>
          <a:noFill/>
          <a:ln>
            <a:noFill/>
          </a:ln>
        </p:spPr>
      </p:pic>
      <p:pic>
        <p:nvPicPr>
          <p:cNvPr id="2398" name="Google Shape;2398;p125"/>
          <p:cNvPicPr preferRelativeResize="0"/>
          <p:nvPr/>
        </p:nvPicPr>
        <p:blipFill rotWithShape="1">
          <a:blip r:embed="rId5">
            <a:alphaModFix/>
          </a:blip>
          <a:srcRect/>
          <a:stretch/>
        </p:blipFill>
        <p:spPr>
          <a:xfrm>
            <a:off x="521163" y="1373435"/>
            <a:ext cx="720000" cy="720000"/>
          </a:xfrm>
          <a:prstGeom prst="rect">
            <a:avLst/>
          </a:prstGeom>
          <a:noFill/>
          <a:ln>
            <a:noFill/>
          </a:ln>
        </p:spPr>
      </p:pic>
      <p:pic>
        <p:nvPicPr>
          <p:cNvPr id="2399" name="Google Shape;2399;p125"/>
          <p:cNvPicPr preferRelativeResize="0"/>
          <p:nvPr/>
        </p:nvPicPr>
        <p:blipFill rotWithShape="1">
          <a:blip r:embed="rId6">
            <a:alphaModFix/>
          </a:blip>
          <a:srcRect/>
          <a:stretch/>
        </p:blipFill>
        <p:spPr>
          <a:xfrm>
            <a:off x="450477" y="5261122"/>
            <a:ext cx="656235" cy="656235"/>
          </a:xfrm>
          <a:prstGeom prst="rect">
            <a:avLst/>
          </a:prstGeom>
          <a:noFill/>
          <a:ln>
            <a:noFill/>
          </a:ln>
        </p:spPr>
      </p:pic>
      <p:pic>
        <p:nvPicPr>
          <p:cNvPr id="2400" name="Google Shape;2400;p125"/>
          <p:cNvPicPr preferRelativeResize="0"/>
          <p:nvPr/>
        </p:nvPicPr>
        <p:blipFill rotWithShape="1">
          <a:blip r:embed="rId7">
            <a:alphaModFix/>
          </a:blip>
          <a:srcRect/>
          <a:stretch/>
        </p:blipFill>
        <p:spPr>
          <a:xfrm>
            <a:off x="450477" y="2709000"/>
            <a:ext cx="720000" cy="720000"/>
          </a:xfrm>
          <a:prstGeom prst="rect">
            <a:avLst/>
          </a:prstGeom>
          <a:noFill/>
          <a:ln>
            <a:noFill/>
          </a:ln>
        </p:spPr>
      </p:pic>
      <p:sp>
        <p:nvSpPr>
          <p:cNvPr id="9" name="Google Shape;130;p3">
            <a:extLst>
              <a:ext uri="{FF2B5EF4-FFF2-40B4-BE49-F238E27FC236}">
                <a16:creationId xmlns:a16="http://schemas.microsoft.com/office/drawing/2014/main" id="{5BA12EC3-0FF2-4B98-AAAB-E792EE17EF60}"/>
              </a:ext>
            </a:extLst>
          </p:cNvPr>
          <p:cNvSpPr txBox="1">
            <a:spLocks/>
          </p:cNvSpPr>
          <p:nvPr/>
        </p:nvSpPr>
        <p:spPr>
          <a:xfrm>
            <a:off x="0" y="6318373"/>
            <a:ext cx="611188" cy="365125"/>
          </a:xfrm>
          <a:prstGeom prst="rect">
            <a:avLst/>
          </a:prstGeom>
          <a:noFill/>
          <a:ln>
            <a:noFill/>
          </a:ln>
        </p:spPr>
        <p:txBody>
          <a:bodyPr spcFirstLastPara="1" wrap="square" lIns="0" tIns="0" rIns="0" bIns="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
                <a:srgbClr val="000000"/>
              </a:buClr>
              <a:buSzPts val="1400"/>
              <a:buFont typeface="Arial"/>
              <a:buNone/>
            </a:pPr>
            <a:fld id="{00000000-1234-1234-1234-123412341234}" type="slidenum">
              <a:rPr lang="fr-FR" smtClean="0"/>
              <a:pPr algn="ctr">
                <a:buClr>
                  <a:srgbClr val="000000"/>
                </a:buClr>
                <a:buSzPts val="1400"/>
                <a:buFont typeface="Arial"/>
                <a:buNone/>
              </a:pPr>
              <a:t>16</a:t>
            </a:fld>
            <a:endParaRPr lang="fr-FR" dirty="0"/>
          </a:p>
        </p:txBody>
      </p:sp>
    </p:spTree>
    <p:extLst>
      <p:ext uri="{BB962C8B-B14F-4D97-AF65-F5344CB8AC3E}">
        <p14:creationId xmlns:p14="http://schemas.microsoft.com/office/powerpoint/2010/main" val="39337116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04"/>
        <p:cNvGrpSpPr/>
        <p:nvPr/>
      </p:nvGrpSpPr>
      <p:grpSpPr>
        <a:xfrm>
          <a:off x="0" y="0"/>
          <a:ext cx="0" cy="0"/>
          <a:chOff x="0" y="0"/>
          <a:chExt cx="0" cy="0"/>
        </a:xfrm>
      </p:grpSpPr>
      <p:sp>
        <p:nvSpPr>
          <p:cNvPr id="2405" name="Google Shape;2405;p126"/>
          <p:cNvSpPr txBox="1">
            <a:spLocks noGrp="1"/>
          </p:cNvSpPr>
          <p:nvPr>
            <p:ph type="body" idx="1"/>
          </p:nvPr>
        </p:nvSpPr>
        <p:spPr>
          <a:xfrm>
            <a:off x="0" y="2492897"/>
            <a:ext cx="10363200" cy="1500187"/>
          </a:xfrm>
          <a:prstGeom prst="rect">
            <a:avLst/>
          </a:prstGeom>
          <a:solidFill>
            <a:srgbClr val="F6AB38"/>
          </a:solidFill>
          <a:ln>
            <a:noFill/>
          </a:ln>
        </p:spPr>
        <p:txBody>
          <a:bodyPr spcFirstLastPara="1" wrap="square" lIns="216000" tIns="45700" rIns="91425" bIns="45700" anchor="ctr" anchorCtr="0">
            <a:normAutofit/>
          </a:bodyPr>
          <a:lstStyle/>
          <a:p>
            <a:pPr marL="0" lvl="0" indent="0" algn="l" rtl="0">
              <a:spcBef>
                <a:spcPts val="0"/>
              </a:spcBef>
              <a:spcAft>
                <a:spcPts val="0"/>
              </a:spcAft>
              <a:buSzPts val="4000"/>
              <a:buNone/>
            </a:pPr>
            <a:r>
              <a:rPr lang="fr-FR"/>
              <a:t>Calculer des émissions de GES</a:t>
            </a:r>
            <a:endParaRPr/>
          </a:p>
        </p:txBody>
      </p:sp>
      <p:pic>
        <p:nvPicPr>
          <p:cNvPr id="2406" name="Google Shape;2406;p126"/>
          <p:cNvPicPr preferRelativeResize="0"/>
          <p:nvPr/>
        </p:nvPicPr>
        <p:blipFill rotWithShape="1">
          <a:blip r:embed="rId3">
            <a:alphaModFix/>
          </a:blip>
          <a:srcRect/>
          <a:stretch/>
        </p:blipFill>
        <p:spPr>
          <a:xfrm>
            <a:off x="7536160" y="1556792"/>
            <a:ext cx="4578493" cy="2627604"/>
          </a:xfrm>
          <a:prstGeom prst="rect">
            <a:avLst/>
          </a:prstGeom>
          <a:noFill/>
          <a:ln>
            <a:noFill/>
          </a:ln>
        </p:spPr>
      </p:pic>
      <p:sp>
        <p:nvSpPr>
          <p:cNvPr id="4" name="Google Shape;130;p3">
            <a:extLst>
              <a:ext uri="{FF2B5EF4-FFF2-40B4-BE49-F238E27FC236}">
                <a16:creationId xmlns:a16="http://schemas.microsoft.com/office/drawing/2014/main" id="{5C002489-0C59-454C-8367-8A0BFCB5FEE7}"/>
              </a:ext>
            </a:extLst>
          </p:cNvPr>
          <p:cNvSpPr txBox="1">
            <a:spLocks/>
          </p:cNvSpPr>
          <p:nvPr/>
        </p:nvSpPr>
        <p:spPr>
          <a:xfrm>
            <a:off x="0" y="6376988"/>
            <a:ext cx="611188" cy="365125"/>
          </a:xfrm>
          <a:prstGeom prst="rect">
            <a:avLst/>
          </a:prstGeom>
          <a:noFill/>
          <a:ln>
            <a:noFill/>
          </a:ln>
        </p:spPr>
        <p:txBody>
          <a:bodyPr spcFirstLastPara="1" wrap="square" lIns="0" tIns="0" rIns="0" bIns="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
                <a:srgbClr val="000000"/>
              </a:buClr>
              <a:buSzPts val="1400"/>
              <a:buFont typeface="Arial"/>
              <a:buNone/>
            </a:pPr>
            <a:fld id="{00000000-1234-1234-1234-123412341234}" type="slidenum">
              <a:rPr lang="fr-FR" smtClean="0"/>
              <a:pPr algn="ctr">
                <a:buClr>
                  <a:srgbClr val="000000"/>
                </a:buClr>
                <a:buSzPts val="1400"/>
                <a:buFont typeface="Arial"/>
                <a:buNone/>
              </a:pPr>
              <a:t>17</a:t>
            </a:fld>
            <a:endParaRPr lang="fr-FR" dirty="0"/>
          </a:p>
        </p:txBody>
      </p:sp>
    </p:spTree>
    <p:extLst>
      <p:ext uri="{BB962C8B-B14F-4D97-AF65-F5344CB8AC3E}">
        <p14:creationId xmlns:p14="http://schemas.microsoft.com/office/powerpoint/2010/main" val="37674180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52"/>
        <p:cNvGrpSpPr/>
        <p:nvPr/>
      </p:nvGrpSpPr>
      <p:grpSpPr>
        <a:xfrm>
          <a:off x="0" y="0"/>
          <a:ext cx="0" cy="0"/>
          <a:chOff x="0" y="0"/>
          <a:chExt cx="0" cy="0"/>
        </a:xfrm>
      </p:grpSpPr>
      <p:sp>
        <p:nvSpPr>
          <p:cNvPr id="2453" name="Google Shape;2453;p131"/>
          <p:cNvSpPr txBox="1">
            <a:spLocks noGrp="1"/>
          </p:cNvSpPr>
          <p:nvPr>
            <p:ph type="title"/>
          </p:nvPr>
        </p:nvSpPr>
        <p:spPr>
          <a:xfrm>
            <a:off x="2027548" y="0"/>
            <a:ext cx="7020780" cy="9807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fr-FR"/>
              <a:t>Maintenant qu’on a toutes les données, on va pouvoir calculer ! </a:t>
            </a:r>
            <a:endParaRPr/>
          </a:p>
        </p:txBody>
      </p:sp>
      <p:sp>
        <p:nvSpPr>
          <p:cNvPr id="2454" name="Google Shape;2454;p131"/>
          <p:cNvSpPr txBox="1">
            <a:spLocks noGrp="1"/>
          </p:cNvSpPr>
          <p:nvPr>
            <p:ph type="body" idx="1"/>
          </p:nvPr>
        </p:nvSpPr>
        <p:spPr>
          <a:xfrm>
            <a:off x="619678" y="1190125"/>
            <a:ext cx="10972800" cy="460816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400"/>
              <a:buNone/>
            </a:pPr>
            <a:r>
              <a:rPr lang="fr-FR" sz="2400" dirty="0"/>
              <a:t>Rappel : Le Bilan </a:t>
            </a:r>
            <a:r>
              <a:rPr lang="fr-FR" dirty="0"/>
              <a:t>Carbone® </a:t>
            </a:r>
            <a:r>
              <a:rPr lang="fr-FR" sz="2400" dirty="0"/>
              <a:t>est un processus </a:t>
            </a:r>
            <a:r>
              <a:rPr lang="fr-FR" sz="2400" dirty="0">
                <a:solidFill>
                  <a:srgbClr val="F6AB38"/>
                </a:solidFill>
              </a:rPr>
              <a:t>itératif</a:t>
            </a:r>
            <a:endParaRPr dirty="0"/>
          </a:p>
          <a:p>
            <a:pPr marL="742950" lvl="1" indent="-158750" algn="l" rtl="0">
              <a:lnSpc>
                <a:spcPct val="90000"/>
              </a:lnSpc>
              <a:spcBef>
                <a:spcPts val="400"/>
              </a:spcBef>
              <a:spcAft>
                <a:spcPts val="0"/>
              </a:spcAft>
              <a:buClr>
                <a:schemeClr val="dk1"/>
              </a:buClr>
              <a:buSzPts val="2000"/>
              <a:buNone/>
            </a:pPr>
            <a:endParaRPr sz="2000" dirty="0"/>
          </a:p>
          <a:p>
            <a:pPr marL="742950" lvl="1" indent="-158750" algn="l" rtl="0">
              <a:lnSpc>
                <a:spcPct val="90000"/>
              </a:lnSpc>
              <a:spcBef>
                <a:spcPts val="400"/>
              </a:spcBef>
              <a:spcAft>
                <a:spcPts val="0"/>
              </a:spcAft>
              <a:buClr>
                <a:schemeClr val="dk1"/>
              </a:buClr>
              <a:buSzPts val="2000"/>
              <a:buNone/>
            </a:pPr>
            <a:endParaRPr sz="2000" dirty="0"/>
          </a:p>
        </p:txBody>
      </p:sp>
      <p:pic>
        <p:nvPicPr>
          <p:cNvPr id="2455" name="Google Shape;2455;p131"/>
          <p:cNvPicPr preferRelativeResize="0"/>
          <p:nvPr/>
        </p:nvPicPr>
        <p:blipFill rotWithShape="1">
          <a:blip r:embed="rId3">
            <a:alphaModFix/>
          </a:blip>
          <a:srcRect/>
          <a:stretch/>
        </p:blipFill>
        <p:spPr>
          <a:xfrm>
            <a:off x="1559496" y="4437112"/>
            <a:ext cx="1230763" cy="1230763"/>
          </a:xfrm>
          <a:prstGeom prst="rect">
            <a:avLst/>
          </a:prstGeom>
          <a:noFill/>
          <a:ln>
            <a:noFill/>
          </a:ln>
        </p:spPr>
      </p:pic>
      <p:sp>
        <p:nvSpPr>
          <p:cNvPr id="2456" name="Google Shape;2456;p131"/>
          <p:cNvSpPr txBox="1"/>
          <p:nvPr/>
        </p:nvSpPr>
        <p:spPr>
          <a:xfrm>
            <a:off x="3269303" y="3639864"/>
            <a:ext cx="5442658" cy="1200329"/>
          </a:xfrm>
          <a:prstGeom prst="rect">
            <a:avLst/>
          </a:prstGeom>
          <a:solidFill>
            <a:srgbClr val="F6AB38"/>
          </a:solid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1800"/>
              <a:buFont typeface="Noto Sans Symbols"/>
              <a:buNone/>
            </a:pPr>
            <a:r>
              <a:rPr lang="fr-FR" sz="1800" b="1" dirty="0">
                <a:solidFill>
                  <a:schemeClr val="lt1"/>
                </a:solidFill>
                <a:latin typeface="Century Gothic"/>
                <a:ea typeface="Century Gothic"/>
                <a:cs typeface="Century Gothic"/>
                <a:sym typeface="Century Gothic"/>
              </a:rPr>
              <a:t>Ce premier calcul donne un ordre de grandeur pour un campus qui accueille 500 personnes. Il ne donne pas d’information sur les priorités d’actions à mener !</a:t>
            </a:r>
            <a:endParaRPr dirty="0"/>
          </a:p>
        </p:txBody>
      </p:sp>
      <p:sp>
        <p:nvSpPr>
          <p:cNvPr id="2457" name="Google Shape;2457;p131"/>
          <p:cNvSpPr/>
          <p:nvPr/>
        </p:nvSpPr>
        <p:spPr>
          <a:xfrm>
            <a:off x="3287688" y="5266073"/>
            <a:ext cx="5439706" cy="646331"/>
          </a:xfrm>
          <a:prstGeom prst="rect">
            <a:avLst/>
          </a:prstGeom>
          <a:solidFill>
            <a:srgbClr val="F6AB38"/>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dirty="0">
                <a:solidFill>
                  <a:srgbClr val="FFFFFF"/>
                </a:solidFill>
                <a:latin typeface="Century Gothic"/>
                <a:ea typeface="Century Gothic"/>
                <a:cs typeface="Century Gothic"/>
                <a:sym typeface="Century Gothic"/>
              </a:rPr>
              <a:t>Il vous permettra d’évaluer si les calculs finaux ne sont pas farfelus !</a:t>
            </a:r>
            <a:endParaRPr sz="1800" dirty="0">
              <a:solidFill>
                <a:schemeClr val="dk1"/>
              </a:solidFill>
              <a:latin typeface="Arial"/>
              <a:ea typeface="Arial"/>
              <a:cs typeface="Arial"/>
              <a:sym typeface="Arial"/>
            </a:endParaRPr>
          </a:p>
        </p:txBody>
      </p:sp>
      <p:grpSp>
        <p:nvGrpSpPr>
          <p:cNvPr id="2458" name="Google Shape;2458;p131"/>
          <p:cNvGrpSpPr/>
          <p:nvPr/>
        </p:nvGrpSpPr>
        <p:grpSpPr>
          <a:xfrm>
            <a:off x="951346" y="1418889"/>
            <a:ext cx="10972800" cy="1520207"/>
            <a:chOff x="951346" y="1418889"/>
            <a:chExt cx="10972800" cy="1520207"/>
          </a:xfrm>
        </p:grpSpPr>
        <p:grpSp>
          <p:nvGrpSpPr>
            <p:cNvPr id="2459" name="Google Shape;2459;p131"/>
            <p:cNvGrpSpPr/>
            <p:nvPr/>
          </p:nvGrpSpPr>
          <p:grpSpPr>
            <a:xfrm>
              <a:off x="10348075" y="1556792"/>
              <a:ext cx="1244403" cy="1244403"/>
              <a:chOff x="4563565" y="3050600"/>
              <a:chExt cx="1800000" cy="1800000"/>
            </a:xfrm>
          </p:grpSpPr>
          <p:sp>
            <p:nvSpPr>
              <p:cNvPr id="2460" name="Google Shape;2460;p131"/>
              <p:cNvSpPr/>
              <p:nvPr/>
            </p:nvSpPr>
            <p:spPr>
              <a:xfrm>
                <a:off x="4563565" y="3050600"/>
                <a:ext cx="1800000" cy="1800000"/>
              </a:xfrm>
              <a:prstGeom prst="ellipse">
                <a:avLst/>
              </a:prstGeom>
              <a:solidFill>
                <a:srgbClr val="0851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2461" name="Google Shape;2461;p131"/>
              <p:cNvPicPr preferRelativeResize="0"/>
              <p:nvPr/>
            </p:nvPicPr>
            <p:blipFill rotWithShape="1">
              <a:blip r:embed="rId4">
                <a:alphaModFix/>
              </a:blip>
              <a:srcRect/>
              <a:stretch/>
            </p:blipFill>
            <p:spPr>
              <a:xfrm>
                <a:off x="4698781" y="3161115"/>
                <a:ext cx="1578969" cy="1578969"/>
              </a:xfrm>
              <a:prstGeom prst="rect">
                <a:avLst/>
              </a:prstGeom>
              <a:noFill/>
              <a:ln>
                <a:noFill/>
              </a:ln>
            </p:spPr>
          </p:pic>
        </p:grpSp>
        <p:sp>
          <p:nvSpPr>
            <p:cNvPr id="2462" name="Google Shape;2462;p131"/>
            <p:cNvSpPr txBox="1"/>
            <p:nvPr/>
          </p:nvSpPr>
          <p:spPr>
            <a:xfrm>
              <a:off x="951346" y="1418889"/>
              <a:ext cx="10972800" cy="1520207"/>
            </a:xfrm>
            <a:prstGeom prst="rect">
              <a:avLst/>
            </a:prstGeom>
            <a:noFill/>
            <a:ln>
              <a:noFill/>
            </a:ln>
          </p:spPr>
          <p:txBody>
            <a:bodyPr spcFirstLastPara="1" wrap="square" lIns="91425" tIns="45700" rIns="91425" bIns="45700" anchor="t" anchorCtr="0">
              <a:normAutofit/>
            </a:bodyPr>
            <a:lstStyle/>
            <a:p>
              <a:pPr marL="742950" marR="0" lvl="1" indent="-168275" algn="l" rtl="0">
                <a:lnSpc>
                  <a:spcPct val="70000"/>
                </a:lnSpc>
                <a:spcBef>
                  <a:spcPts val="0"/>
                </a:spcBef>
                <a:spcAft>
                  <a:spcPts val="0"/>
                </a:spcAft>
                <a:buClr>
                  <a:schemeClr val="dk1"/>
                </a:buClr>
                <a:buSzPts val="1850"/>
                <a:buFont typeface="Arial"/>
                <a:buNone/>
              </a:pPr>
              <a:endParaRPr sz="1850" b="0" i="0" u="none" strike="noStrike" cap="none" dirty="0">
                <a:solidFill>
                  <a:schemeClr val="dk1"/>
                </a:solidFill>
                <a:latin typeface="Century Gothic"/>
                <a:ea typeface="Century Gothic"/>
                <a:cs typeface="Century Gothic"/>
                <a:sym typeface="Century Gothic"/>
              </a:endParaRPr>
            </a:p>
            <a:p>
              <a:pPr marL="457200" marR="0" lvl="1" indent="0" algn="l" rtl="0">
                <a:lnSpc>
                  <a:spcPct val="70000"/>
                </a:lnSpc>
                <a:spcBef>
                  <a:spcPts val="370"/>
                </a:spcBef>
                <a:spcAft>
                  <a:spcPts val="0"/>
                </a:spcAft>
                <a:buClr>
                  <a:schemeClr val="dk1"/>
                </a:buClr>
                <a:buSzPts val="1850"/>
                <a:buFont typeface="Arial"/>
                <a:buNone/>
              </a:pPr>
              <a:endParaRPr sz="1850" b="0" i="0" u="none" strike="noStrike" cap="none" dirty="0">
                <a:solidFill>
                  <a:schemeClr val="dk1"/>
                </a:solidFill>
                <a:latin typeface="Century Gothic"/>
                <a:ea typeface="Century Gothic"/>
                <a:cs typeface="Century Gothic"/>
                <a:sym typeface="Century Gothic"/>
              </a:endParaRPr>
            </a:p>
            <a:p>
              <a:pPr marL="0" marR="0" lvl="0" indent="0" algn="l" rtl="0">
                <a:lnSpc>
                  <a:spcPct val="70000"/>
                </a:lnSpc>
                <a:spcBef>
                  <a:spcPts val="444"/>
                </a:spcBef>
                <a:spcAft>
                  <a:spcPts val="0"/>
                </a:spcAft>
                <a:buClr>
                  <a:srgbClr val="F79124"/>
                </a:buClr>
                <a:buSzPts val="2220"/>
                <a:buFont typeface="Arial"/>
                <a:buNone/>
              </a:pPr>
              <a:r>
                <a:rPr lang="fr-FR" sz="2220" b="1" cap="none" dirty="0">
                  <a:solidFill>
                    <a:srgbClr val="085160"/>
                  </a:solidFill>
                  <a:latin typeface="Century Gothic"/>
                  <a:ea typeface="Century Gothic"/>
                  <a:cs typeface="Century Gothic"/>
                  <a:sym typeface="Century Gothic"/>
                </a:rPr>
                <a:t>1</a:t>
              </a:r>
              <a:r>
                <a:rPr lang="fr-FR" sz="2220" b="1" cap="none" baseline="30000" dirty="0">
                  <a:solidFill>
                    <a:srgbClr val="085160"/>
                  </a:solidFill>
                  <a:latin typeface="Century Gothic"/>
                  <a:ea typeface="Century Gothic"/>
                  <a:cs typeface="Century Gothic"/>
                  <a:sym typeface="Century Gothic"/>
                </a:rPr>
                <a:t>ère</a:t>
              </a:r>
              <a:r>
                <a:rPr lang="fr-FR" sz="2220" b="1" cap="none" dirty="0">
                  <a:solidFill>
                    <a:srgbClr val="085160"/>
                  </a:solidFill>
                  <a:latin typeface="Century Gothic"/>
                  <a:ea typeface="Century Gothic"/>
                  <a:cs typeface="Century Gothic"/>
                  <a:sym typeface="Century Gothic"/>
                </a:rPr>
                <a:t> itération : ordre de grandeur en 1 calcul et 10 secondes</a:t>
              </a:r>
              <a:endParaRPr dirty="0"/>
            </a:p>
            <a:p>
              <a:pPr marL="457200" marR="0" lvl="1" indent="0" algn="l" rtl="0">
                <a:lnSpc>
                  <a:spcPct val="70000"/>
                </a:lnSpc>
                <a:spcBef>
                  <a:spcPts val="370"/>
                </a:spcBef>
                <a:spcAft>
                  <a:spcPts val="0"/>
                </a:spcAft>
                <a:buClr>
                  <a:schemeClr val="dk1"/>
                </a:buClr>
                <a:buSzPts val="1850"/>
                <a:buFont typeface="Arial"/>
                <a:buNone/>
              </a:pPr>
              <a:r>
                <a:rPr lang="fr-FR" sz="1850" b="0" i="0" u="none" strike="noStrike" cap="none" dirty="0">
                  <a:solidFill>
                    <a:schemeClr val="dk1"/>
                  </a:solidFill>
                  <a:latin typeface="Century Gothic"/>
                  <a:ea typeface="Century Gothic"/>
                  <a:cs typeface="Century Gothic"/>
                  <a:sym typeface="Century Gothic"/>
                </a:rPr>
                <a:t>Emissions du campus ≈ nombre de personnes x FE d’une personne</a:t>
              </a:r>
              <a:endParaRPr dirty="0"/>
            </a:p>
            <a:p>
              <a:pPr marL="457200" marR="0" lvl="1" indent="0" algn="l" rtl="0">
                <a:lnSpc>
                  <a:spcPct val="70000"/>
                </a:lnSpc>
                <a:spcBef>
                  <a:spcPts val="518"/>
                </a:spcBef>
                <a:spcAft>
                  <a:spcPts val="0"/>
                </a:spcAft>
                <a:buClr>
                  <a:schemeClr val="dk1"/>
                </a:buClr>
                <a:buSzPts val="1850"/>
                <a:buFont typeface="Arial"/>
                <a:buNone/>
              </a:pPr>
              <a:r>
                <a:rPr lang="fr-FR" sz="1850" b="0" i="0" u="none" strike="noStrike" cap="none" dirty="0">
                  <a:solidFill>
                    <a:schemeClr val="dk1"/>
                  </a:solidFill>
                  <a:latin typeface="Century Gothic"/>
                  <a:ea typeface="Century Gothic"/>
                  <a:cs typeface="Century Gothic"/>
                  <a:sym typeface="Century Gothic"/>
                </a:rPr>
                <a:t>500 personnes x </a:t>
              </a:r>
              <a:r>
                <a:rPr lang="fr-FR" sz="1850" b="1" dirty="0">
                  <a:solidFill>
                    <a:srgbClr val="F6AB38"/>
                  </a:solidFill>
                  <a:latin typeface="Century Gothic"/>
                  <a:ea typeface="Century Gothic"/>
                  <a:cs typeface="Century Gothic"/>
                  <a:sym typeface="Century Gothic"/>
                </a:rPr>
                <a:t>9</a:t>
              </a:r>
              <a:r>
                <a:rPr lang="fr-FR" sz="1850" b="1" i="0" u="none" strike="noStrike" cap="none" dirty="0">
                  <a:solidFill>
                    <a:srgbClr val="F6AB38"/>
                  </a:solidFill>
                  <a:latin typeface="Century Gothic"/>
                  <a:ea typeface="Century Gothic"/>
                  <a:cs typeface="Century Gothic"/>
                  <a:sym typeface="Century Gothic"/>
                </a:rPr>
                <a:t> tCO2eq/pers./an </a:t>
              </a:r>
              <a:r>
                <a:rPr lang="fr-FR" sz="1850" b="1" i="0" u="none" strike="noStrike" cap="none" dirty="0">
                  <a:solidFill>
                    <a:schemeClr val="dk1"/>
                  </a:solidFill>
                  <a:latin typeface="Century Gothic"/>
                  <a:ea typeface="Century Gothic"/>
                  <a:cs typeface="Century Gothic"/>
                  <a:sym typeface="Century Gothic"/>
                </a:rPr>
                <a:t>x 200 j / 365 j </a:t>
              </a:r>
              <a:r>
                <a:rPr lang="fr-FR" sz="2590" b="1" i="0" u="none" strike="noStrike" cap="none" dirty="0">
                  <a:solidFill>
                    <a:srgbClr val="085160"/>
                  </a:solidFill>
                  <a:latin typeface="Century Gothic"/>
                  <a:ea typeface="Century Gothic"/>
                  <a:cs typeface="Century Gothic"/>
                  <a:sym typeface="Century Gothic"/>
                </a:rPr>
                <a:t>≈ </a:t>
              </a:r>
              <a:r>
                <a:rPr lang="fr-FR" sz="2590" b="1" dirty="0">
                  <a:solidFill>
                    <a:srgbClr val="085160"/>
                  </a:solidFill>
                  <a:latin typeface="Century Gothic"/>
                  <a:ea typeface="Century Gothic"/>
                  <a:cs typeface="Century Gothic"/>
                  <a:sym typeface="Century Gothic"/>
                </a:rPr>
                <a:t>246</a:t>
              </a:r>
              <a:r>
                <a:rPr lang="fr-FR" sz="2590" b="1" i="0" u="none" strike="noStrike" cap="none" dirty="0">
                  <a:solidFill>
                    <a:srgbClr val="085160"/>
                  </a:solidFill>
                  <a:latin typeface="Century Gothic"/>
                  <a:ea typeface="Century Gothic"/>
                  <a:cs typeface="Century Gothic"/>
                  <a:sym typeface="Century Gothic"/>
                </a:rPr>
                <a:t>0 tCO2eq/an</a:t>
              </a:r>
              <a:endParaRPr sz="1850" b="1" i="0" u="none" strike="noStrike" cap="none" dirty="0">
                <a:solidFill>
                  <a:srgbClr val="085160"/>
                </a:solidFill>
                <a:latin typeface="Century Gothic"/>
                <a:ea typeface="Century Gothic"/>
                <a:cs typeface="Century Gothic"/>
                <a:sym typeface="Century Gothic"/>
              </a:endParaRPr>
            </a:p>
            <a:p>
              <a:pPr marL="742950" marR="0" lvl="1" indent="-168275" algn="l" rtl="0">
                <a:lnSpc>
                  <a:spcPct val="70000"/>
                </a:lnSpc>
                <a:spcBef>
                  <a:spcPts val="370"/>
                </a:spcBef>
                <a:spcAft>
                  <a:spcPts val="0"/>
                </a:spcAft>
                <a:buClr>
                  <a:schemeClr val="dk1"/>
                </a:buClr>
                <a:buSzPts val="1850"/>
                <a:buFont typeface="Arial"/>
                <a:buNone/>
              </a:pPr>
              <a:endParaRPr sz="1850" b="0" i="0" u="none" strike="noStrike" cap="none" dirty="0">
                <a:solidFill>
                  <a:schemeClr val="dk1"/>
                </a:solidFill>
                <a:latin typeface="Century Gothic"/>
                <a:ea typeface="Century Gothic"/>
                <a:cs typeface="Century Gothic"/>
                <a:sym typeface="Century Gothic"/>
              </a:endParaRPr>
            </a:p>
          </p:txBody>
        </p:sp>
      </p:grpSp>
      <p:sp>
        <p:nvSpPr>
          <p:cNvPr id="12" name="Google Shape;130;p3">
            <a:extLst>
              <a:ext uri="{FF2B5EF4-FFF2-40B4-BE49-F238E27FC236}">
                <a16:creationId xmlns:a16="http://schemas.microsoft.com/office/drawing/2014/main" id="{55399256-944F-4BD9-B4C3-7CB1C22D2386}"/>
              </a:ext>
            </a:extLst>
          </p:cNvPr>
          <p:cNvSpPr txBox="1">
            <a:spLocks/>
          </p:cNvSpPr>
          <p:nvPr/>
        </p:nvSpPr>
        <p:spPr>
          <a:xfrm>
            <a:off x="0" y="6306650"/>
            <a:ext cx="611188" cy="365125"/>
          </a:xfrm>
          <a:prstGeom prst="rect">
            <a:avLst/>
          </a:prstGeom>
          <a:noFill/>
          <a:ln>
            <a:noFill/>
          </a:ln>
        </p:spPr>
        <p:txBody>
          <a:bodyPr spcFirstLastPara="1" wrap="square" lIns="0" tIns="0" rIns="0" bIns="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
                <a:srgbClr val="000000"/>
              </a:buClr>
              <a:buSzPts val="1400"/>
              <a:buFont typeface="Arial"/>
              <a:buNone/>
            </a:pPr>
            <a:fld id="{00000000-1234-1234-1234-123412341234}" type="slidenum">
              <a:rPr lang="fr-FR" smtClean="0"/>
              <a:pPr algn="ctr">
                <a:buClr>
                  <a:srgbClr val="000000"/>
                </a:buClr>
                <a:buSzPts val="1400"/>
                <a:buFont typeface="Arial"/>
                <a:buNone/>
              </a:pPr>
              <a:t>18</a:t>
            </a:fld>
            <a:endParaRPr lang="fr-FR" dirty="0"/>
          </a:p>
        </p:txBody>
      </p:sp>
    </p:spTree>
    <p:extLst>
      <p:ext uri="{BB962C8B-B14F-4D97-AF65-F5344CB8AC3E}">
        <p14:creationId xmlns:p14="http://schemas.microsoft.com/office/powerpoint/2010/main" val="2936360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82"/>
        <p:cNvGrpSpPr/>
        <p:nvPr/>
      </p:nvGrpSpPr>
      <p:grpSpPr>
        <a:xfrm>
          <a:off x="0" y="0"/>
          <a:ext cx="0" cy="0"/>
          <a:chOff x="0" y="0"/>
          <a:chExt cx="0" cy="0"/>
        </a:xfrm>
      </p:grpSpPr>
      <p:sp>
        <p:nvSpPr>
          <p:cNvPr id="2583" name="Google Shape;2583;p144"/>
          <p:cNvSpPr txBox="1">
            <a:spLocks noGrp="1"/>
          </p:cNvSpPr>
          <p:nvPr>
            <p:ph type="title"/>
          </p:nvPr>
        </p:nvSpPr>
        <p:spPr>
          <a:xfrm>
            <a:off x="2027548" y="0"/>
            <a:ext cx="8028892" cy="9807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fr-FR"/>
              <a:t>Quelques astuces supplémentaires</a:t>
            </a:r>
            <a:endParaRPr/>
          </a:p>
        </p:txBody>
      </p:sp>
      <p:sp>
        <p:nvSpPr>
          <p:cNvPr id="2584" name="Google Shape;2584;p144"/>
          <p:cNvSpPr txBox="1">
            <a:spLocks noGrp="1"/>
          </p:cNvSpPr>
          <p:nvPr>
            <p:ph type="body" idx="1"/>
          </p:nvPr>
        </p:nvSpPr>
        <p:spPr>
          <a:xfrm>
            <a:off x="2711624" y="1464238"/>
            <a:ext cx="8870776" cy="5061106"/>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400"/>
              <a:buNone/>
            </a:pPr>
            <a:r>
              <a:rPr lang="fr-FR" b="0">
                <a:solidFill>
                  <a:schemeClr val="dk1"/>
                </a:solidFill>
              </a:rPr>
              <a:t>De par le périmètre très large retenu, deux Bilan GES ne sont pas faits pour être additionnés ! En effet, il y a </a:t>
            </a:r>
            <a:r>
              <a:rPr lang="fr-FR"/>
              <a:t>des risques de double compte</a:t>
            </a:r>
            <a:r>
              <a:rPr lang="fr-FR" b="0">
                <a:solidFill>
                  <a:schemeClr val="dk1"/>
                </a:solidFill>
              </a:rPr>
              <a:t>.</a:t>
            </a:r>
            <a:endParaRPr/>
          </a:p>
          <a:p>
            <a:pPr marL="0" lvl="0" indent="0" algn="l" rtl="0">
              <a:spcBef>
                <a:spcPts val="480"/>
              </a:spcBef>
              <a:spcAft>
                <a:spcPts val="0"/>
              </a:spcAft>
              <a:buSzPts val="2400"/>
              <a:buNone/>
            </a:pPr>
            <a:endParaRPr b="0">
              <a:solidFill>
                <a:schemeClr val="dk1"/>
              </a:solidFill>
            </a:endParaRPr>
          </a:p>
          <a:p>
            <a:pPr marL="0" lvl="0" indent="0" algn="l" rtl="0">
              <a:spcBef>
                <a:spcPts val="480"/>
              </a:spcBef>
              <a:spcAft>
                <a:spcPts val="0"/>
              </a:spcAft>
              <a:buSzPts val="2400"/>
              <a:buNone/>
            </a:pPr>
            <a:endParaRPr b="0">
              <a:solidFill>
                <a:schemeClr val="dk1"/>
              </a:solidFill>
            </a:endParaRPr>
          </a:p>
          <a:p>
            <a:pPr marL="0" lvl="0" indent="0" algn="l" rtl="0">
              <a:spcBef>
                <a:spcPts val="480"/>
              </a:spcBef>
              <a:spcAft>
                <a:spcPts val="0"/>
              </a:spcAft>
              <a:buSzPts val="2400"/>
              <a:buNone/>
            </a:pPr>
            <a:endParaRPr b="0">
              <a:solidFill>
                <a:schemeClr val="dk1"/>
              </a:solidFill>
            </a:endParaRPr>
          </a:p>
          <a:p>
            <a:pPr marL="0" lvl="0" indent="0" algn="l" rtl="0">
              <a:spcBef>
                <a:spcPts val="480"/>
              </a:spcBef>
              <a:spcAft>
                <a:spcPts val="0"/>
              </a:spcAft>
              <a:buSzPts val="2400"/>
              <a:buNone/>
            </a:pPr>
            <a:r>
              <a:rPr lang="fr-FR" b="0">
                <a:solidFill>
                  <a:schemeClr val="dk1"/>
                </a:solidFill>
              </a:rPr>
              <a:t>Toutes les </a:t>
            </a:r>
            <a:r>
              <a:rPr lang="fr-FR"/>
              <a:t>« émissions négatives » </a:t>
            </a:r>
            <a:r>
              <a:rPr lang="fr-FR" b="0">
                <a:solidFill>
                  <a:schemeClr val="dk1"/>
                </a:solidFill>
              </a:rPr>
              <a:t>et les possibles </a:t>
            </a:r>
            <a:r>
              <a:rPr lang="fr-FR"/>
              <a:t>compensations</a:t>
            </a:r>
            <a:r>
              <a:rPr lang="fr-FR" b="0">
                <a:solidFill>
                  <a:schemeClr val="dk1"/>
                </a:solidFill>
              </a:rPr>
              <a:t> doivent être comptées à part : elles ne font pas du tout partie du Bilan GES car elles n’amènent pas d’actions de réduction au sein du périmètre observé.</a:t>
            </a:r>
            <a:endParaRPr/>
          </a:p>
          <a:p>
            <a:pPr marL="0" lvl="0" indent="0" algn="l" rtl="0">
              <a:spcBef>
                <a:spcPts val="480"/>
              </a:spcBef>
              <a:spcAft>
                <a:spcPts val="0"/>
              </a:spcAft>
              <a:buSzPts val="2400"/>
              <a:buNone/>
            </a:pPr>
            <a:endParaRPr b="0">
              <a:solidFill>
                <a:schemeClr val="dk1"/>
              </a:solidFill>
            </a:endParaRPr>
          </a:p>
          <a:p>
            <a:pPr marL="0" lvl="0" indent="0" algn="l" rtl="0">
              <a:spcBef>
                <a:spcPts val="480"/>
              </a:spcBef>
              <a:spcAft>
                <a:spcPts val="0"/>
              </a:spcAft>
              <a:buSzPts val="2400"/>
              <a:buNone/>
            </a:pPr>
            <a:endParaRPr b="0">
              <a:solidFill>
                <a:schemeClr val="dk1"/>
              </a:solidFill>
            </a:endParaRPr>
          </a:p>
          <a:p>
            <a:pPr marL="0" lvl="0" indent="152400" algn="l" rtl="0">
              <a:spcBef>
                <a:spcPts val="480"/>
              </a:spcBef>
              <a:spcAft>
                <a:spcPts val="0"/>
              </a:spcAft>
              <a:buSzPts val="2400"/>
              <a:buFont typeface="Arial"/>
              <a:buNone/>
            </a:pPr>
            <a:endParaRPr b="0">
              <a:solidFill>
                <a:schemeClr val="dk1"/>
              </a:solidFill>
            </a:endParaRPr>
          </a:p>
        </p:txBody>
      </p:sp>
      <p:grpSp>
        <p:nvGrpSpPr>
          <p:cNvPr id="2585" name="Google Shape;2585;p144"/>
          <p:cNvGrpSpPr/>
          <p:nvPr/>
        </p:nvGrpSpPr>
        <p:grpSpPr>
          <a:xfrm>
            <a:off x="407368" y="1196752"/>
            <a:ext cx="2110216" cy="1800200"/>
            <a:chOff x="228040" y="677821"/>
            <a:chExt cx="2110216" cy="1800200"/>
          </a:xfrm>
        </p:grpSpPr>
        <p:pic>
          <p:nvPicPr>
            <p:cNvPr id="2586" name="Google Shape;2586;p144"/>
            <p:cNvPicPr preferRelativeResize="0"/>
            <p:nvPr/>
          </p:nvPicPr>
          <p:blipFill rotWithShape="1">
            <a:blip r:embed="rId3">
              <a:alphaModFix/>
            </a:blip>
            <a:srcRect/>
            <a:stretch/>
          </p:blipFill>
          <p:spPr>
            <a:xfrm>
              <a:off x="785396" y="1651476"/>
              <a:ext cx="744760" cy="744760"/>
            </a:xfrm>
            <a:prstGeom prst="rect">
              <a:avLst/>
            </a:prstGeom>
            <a:noFill/>
            <a:ln>
              <a:noFill/>
            </a:ln>
          </p:spPr>
        </p:pic>
        <p:pic>
          <p:nvPicPr>
            <p:cNvPr id="2587" name="Google Shape;2587;p144"/>
            <p:cNvPicPr preferRelativeResize="0"/>
            <p:nvPr/>
          </p:nvPicPr>
          <p:blipFill rotWithShape="1">
            <a:blip r:embed="rId4">
              <a:alphaModFix/>
            </a:blip>
            <a:srcRect/>
            <a:stretch/>
          </p:blipFill>
          <p:spPr>
            <a:xfrm>
              <a:off x="1716840" y="1340768"/>
              <a:ext cx="621416" cy="621416"/>
            </a:xfrm>
            <a:prstGeom prst="rect">
              <a:avLst/>
            </a:prstGeom>
            <a:noFill/>
            <a:ln>
              <a:noFill/>
            </a:ln>
          </p:spPr>
        </p:pic>
        <p:pic>
          <p:nvPicPr>
            <p:cNvPr id="2588" name="Google Shape;2588;p144"/>
            <p:cNvPicPr preferRelativeResize="0"/>
            <p:nvPr/>
          </p:nvPicPr>
          <p:blipFill rotWithShape="1">
            <a:blip r:embed="rId4">
              <a:alphaModFix/>
            </a:blip>
            <a:srcRect/>
            <a:stretch/>
          </p:blipFill>
          <p:spPr>
            <a:xfrm>
              <a:off x="260360" y="1196752"/>
              <a:ext cx="621416" cy="621416"/>
            </a:xfrm>
            <a:prstGeom prst="rect">
              <a:avLst/>
            </a:prstGeom>
            <a:noFill/>
            <a:ln>
              <a:noFill/>
            </a:ln>
          </p:spPr>
        </p:pic>
        <p:sp>
          <p:nvSpPr>
            <p:cNvPr id="2589" name="Google Shape;2589;p144"/>
            <p:cNvSpPr/>
            <p:nvPr/>
          </p:nvSpPr>
          <p:spPr>
            <a:xfrm>
              <a:off x="228040" y="677821"/>
              <a:ext cx="1944216" cy="1800200"/>
            </a:xfrm>
            <a:prstGeom prst="mathMultiply">
              <a:avLst>
                <a:gd name="adj1" fmla="val 9058"/>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2590" name="Google Shape;2590;p144"/>
          <p:cNvPicPr preferRelativeResize="0"/>
          <p:nvPr/>
        </p:nvPicPr>
        <p:blipFill rotWithShape="1">
          <a:blip r:embed="rId5">
            <a:alphaModFix/>
          </a:blip>
          <a:srcRect/>
          <a:stretch/>
        </p:blipFill>
        <p:spPr>
          <a:xfrm>
            <a:off x="747430" y="3994791"/>
            <a:ext cx="1459446" cy="1459446"/>
          </a:xfrm>
          <a:prstGeom prst="rect">
            <a:avLst/>
          </a:prstGeom>
          <a:noFill/>
          <a:ln>
            <a:noFill/>
          </a:ln>
        </p:spPr>
      </p:pic>
      <p:sp>
        <p:nvSpPr>
          <p:cNvPr id="10" name="Google Shape;130;p3">
            <a:extLst>
              <a:ext uri="{FF2B5EF4-FFF2-40B4-BE49-F238E27FC236}">
                <a16:creationId xmlns:a16="http://schemas.microsoft.com/office/drawing/2014/main" id="{531BC11D-1642-4EB7-9F56-CF4AD9A0D260}"/>
              </a:ext>
            </a:extLst>
          </p:cNvPr>
          <p:cNvSpPr txBox="1">
            <a:spLocks/>
          </p:cNvSpPr>
          <p:nvPr/>
        </p:nvSpPr>
        <p:spPr>
          <a:xfrm>
            <a:off x="0" y="6283204"/>
            <a:ext cx="611188" cy="365125"/>
          </a:xfrm>
          <a:prstGeom prst="rect">
            <a:avLst/>
          </a:prstGeom>
          <a:noFill/>
          <a:ln>
            <a:noFill/>
          </a:ln>
        </p:spPr>
        <p:txBody>
          <a:bodyPr spcFirstLastPara="1" wrap="square" lIns="0" tIns="0" rIns="0" bIns="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
                <a:srgbClr val="000000"/>
              </a:buClr>
              <a:buSzPts val="1400"/>
              <a:buFont typeface="Arial"/>
              <a:buNone/>
            </a:pPr>
            <a:fld id="{00000000-1234-1234-1234-123412341234}" type="slidenum">
              <a:rPr lang="fr-FR" smtClean="0"/>
              <a:pPr algn="ctr">
                <a:buClr>
                  <a:srgbClr val="000000"/>
                </a:buClr>
                <a:buSzPts val="1400"/>
                <a:buFont typeface="Arial"/>
                <a:buNone/>
              </a:pPr>
              <a:t>19</a:t>
            </a:fld>
            <a:endParaRPr lang="fr-FR" dirty="0"/>
          </a:p>
        </p:txBody>
      </p:sp>
    </p:spTree>
    <p:extLst>
      <p:ext uri="{BB962C8B-B14F-4D97-AF65-F5344CB8AC3E}">
        <p14:creationId xmlns:p14="http://schemas.microsoft.com/office/powerpoint/2010/main" val="25371871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29"/>
        <p:cNvGrpSpPr/>
        <p:nvPr/>
      </p:nvGrpSpPr>
      <p:grpSpPr>
        <a:xfrm>
          <a:off x="0" y="0"/>
          <a:ext cx="0" cy="0"/>
          <a:chOff x="0" y="0"/>
          <a:chExt cx="0" cy="0"/>
        </a:xfrm>
      </p:grpSpPr>
      <p:sp>
        <p:nvSpPr>
          <p:cNvPr id="2830" name="Google Shape;2830;p152"/>
          <p:cNvSpPr txBox="1">
            <a:spLocks noGrp="1"/>
          </p:cNvSpPr>
          <p:nvPr>
            <p:ph type="title"/>
          </p:nvPr>
        </p:nvSpPr>
        <p:spPr>
          <a:xfrm>
            <a:off x="2027548" y="0"/>
            <a:ext cx="8028892" cy="9807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fr-FR" sz="2800"/>
              <a:t>Ce</a:t>
            </a:r>
            <a:r>
              <a:rPr lang="fr-FR"/>
              <a:t> qu’il faut re</a:t>
            </a:r>
            <a:r>
              <a:rPr lang="fr-FR" sz="3600"/>
              <a:t>te</a:t>
            </a:r>
            <a:r>
              <a:rPr lang="fr-FR"/>
              <a:t>nir</a:t>
            </a:r>
            <a:endParaRPr/>
          </a:p>
        </p:txBody>
      </p:sp>
      <p:pic>
        <p:nvPicPr>
          <p:cNvPr id="2831" name="Google Shape;2831;p152"/>
          <p:cNvPicPr preferRelativeResize="0"/>
          <p:nvPr/>
        </p:nvPicPr>
        <p:blipFill rotWithShape="1">
          <a:blip r:embed="rId3">
            <a:alphaModFix/>
          </a:blip>
          <a:srcRect/>
          <a:stretch/>
        </p:blipFill>
        <p:spPr>
          <a:xfrm flipH="1">
            <a:off x="4223792" y="199033"/>
            <a:ext cx="939563" cy="939563"/>
          </a:xfrm>
          <a:prstGeom prst="rect">
            <a:avLst/>
          </a:prstGeom>
          <a:noFill/>
          <a:ln>
            <a:noFill/>
          </a:ln>
        </p:spPr>
      </p:pic>
      <p:sp>
        <p:nvSpPr>
          <p:cNvPr id="2832" name="Google Shape;2832;p152"/>
          <p:cNvSpPr txBox="1"/>
          <p:nvPr/>
        </p:nvSpPr>
        <p:spPr>
          <a:xfrm>
            <a:off x="1559496" y="1179761"/>
            <a:ext cx="9835335" cy="5372175"/>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Clr>
                <a:srgbClr val="166478"/>
              </a:buClr>
              <a:buSzPts val="2400"/>
              <a:buFont typeface="Arial"/>
              <a:buNone/>
            </a:pPr>
            <a:r>
              <a:rPr lang="fr-FR" sz="2400" b="1" cap="none" dirty="0">
                <a:solidFill>
                  <a:srgbClr val="166478"/>
                </a:solidFill>
                <a:latin typeface="Century Gothic"/>
                <a:ea typeface="Century Gothic"/>
                <a:cs typeface="Century Gothic"/>
                <a:sym typeface="Century Gothic"/>
              </a:rPr>
              <a:t>Deux astuces pour ne jamais se tromper dans un calcul : </a:t>
            </a:r>
            <a:r>
              <a:rPr lang="fr-FR" sz="2400" b="1" cap="none" dirty="0">
                <a:solidFill>
                  <a:srgbClr val="F6AB38"/>
                </a:solidFill>
                <a:latin typeface="Century Gothic"/>
                <a:ea typeface="Century Gothic"/>
                <a:cs typeface="Century Gothic"/>
                <a:sym typeface="Century Gothic"/>
              </a:rPr>
              <a:t>vérifier les unités </a:t>
            </a:r>
            <a:r>
              <a:rPr lang="fr-FR" sz="2400" b="1" cap="none" dirty="0">
                <a:solidFill>
                  <a:srgbClr val="166478"/>
                </a:solidFill>
                <a:latin typeface="Century Gothic"/>
                <a:ea typeface="Century Gothic"/>
                <a:cs typeface="Century Gothic"/>
                <a:sym typeface="Century Gothic"/>
              </a:rPr>
              <a:t>et </a:t>
            </a:r>
            <a:r>
              <a:rPr lang="fr-FR" sz="2400" b="1" cap="none" dirty="0">
                <a:solidFill>
                  <a:srgbClr val="F6AB38"/>
                </a:solidFill>
                <a:latin typeface="Century Gothic"/>
                <a:ea typeface="Century Gothic"/>
                <a:cs typeface="Century Gothic"/>
                <a:sym typeface="Century Gothic"/>
              </a:rPr>
              <a:t>comparer les ordres de grandeurs </a:t>
            </a:r>
            <a:r>
              <a:rPr lang="fr-FR" sz="2400" b="1" cap="none" dirty="0">
                <a:solidFill>
                  <a:srgbClr val="166478"/>
                </a:solidFill>
                <a:latin typeface="Century Gothic"/>
                <a:ea typeface="Century Gothic"/>
                <a:cs typeface="Century Gothic"/>
                <a:sym typeface="Century Gothic"/>
              </a:rPr>
              <a:t>!</a:t>
            </a:r>
            <a:endParaRPr dirty="0"/>
          </a:p>
          <a:p>
            <a:pPr marL="0" marR="0" lvl="0" indent="0" algn="just" rtl="0">
              <a:spcBef>
                <a:spcPts val="3000"/>
              </a:spcBef>
              <a:spcAft>
                <a:spcPts val="0"/>
              </a:spcAft>
              <a:buClr>
                <a:srgbClr val="166478"/>
              </a:buClr>
              <a:buSzPts val="2400"/>
              <a:buFont typeface="Arial"/>
              <a:buNone/>
            </a:pPr>
            <a:r>
              <a:rPr lang="fr-FR" sz="2400" b="1" cap="none" dirty="0">
                <a:solidFill>
                  <a:srgbClr val="166478"/>
                </a:solidFill>
                <a:latin typeface="Century Gothic"/>
                <a:ea typeface="Century Gothic"/>
                <a:cs typeface="Century Gothic"/>
                <a:sym typeface="Century Gothic"/>
              </a:rPr>
              <a:t>Un bilan GES est </a:t>
            </a:r>
            <a:r>
              <a:rPr lang="fr-FR" sz="2400" b="1" cap="none" dirty="0">
                <a:solidFill>
                  <a:srgbClr val="F6AB38"/>
                </a:solidFill>
                <a:latin typeface="Century Gothic"/>
                <a:ea typeface="Century Gothic"/>
                <a:cs typeface="Century Gothic"/>
                <a:sym typeface="Century Gothic"/>
              </a:rPr>
              <a:t>itératif</a:t>
            </a:r>
            <a:r>
              <a:rPr lang="fr-FR" sz="2400" b="1" cap="none" dirty="0">
                <a:solidFill>
                  <a:srgbClr val="166478"/>
                </a:solidFill>
                <a:latin typeface="Century Gothic"/>
                <a:ea typeface="Century Gothic"/>
                <a:cs typeface="Century Gothic"/>
                <a:sym typeface="Century Gothic"/>
              </a:rPr>
              <a:t> : </a:t>
            </a:r>
            <a:r>
              <a:rPr lang="fr-FR" sz="2400" b="1" cap="none" dirty="0">
                <a:solidFill>
                  <a:srgbClr val="085160"/>
                </a:solidFill>
                <a:latin typeface="Century Gothic"/>
                <a:ea typeface="Century Gothic"/>
                <a:cs typeface="Century Gothic"/>
                <a:sym typeface="Century Gothic"/>
              </a:rPr>
              <a:t>la précision augmente autant que nécessaire.</a:t>
            </a:r>
            <a:endParaRPr dirty="0"/>
          </a:p>
          <a:p>
            <a:pPr marL="0" marR="0" lvl="0" indent="0" algn="just" rtl="0">
              <a:spcBef>
                <a:spcPts val="3000"/>
              </a:spcBef>
              <a:spcAft>
                <a:spcPts val="0"/>
              </a:spcAft>
              <a:buClr>
                <a:srgbClr val="166478"/>
              </a:buClr>
              <a:buSzPts val="2400"/>
              <a:buFont typeface="Arial"/>
              <a:buNone/>
            </a:pPr>
            <a:r>
              <a:rPr lang="fr-FR" sz="2400" b="1" cap="none" dirty="0">
                <a:solidFill>
                  <a:srgbClr val="166478"/>
                </a:solidFill>
                <a:latin typeface="Century Gothic"/>
                <a:ea typeface="Century Gothic"/>
                <a:cs typeface="Century Gothic"/>
                <a:sym typeface="Century Gothic"/>
              </a:rPr>
              <a:t>Chaque facteur d’émission s’applique à un contexte donné.</a:t>
            </a:r>
            <a:br>
              <a:rPr lang="fr-FR" sz="2400" b="1" cap="none" dirty="0">
                <a:solidFill>
                  <a:srgbClr val="166478"/>
                </a:solidFill>
                <a:latin typeface="Century Gothic"/>
                <a:ea typeface="Century Gothic"/>
                <a:cs typeface="Century Gothic"/>
                <a:sym typeface="Century Gothic"/>
              </a:rPr>
            </a:br>
            <a:r>
              <a:rPr lang="fr-FR" sz="2400" b="1" cap="none" dirty="0">
                <a:solidFill>
                  <a:srgbClr val="166478"/>
                </a:solidFill>
                <a:latin typeface="Century Gothic"/>
                <a:ea typeface="Century Gothic"/>
                <a:cs typeface="Century Gothic"/>
                <a:sym typeface="Century Gothic"/>
              </a:rPr>
              <a:t>Pour trouver des </a:t>
            </a:r>
            <a:r>
              <a:rPr lang="fr-FR" sz="2400" b="1" cap="none" dirty="0">
                <a:solidFill>
                  <a:srgbClr val="F6AB38"/>
                </a:solidFill>
                <a:latin typeface="Century Gothic"/>
                <a:ea typeface="Century Gothic"/>
                <a:cs typeface="Century Gothic"/>
                <a:sym typeface="Century Gothic"/>
              </a:rPr>
              <a:t>facteurs d’émissions </a:t>
            </a:r>
            <a:r>
              <a:rPr lang="fr-FR" sz="2400" b="1" cap="none" dirty="0">
                <a:solidFill>
                  <a:srgbClr val="166478"/>
                </a:solidFill>
                <a:latin typeface="Century Gothic"/>
                <a:ea typeface="Century Gothic"/>
                <a:cs typeface="Century Gothic"/>
                <a:sym typeface="Century Gothic"/>
              </a:rPr>
              <a:t>:</a:t>
            </a:r>
          </a:p>
          <a:p>
            <a:pPr marL="0" marR="0" lvl="0" indent="0" algn="ctr" rtl="0">
              <a:spcBef>
                <a:spcPts val="1200"/>
              </a:spcBef>
              <a:spcAft>
                <a:spcPts val="0"/>
              </a:spcAft>
              <a:buClr>
                <a:srgbClr val="166478"/>
              </a:buClr>
              <a:buSzPts val="2400"/>
              <a:buFont typeface="Arial"/>
              <a:buNone/>
            </a:pPr>
            <a:r>
              <a:rPr lang="fr-FR" sz="2400" b="1" u="sng" cap="none" dirty="0">
                <a:solidFill>
                  <a:srgbClr val="F6AB38"/>
                </a:solidFill>
                <a:latin typeface="Century Gothic"/>
                <a:ea typeface="Century Gothic"/>
                <a:cs typeface="Century Gothic"/>
                <a:sym typeface="Century Gothic"/>
                <a:hlinkClick r:id="rId4">
                  <a:extLst>
                    <a:ext uri="{A12FA001-AC4F-418D-AE19-62706E023703}">
                      <ahyp:hlinkClr xmlns:ahyp="http://schemas.microsoft.com/office/drawing/2018/hyperlinkcolor" val="tx"/>
                    </a:ext>
                  </a:extLst>
                </a:hlinkClick>
              </a:rPr>
              <a:t>https://base-empreinte.ademe.fr</a:t>
            </a:r>
            <a:endParaRPr sz="2400" b="1" u="sng" cap="none" dirty="0">
              <a:solidFill>
                <a:srgbClr val="F6AB38"/>
              </a:solidFill>
              <a:latin typeface="Century Gothic"/>
              <a:ea typeface="Century Gothic"/>
              <a:cs typeface="Century Gothic"/>
              <a:sym typeface="Century Gothic"/>
            </a:endParaRPr>
          </a:p>
          <a:p>
            <a:pPr marL="0" marR="0" lvl="0" indent="0" algn="just" rtl="0">
              <a:spcBef>
                <a:spcPts val="3000"/>
              </a:spcBef>
              <a:spcAft>
                <a:spcPts val="0"/>
              </a:spcAft>
              <a:buClr>
                <a:srgbClr val="166478"/>
              </a:buClr>
              <a:buSzPts val="2400"/>
              <a:buFont typeface="Arial"/>
              <a:buNone/>
            </a:pPr>
            <a:r>
              <a:rPr lang="fr-FR" sz="2400" b="1" cap="none" dirty="0">
                <a:solidFill>
                  <a:srgbClr val="166478"/>
                </a:solidFill>
                <a:latin typeface="Century Gothic"/>
                <a:ea typeface="Century Gothic"/>
                <a:cs typeface="Century Gothic"/>
                <a:sym typeface="Century Gothic"/>
              </a:rPr>
              <a:t>Quand on hésite entre plusieurs facteurs d’émissions, on prend </a:t>
            </a:r>
            <a:r>
              <a:rPr lang="fr-FR" sz="2400" b="1" cap="none" dirty="0">
                <a:solidFill>
                  <a:srgbClr val="F6AB38"/>
                </a:solidFill>
                <a:latin typeface="Century Gothic"/>
                <a:ea typeface="Century Gothic"/>
                <a:cs typeface="Century Gothic"/>
                <a:sym typeface="Century Gothic"/>
              </a:rPr>
              <a:t>le plus élevé </a:t>
            </a:r>
            <a:r>
              <a:rPr lang="fr-FR" sz="2400" b="1" cap="none" dirty="0">
                <a:solidFill>
                  <a:srgbClr val="166478"/>
                </a:solidFill>
                <a:latin typeface="Century Gothic"/>
                <a:ea typeface="Century Gothic"/>
                <a:cs typeface="Century Gothic"/>
                <a:sym typeface="Century Gothic"/>
              </a:rPr>
              <a:t>par défaut.</a:t>
            </a:r>
            <a:endParaRPr dirty="0"/>
          </a:p>
          <a:p>
            <a:pPr marL="0" marR="0" lvl="0" indent="0" algn="just" rtl="0">
              <a:spcBef>
                <a:spcPts val="3000"/>
              </a:spcBef>
              <a:spcAft>
                <a:spcPts val="0"/>
              </a:spcAft>
              <a:buClr>
                <a:srgbClr val="166478"/>
              </a:buClr>
              <a:buSzPts val="2400"/>
              <a:buFont typeface="Arial"/>
              <a:buNone/>
            </a:pPr>
            <a:endParaRPr sz="2400" b="1" u="sng" cap="none" dirty="0">
              <a:solidFill>
                <a:srgbClr val="166478"/>
              </a:solidFill>
              <a:latin typeface="Century Gothic"/>
              <a:ea typeface="Century Gothic"/>
              <a:cs typeface="Century Gothic"/>
              <a:sym typeface="Century Gothic"/>
            </a:endParaRPr>
          </a:p>
          <a:p>
            <a:pPr marL="0" marR="0" lvl="0" indent="0" algn="just" rtl="0">
              <a:spcBef>
                <a:spcPts val="3000"/>
              </a:spcBef>
              <a:spcAft>
                <a:spcPts val="0"/>
              </a:spcAft>
              <a:buClr>
                <a:srgbClr val="166478"/>
              </a:buClr>
              <a:buSzPts val="2400"/>
              <a:buFont typeface="Arial"/>
              <a:buNone/>
            </a:pPr>
            <a:endParaRPr sz="2400" b="1" cap="none" dirty="0">
              <a:solidFill>
                <a:srgbClr val="166478"/>
              </a:solidFill>
              <a:latin typeface="Century Gothic"/>
              <a:ea typeface="Century Gothic"/>
              <a:cs typeface="Century Gothic"/>
              <a:sym typeface="Century Gothic"/>
            </a:endParaRPr>
          </a:p>
          <a:p>
            <a:pPr marL="0" marR="0" lvl="0" indent="0" algn="just" rtl="0">
              <a:spcBef>
                <a:spcPts val="2400"/>
              </a:spcBef>
              <a:spcAft>
                <a:spcPts val="0"/>
              </a:spcAft>
              <a:buClr>
                <a:srgbClr val="166478"/>
              </a:buClr>
              <a:buSzPts val="2400"/>
              <a:buFont typeface="Arial"/>
              <a:buNone/>
            </a:pPr>
            <a:endParaRPr sz="2400" b="1" cap="none" dirty="0">
              <a:solidFill>
                <a:srgbClr val="166478"/>
              </a:solidFill>
              <a:latin typeface="Century Gothic"/>
              <a:ea typeface="Century Gothic"/>
              <a:cs typeface="Century Gothic"/>
              <a:sym typeface="Century Gothic"/>
            </a:endParaRPr>
          </a:p>
        </p:txBody>
      </p:sp>
      <p:pic>
        <p:nvPicPr>
          <p:cNvPr id="2833" name="Google Shape;2833;p152"/>
          <p:cNvPicPr preferRelativeResize="0"/>
          <p:nvPr/>
        </p:nvPicPr>
        <p:blipFill rotWithShape="1">
          <a:blip r:embed="rId5">
            <a:alphaModFix/>
          </a:blip>
          <a:srcRect/>
          <a:stretch/>
        </p:blipFill>
        <p:spPr>
          <a:xfrm>
            <a:off x="445898" y="4869160"/>
            <a:ext cx="720000" cy="720000"/>
          </a:xfrm>
          <a:prstGeom prst="rect">
            <a:avLst/>
          </a:prstGeom>
          <a:noFill/>
          <a:ln>
            <a:noFill/>
          </a:ln>
        </p:spPr>
      </p:pic>
      <p:grpSp>
        <p:nvGrpSpPr>
          <p:cNvPr id="2834" name="Google Shape;2834;p152"/>
          <p:cNvGrpSpPr/>
          <p:nvPr/>
        </p:nvGrpSpPr>
        <p:grpSpPr>
          <a:xfrm>
            <a:off x="436018" y="2348880"/>
            <a:ext cx="720000" cy="720000"/>
            <a:chOff x="4563565" y="3050600"/>
            <a:chExt cx="1800000" cy="1800000"/>
          </a:xfrm>
        </p:grpSpPr>
        <p:sp>
          <p:nvSpPr>
            <p:cNvPr id="2835" name="Google Shape;2835;p152"/>
            <p:cNvSpPr/>
            <p:nvPr/>
          </p:nvSpPr>
          <p:spPr>
            <a:xfrm>
              <a:off x="4563565" y="3050600"/>
              <a:ext cx="1800000" cy="1800000"/>
            </a:xfrm>
            <a:prstGeom prst="ellipse">
              <a:avLst/>
            </a:prstGeom>
            <a:solidFill>
              <a:srgbClr val="0851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2836" name="Google Shape;2836;p152"/>
            <p:cNvPicPr preferRelativeResize="0"/>
            <p:nvPr/>
          </p:nvPicPr>
          <p:blipFill rotWithShape="1">
            <a:blip r:embed="rId6">
              <a:alphaModFix/>
            </a:blip>
            <a:srcRect/>
            <a:stretch/>
          </p:blipFill>
          <p:spPr>
            <a:xfrm>
              <a:off x="4698781" y="3161115"/>
              <a:ext cx="1578969" cy="1578969"/>
            </a:xfrm>
            <a:prstGeom prst="rect">
              <a:avLst/>
            </a:prstGeom>
            <a:noFill/>
            <a:ln>
              <a:noFill/>
            </a:ln>
          </p:spPr>
        </p:pic>
      </p:grpSp>
      <p:pic>
        <p:nvPicPr>
          <p:cNvPr id="2837" name="Google Shape;2837;p152"/>
          <p:cNvPicPr preferRelativeResize="0"/>
          <p:nvPr/>
        </p:nvPicPr>
        <p:blipFill rotWithShape="1">
          <a:blip r:embed="rId7">
            <a:alphaModFix/>
          </a:blip>
          <a:srcRect/>
          <a:stretch/>
        </p:blipFill>
        <p:spPr>
          <a:xfrm>
            <a:off x="490104" y="3645024"/>
            <a:ext cx="720000" cy="720000"/>
          </a:xfrm>
          <a:prstGeom prst="rect">
            <a:avLst/>
          </a:prstGeom>
          <a:noFill/>
          <a:ln>
            <a:noFill/>
          </a:ln>
        </p:spPr>
      </p:pic>
      <p:pic>
        <p:nvPicPr>
          <p:cNvPr id="2838" name="Google Shape;2838;p152"/>
          <p:cNvPicPr preferRelativeResize="0"/>
          <p:nvPr/>
        </p:nvPicPr>
        <p:blipFill rotWithShape="1">
          <a:blip r:embed="rId8">
            <a:alphaModFix/>
          </a:blip>
          <a:srcRect/>
          <a:stretch/>
        </p:blipFill>
        <p:spPr>
          <a:xfrm>
            <a:off x="224807" y="1358368"/>
            <a:ext cx="1334689" cy="563374"/>
          </a:xfrm>
          <a:prstGeom prst="rect">
            <a:avLst/>
          </a:prstGeom>
          <a:noFill/>
          <a:ln>
            <a:noFill/>
          </a:ln>
        </p:spPr>
      </p:pic>
      <p:sp>
        <p:nvSpPr>
          <p:cNvPr id="11" name="Google Shape;130;p3">
            <a:extLst>
              <a:ext uri="{FF2B5EF4-FFF2-40B4-BE49-F238E27FC236}">
                <a16:creationId xmlns:a16="http://schemas.microsoft.com/office/drawing/2014/main" id="{A32B0D29-870E-41EA-9D85-D6ED45A9648C}"/>
              </a:ext>
            </a:extLst>
          </p:cNvPr>
          <p:cNvSpPr txBox="1">
            <a:spLocks/>
          </p:cNvSpPr>
          <p:nvPr/>
        </p:nvSpPr>
        <p:spPr>
          <a:xfrm>
            <a:off x="0" y="6341819"/>
            <a:ext cx="611188" cy="365125"/>
          </a:xfrm>
          <a:prstGeom prst="rect">
            <a:avLst/>
          </a:prstGeom>
          <a:noFill/>
          <a:ln>
            <a:noFill/>
          </a:ln>
        </p:spPr>
        <p:txBody>
          <a:bodyPr spcFirstLastPara="1" wrap="square" lIns="0" tIns="0" rIns="0" bIns="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
                <a:srgbClr val="000000"/>
              </a:buClr>
              <a:buSzPts val="1400"/>
              <a:buFont typeface="Arial"/>
              <a:buNone/>
            </a:pPr>
            <a:fld id="{00000000-1234-1234-1234-123412341234}" type="slidenum">
              <a:rPr lang="fr-FR" smtClean="0"/>
              <a:pPr algn="ctr">
                <a:buClr>
                  <a:srgbClr val="000000"/>
                </a:buClr>
                <a:buSzPts val="1400"/>
                <a:buFont typeface="Arial"/>
                <a:buNone/>
              </a:pPr>
              <a:t>20</a:t>
            </a:fld>
            <a:endParaRPr lang="fr-FR" dirty="0"/>
          </a:p>
        </p:txBody>
      </p:sp>
    </p:spTree>
    <p:extLst>
      <p:ext uri="{BB962C8B-B14F-4D97-AF65-F5344CB8AC3E}">
        <p14:creationId xmlns:p14="http://schemas.microsoft.com/office/powerpoint/2010/main" val="2720261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04"/>
        <p:cNvGrpSpPr/>
        <p:nvPr/>
      </p:nvGrpSpPr>
      <p:grpSpPr>
        <a:xfrm>
          <a:off x="0" y="0"/>
          <a:ext cx="0" cy="0"/>
          <a:chOff x="0" y="0"/>
          <a:chExt cx="0" cy="0"/>
        </a:xfrm>
      </p:grpSpPr>
      <p:sp>
        <p:nvSpPr>
          <p:cNvPr id="2405" name="Google Shape;2405;p126"/>
          <p:cNvSpPr txBox="1">
            <a:spLocks noGrp="1"/>
          </p:cNvSpPr>
          <p:nvPr>
            <p:ph type="body" idx="1"/>
          </p:nvPr>
        </p:nvSpPr>
        <p:spPr>
          <a:xfrm>
            <a:off x="0" y="2492897"/>
            <a:ext cx="10363200" cy="1500187"/>
          </a:xfrm>
          <a:prstGeom prst="rect">
            <a:avLst/>
          </a:prstGeom>
          <a:solidFill>
            <a:srgbClr val="F6AB38"/>
          </a:solidFill>
          <a:ln>
            <a:noFill/>
          </a:ln>
        </p:spPr>
        <p:txBody>
          <a:bodyPr spcFirstLastPara="1" wrap="square" lIns="216000" tIns="45700" rIns="91425" bIns="45700" anchor="ctr" anchorCtr="0">
            <a:normAutofit/>
          </a:bodyPr>
          <a:lstStyle/>
          <a:p>
            <a:pPr marL="0" lvl="0" indent="0" algn="l" rtl="0">
              <a:spcBef>
                <a:spcPts val="0"/>
              </a:spcBef>
              <a:spcAft>
                <a:spcPts val="0"/>
              </a:spcAft>
              <a:buSzPts val="4000"/>
              <a:buNone/>
            </a:pPr>
            <a:r>
              <a:rPr lang="fr-FR" dirty="0"/>
              <a:t>Présentation du tableur bilan carbone campus.</a:t>
            </a:r>
            <a:endParaRPr dirty="0"/>
          </a:p>
        </p:txBody>
      </p:sp>
      <p:sp>
        <p:nvSpPr>
          <p:cNvPr id="3" name="Google Shape;130;p3">
            <a:extLst>
              <a:ext uri="{FF2B5EF4-FFF2-40B4-BE49-F238E27FC236}">
                <a16:creationId xmlns:a16="http://schemas.microsoft.com/office/drawing/2014/main" id="{7A5CA43E-30BF-4288-B941-91497CD2C73D}"/>
              </a:ext>
            </a:extLst>
          </p:cNvPr>
          <p:cNvSpPr txBox="1">
            <a:spLocks/>
          </p:cNvSpPr>
          <p:nvPr/>
        </p:nvSpPr>
        <p:spPr>
          <a:xfrm>
            <a:off x="0" y="6376988"/>
            <a:ext cx="611188" cy="365125"/>
          </a:xfrm>
          <a:prstGeom prst="rect">
            <a:avLst/>
          </a:prstGeom>
          <a:noFill/>
          <a:ln>
            <a:noFill/>
          </a:ln>
        </p:spPr>
        <p:txBody>
          <a:bodyPr spcFirstLastPara="1" wrap="square" lIns="0" tIns="0" rIns="0" bIns="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
                <a:srgbClr val="000000"/>
              </a:buClr>
              <a:buSzPts val="1400"/>
              <a:buFont typeface="Arial"/>
              <a:buNone/>
            </a:pPr>
            <a:fld id="{00000000-1234-1234-1234-123412341234}" type="slidenum">
              <a:rPr lang="fr-FR" smtClean="0"/>
              <a:pPr algn="ctr">
                <a:buClr>
                  <a:srgbClr val="000000"/>
                </a:buClr>
                <a:buSzPts val="1400"/>
                <a:buFont typeface="Arial"/>
                <a:buNone/>
              </a:pPr>
              <a:t>21</a:t>
            </a:fld>
            <a:endParaRPr lang="fr-FR" dirty="0"/>
          </a:p>
        </p:txBody>
      </p:sp>
    </p:spTree>
    <p:extLst>
      <p:ext uri="{BB962C8B-B14F-4D97-AF65-F5344CB8AC3E}">
        <p14:creationId xmlns:p14="http://schemas.microsoft.com/office/powerpoint/2010/main" val="20672205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29"/>
        <p:cNvGrpSpPr/>
        <p:nvPr/>
      </p:nvGrpSpPr>
      <p:grpSpPr>
        <a:xfrm>
          <a:off x="0" y="0"/>
          <a:ext cx="0" cy="0"/>
          <a:chOff x="0" y="0"/>
          <a:chExt cx="0" cy="0"/>
        </a:xfrm>
      </p:grpSpPr>
      <p:sp>
        <p:nvSpPr>
          <p:cNvPr id="11" name="Google Shape;130;p3">
            <a:extLst>
              <a:ext uri="{FF2B5EF4-FFF2-40B4-BE49-F238E27FC236}">
                <a16:creationId xmlns:a16="http://schemas.microsoft.com/office/drawing/2014/main" id="{A32B0D29-870E-41EA-9D85-D6ED45A9648C}"/>
              </a:ext>
            </a:extLst>
          </p:cNvPr>
          <p:cNvSpPr txBox="1">
            <a:spLocks/>
          </p:cNvSpPr>
          <p:nvPr/>
        </p:nvSpPr>
        <p:spPr>
          <a:xfrm>
            <a:off x="0" y="6259758"/>
            <a:ext cx="611188" cy="365125"/>
          </a:xfrm>
          <a:prstGeom prst="rect">
            <a:avLst/>
          </a:prstGeom>
          <a:noFill/>
          <a:ln>
            <a:noFill/>
          </a:ln>
        </p:spPr>
        <p:txBody>
          <a:bodyPr spcFirstLastPara="1" wrap="square" lIns="0" tIns="0" rIns="0" bIns="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
                <a:srgbClr val="000000"/>
              </a:buClr>
              <a:buSzPts val="1400"/>
              <a:buFont typeface="Arial"/>
              <a:buNone/>
            </a:pPr>
            <a:fld id="{00000000-1234-1234-1234-123412341234}" type="slidenum">
              <a:rPr lang="fr-FR" smtClean="0"/>
              <a:pPr algn="ctr">
                <a:buClr>
                  <a:srgbClr val="000000"/>
                </a:buClr>
                <a:buSzPts val="1400"/>
                <a:buFont typeface="Arial"/>
                <a:buNone/>
              </a:pPr>
              <a:t>22</a:t>
            </a:fld>
            <a:endParaRPr lang="fr-FR" dirty="0"/>
          </a:p>
        </p:txBody>
      </p:sp>
      <p:sp>
        <p:nvSpPr>
          <p:cNvPr id="14" name="Google Shape;175;gec8223986c_1_0">
            <a:extLst>
              <a:ext uri="{FF2B5EF4-FFF2-40B4-BE49-F238E27FC236}">
                <a16:creationId xmlns:a16="http://schemas.microsoft.com/office/drawing/2014/main" id="{C2C0B566-9978-4088-BCEB-DF83F0ABEC97}"/>
              </a:ext>
            </a:extLst>
          </p:cNvPr>
          <p:cNvSpPr/>
          <p:nvPr/>
        </p:nvSpPr>
        <p:spPr>
          <a:xfrm>
            <a:off x="5275950" y="4491651"/>
            <a:ext cx="5825804" cy="1428900"/>
          </a:xfrm>
          <a:prstGeom prst="rect">
            <a:avLst/>
          </a:prstGeom>
          <a:noFill/>
          <a:ln>
            <a:noFill/>
          </a:ln>
        </p:spPr>
        <p:txBody>
          <a:bodyPr spcFirstLastPara="1" wrap="square" lIns="91425" tIns="45700" rIns="91425" bIns="45700" anchor="t" anchorCtr="0">
            <a:noAutofit/>
          </a:bodyPr>
          <a:lstStyle/>
          <a:p>
            <a:pPr marL="457200" lvl="0" indent="0" algn="l" rtl="0">
              <a:lnSpc>
                <a:spcPct val="107000"/>
              </a:lnSpc>
              <a:spcBef>
                <a:spcPts val="800"/>
              </a:spcBef>
              <a:spcAft>
                <a:spcPts val="0"/>
              </a:spcAft>
              <a:buNone/>
            </a:pPr>
            <a:r>
              <a:rPr lang="fr-FR" sz="1800" dirty="0">
                <a:solidFill>
                  <a:schemeClr val="dk1"/>
                </a:solidFill>
                <a:latin typeface="Calibri"/>
                <a:ea typeface="Calibri"/>
                <a:cs typeface="Calibri"/>
                <a:sym typeface="Calibri"/>
              </a:rPr>
              <a:t>Objectif : faire le bilan des émissions GES du campus sur l’année 2024 par secteur d’émission en vue de proposer un plan d’action à la Direction de l’Ecole.  </a:t>
            </a:r>
            <a:endParaRPr sz="1800" dirty="0">
              <a:solidFill>
                <a:schemeClr val="dk1"/>
              </a:solidFill>
              <a:latin typeface="Calibri"/>
              <a:ea typeface="Calibri"/>
              <a:cs typeface="Calibri"/>
              <a:sym typeface="Calibri"/>
            </a:endParaRPr>
          </a:p>
        </p:txBody>
      </p:sp>
      <p:pic>
        <p:nvPicPr>
          <p:cNvPr id="15" name="Google Shape;176;gec8223986c_1_0">
            <a:extLst>
              <a:ext uri="{FF2B5EF4-FFF2-40B4-BE49-F238E27FC236}">
                <a16:creationId xmlns:a16="http://schemas.microsoft.com/office/drawing/2014/main" id="{685CF9D3-37E3-4545-8C14-612963FEE413}"/>
              </a:ext>
            </a:extLst>
          </p:cNvPr>
          <p:cNvPicPr preferRelativeResize="0"/>
          <p:nvPr/>
        </p:nvPicPr>
        <p:blipFill>
          <a:blip r:embed="rId3">
            <a:alphaModFix/>
          </a:blip>
          <a:stretch>
            <a:fillRect/>
          </a:stretch>
        </p:blipFill>
        <p:spPr>
          <a:xfrm>
            <a:off x="2616275" y="1990976"/>
            <a:ext cx="7224050" cy="2106300"/>
          </a:xfrm>
          <a:prstGeom prst="rect">
            <a:avLst/>
          </a:prstGeom>
          <a:noFill/>
          <a:ln>
            <a:noFill/>
          </a:ln>
        </p:spPr>
      </p:pic>
      <p:pic>
        <p:nvPicPr>
          <p:cNvPr id="16" name="Google Shape;177;gec8223986c_1_0">
            <a:extLst>
              <a:ext uri="{FF2B5EF4-FFF2-40B4-BE49-F238E27FC236}">
                <a16:creationId xmlns:a16="http://schemas.microsoft.com/office/drawing/2014/main" id="{40A51D25-C650-476D-8311-5BDCB808BCA6}"/>
              </a:ext>
            </a:extLst>
          </p:cNvPr>
          <p:cNvPicPr preferRelativeResize="0"/>
          <p:nvPr/>
        </p:nvPicPr>
        <p:blipFill>
          <a:blip r:embed="rId4">
            <a:alphaModFix/>
          </a:blip>
          <a:stretch>
            <a:fillRect/>
          </a:stretch>
        </p:blipFill>
        <p:spPr>
          <a:xfrm>
            <a:off x="2616275" y="4334576"/>
            <a:ext cx="2343150" cy="1743075"/>
          </a:xfrm>
          <a:prstGeom prst="rect">
            <a:avLst/>
          </a:prstGeom>
          <a:noFill/>
          <a:ln>
            <a:noFill/>
          </a:ln>
        </p:spPr>
      </p:pic>
      <p:sp>
        <p:nvSpPr>
          <p:cNvPr id="17" name="Google Shape;178;gec8223986c_1_0">
            <a:extLst>
              <a:ext uri="{FF2B5EF4-FFF2-40B4-BE49-F238E27FC236}">
                <a16:creationId xmlns:a16="http://schemas.microsoft.com/office/drawing/2014/main" id="{FE1B10AA-69C9-4DD9-B91C-EB39EF3FEE57}"/>
              </a:ext>
            </a:extLst>
          </p:cNvPr>
          <p:cNvSpPr/>
          <p:nvPr/>
        </p:nvSpPr>
        <p:spPr>
          <a:xfrm>
            <a:off x="2258250" y="974876"/>
            <a:ext cx="7675500" cy="1016100"/>
          </a:xfrm>
          <a:prstGeom prst="rect">
            <a:avLst/>
          </a:prstGeom>
          <a:noFill/>
          <a:ln>
            <a:noFill/>
          </a:ln>
        </p:spPr>
        <p:txBody>
          <a:bodyPr spcFirstLastPara="1" wrap="square" lIns="91425" tIns="45700" rIns="91425" bIns="45700" anchor="t" anchorCtr="0">
            <a:noAutofit/>
          </a:bodyPr>
          <a:lstStyle/>
          <a:p>
            <a:pPr marL="457200" lvl="0" indent="0" algn="l" rtl="0">
              <a:lnSpc>
                <a:spcPct val="107000"/>
              </a:lnSpc>
              <a:spcBef>
                <a:spcPts val="800"/>
              </a:spcBef>
              <a:spcAft>
                <a:spcPts val="0"/>
              </a:spcAft>
              <a:buNone/>
            </a:pPr>
            <a:r>
              <a:rPr lang="fr-FR" sz="1800" dirty="0">
                <a:solidFill>
                  <a:schemeClr val="dk1"/>
                </a:solidFill>
                <a:latin typeface="Calibri"/>
                <a:ea typeface="Calibri"/>
                <a:cs typeface="Calibri"/>
                <a:sym typeface="Calibri"/>
              </a:rPr>
              <a:t>Vous êtes de courageux étudiants qui ont pris l’initiative de faire le Bilan Carbone Campus de l’IUT Hubert Curien, à Epinal, dans les Vosges.</a:t>
            </a:r>
            <a:br>
              <a:rPr lang="fr-FR" sz="1800" dirty="0">
                <a:solidFill>
                  <a:schemeClr val="dk1"/>
                </a:solidFill>
                <a:latin typeface="Calibri"/>
                <a:ea typeface="Calibri"/>
                <a:cs typeface="Calibri"/>
                <a:sym typeface="Calibri"/>
              </a:rPr>
            </a:br>
            <a:br>
              <a:rPr lang="fr-FR" sz="1800" dirty="0">
                <a:solidFill>
                  <a:schemeClr val="dk1"/>
                </a:solidFill>
                <a:latin typeface="Calibri"/>
                <a:ea typeface="Calibri"/>
                <a:cs typeface="Calibri"/>
                <a:sym typeface="Calibri"/>
              </a:rPr>
            </a:br>
            <a:endParaRPr sz="18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237154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29"/>
        <p:cNvGrpSpPr/>
        <p:nvPr/>
      </p:nvGrpSpPr>
      <p:grpSpPr>
        <a:xfrm>
          <a:off x="0" y="0"/>
          <a:ext cx="0" cy="0"/>
          <a:chOff x="0" y="0"/>
          <a:chExt cx="0" cy="0"/>
        </a:xfrm>
      </p:grpSpPr>
      <p:sp>
        <p:nvSpPr>
          <p:cNvPr id="11" name="Google Shape;130;p3">
            <a:extLst>
              <a:ext uri="{FF2B5EF4-FFF2-40B4-BE49-F238E27FC236}">
                <a16:creationId xmlns:a16="http://schemas.microsoft.com/office/drawing/2014/main" id="{A32B0D29-870E-41EA-9D85-D6ED45A9648C}"/>
              </a:ext>
            </a:extLst>
          </p:cNvPr>
          <p:cNvSpPr txBox="1">
            <a:spLocks/>
          </p:cNvSpPr>
          <p:nvPr/>
        </p:nvSpPr>
        <p:spPr>
          <a:xfrm>
            <a:off x="0" y="6306650"/>
            <a:ext cx="611188" cy="365125"/>
          </a:xfrm>
          <a:prstGeom prst="rect">
            <a:avLst/>
          </a:prstGeom>
          <a:noFill/>
          <a:ln>
            <a:noFill/>
          </a:ln>
        </p:spPr>
        <p:txBody>
          <a:bodyPr spcFirstLastPara="1" wrap="square" lIns="0" tIns="0" rIns="0" bIns="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
                <a:srgbClr val="000000"/>
              </a:buClr>
              <a:buSzPts val="1400"/>
              <a:buFont typeface="Arial"/>
              <a:buNone/>
            </a:pPr>
            <a:fld id="{00000000-1234-1234-1234-123412341234}" type="slidenum">
              <a:rPr lang="fr-FR" smtClean="0"/>
              <a:pPr algn="ctr">
                <a:buClr>
                  <a:srgbClr val="000000"/>
                </a:buClr>
                <a:buSzPts val="1400"/>
                <a:buFont typeface="Arial"/>
                <a:buNone/>
              </a:pPr>
              <a:t>23</a:t>
            </a:fld>
            <a:endParaRPr lang="fr-FR" dirty="0"/>
          </a:p>
        </p:txBody>
      </p:sp>
      <p:sp>
        <p:nvSpPr>
          <p:cNvPr id="7" name="Google Shape;187;p7">
            <a:extLst>
              <a:ext uri="{FF2B5EF4-FFF2-40B4-BE49-F238E27FC236}">
                <a16:creationId xmlns:a16="http://schemas.microsoft.com/office/drawing/2014/main" id="{1C59CB6B-CE50-4EFE-AB69-E6E6F9A9E293}"/>
              </a:ext>
            </a:extLst>
          </p:cNvPr>
          <p:cNvSpPr/>
          <p:nvPr/>
        </p:nvSpPr>
        <p:spPr>
          <a:xfrm>
            <a:off x="2248305" y="1426967"/>
            <a:ext cx="8518347" cy="3865249"/>
          </a:xfrm>
          <a:prstGeom prst="rect">
            <a:avLst/>
          </a:prstGeom>
          <a:noFill/>
          <a:ln>
            <a:noFill/>
          </a:ln>
        </p:spPr>
        <p:txBody>
          <a:bodyPr spcFirstLastPara="1" wrap="square" lIns="91425" tIns="45700" rIns="91425" bIns="45700" anchor="t" anchorCtr="0">
            <a:spAutoFit/>
          </a:bodyPr>
          <a:lstStyle/>
          <a:p>
            <a:pPr marL="457200" marR="0" lvl="0" indent="-342900" algn="l" rtl="0">
              <a:lnSpc>
                <a:spcPct val="107000"/>
              </a:lnSpc>
              <a:spcBef>
                <a:spcPts val="0"/>
              </a:spcBef>
              <a:spcAft>
                <a:spcPts val="0"/>
              </a:spcAft>
              <a:buClr>
                <a:schemeClr val="dk1"/>
              </a:buClr>
              <a:buSzPts val="1800"/>
              <a:buFont typeface="Calibri"/>
              <a:buChar char="•"/>
            </a:pPr>
            <a:r>
              <a:rPr lang="fr-FR" sz="1800" dirty="0">
                <a:solidFill>
                  <a:schemeClr val="dk1"/>
                </a:solidFill>
                <a:latin typeface="Calibri"/>
                <a:ea typeface="Calibri"/>
                <a:cs typeface="Calibri"/>
                <a:sym typeface="Calibri"/>
              </a:rPr>
              <a:t>Individuellement, vous avez 2h30 pour réaliser le bilan carbone :</a:t>
            </a:r>
          </a:p>
          <a:p>
            <a:pPr marL="114300" marR="0" lvl="0" algn="l" rtl="0">
              <a:lnSpc>
                <a:spcPct val="107000"/>
              </a:lnSpc>
              <a:spcBef>
                <a:spcPts val="0"/>
              </a:spcBef>
              <a:spcAft>
                <a:spcPts val="0"/>
              </a:spcAft>
              <a:buClr>
                <a:schemeClr val="dk1"/>
              </a:buClr>
              <a:buSzPts val="1800"/>
            </a:pPr>
            <a:endParaRPr sz="1800" dirty="0">
              <a:solidFill>
                <a:schemeClr val="dk1"/>
              </a:solidFill>
              <a:latin typeface="Calibri"/>
              <a:ea typeface="Calibri"/>
              <a:cs typeface="Calibri"/>
              <a:sym typeface="Calibri"/>
            </a:endParaRPr>
          </a:p>
          <a:p>
            <a:pPr marL="457200" marR="0" lvl="0" indent="0" algn="l" rtl="0">
              <a:lnSpc>
                <a:spcPct val="107000"/>
              </a:lnSpc>
              <a:spcBef>
                <a:spcPts val="0"/>
              </a:spcBef>
              <a:spcAft>
                <a:spcPts val="0"/>
              </a:spcAft>
              <a:buNone/>
            </a:pPr>
            <a:r>
              <a:rPr lang="fr-FR" sz="1800" dirty="0">
                <a:solidFill>
                  <a:schemeClr val="dk1"/>
                </a:solidFill>
                <a:latin typeface="Calibri"/>
                <a:ea typeface="Calibri"/>
                <a:cs typeface="Calibri"/>
                <a:sym typeface="Calibri"/>
              </a:rPr>
              <a:t>→ Le </a:t>
            </a:r>
            <a:r>
              <a:rPr lang="fr-FR" sz="1800" dirty="0">
                <a:solidFill>
                  <a:srgbClr val="C00000"/>
                </a:solidFill>
                <a:latin typeface="Calibri"/>
                <a:ea typeface="Calibri"/>
                <a:cs typeface="Calibri"/>
                <a:sym typeface="Calibri"/>
              </a:rPr>
              <a:t>tableur</a:t>
            </a:r>
            <a:r>
              <a:rPr lang="fr-FR" sz="1800" dirty="0">
                <a:solidFill>
                  <a:schemeClr val="dk1"/>
                </a:solidFill>
                <a:latin typeface="Calibri"/>
                <a:ea typeface="Calibri"/>
                <a:cs typeface="Calibri"/>
                <a:sym typeface="Calibri"/>
              </a:rPr>
              <a:t> doit être complètement rempli puis déposé sur </a:t>
            </a:r>
            <a:r>
              <a:rPr lang="fr-FR" sz="1800" dirty="0" err="1">
                <a:solidFill>
                  <a:schemeClr val="dk1"/>
                </a:solidFill>
                <a:latin typeface="Calibri"/>
                <a:ea typeface="Calibri"/>
                <a:cs typeface="Calibri"/>
                <a:sym typeface="Calibri"/>
              </a:rPr>
              <a:t>eCampus</a:t>
            </a:r>
            <a:r>
              <a:rPr lang="fr-FR" dirty="0">
                <a:solidFill>
                  <a:schemeClr val="dk1"/>
                </a:solidFill>
                <a:latin typeface="Calibri"/>
                <a:ea typeface="Calibri"/>
                <a:cs typeface="Calibri"/>
                <a:sym typeface="Calibri"/>
              </a:rPr>
              <a:t>.</a:t>
            </a:r>
          </a:p>
          <a:p>
            <a:pPr marL="457200" lvl="0" indent="-342900">
              <a:lnSpc>
                <a:spcPct val="107000"/>
              </a:lnSpc>
              <a:spcBef>
                <a:spcPts val="800"/>
              </a:spcBef>
              <a:buClr>
                <a:schemeClr val="dk1"/>
              </a:buClr>
              <a:buSzPts val="1800"/>
              <a:buFont typeface="Calibri"/>
              <a:buChar char="•"/>
            </a:pPr>
            <a:r>
              <a:rPr lang="fr-FR" sz="1800" dirty="0">
                <a:solidFill>
                  <a:schemeClr val="dk1"/>
                </a:solidFill>
                <a:latin typeface="Calibri"/>
                <a:ea typeface="Calibri"/>
                <a:cs typeface="Calibri"/>
                <a:sym typeface="Calibri"/>
              </a:rPr>
              <a:t>Vous pouvez vous aider de la </a:t>
            </a:r>
            <a:r>
              <a:rPr lang="fr-FR" sz="1800" dirty="0">
                <a:solidFill>
                  <a:srgbClr val="C00000"/>
                </a:solidFill>
                <a:latin typeface="Calibri"/>
                <a:ea typeface="Calibri"/>
                <a:cs typeface="Calibri"/>
                <a:sym typeface="Calibri"/>
              </a:rPr>
              <a:t>base carbone de l’ADEME </a:t>
            </a:r>
            <a:r>
              <a:rPr lang="fr-FR" sz="1800" dirty="0">
                <a:solidFill>
                  <a:schemeClr val="dk1"/>
                </a:solidFill>
                <a:latin typeface="Calibri"/>
                <a:ea typeface="Calibri"/>
                <a:cs typeface="Calibri"/>
                <a:sym typeface="Calibri"/>
              </a:rPr>
              <a:t>(</a:t>
            </a:r>
            <a:r>
              <a:rPr lang="fr-FR" u="sng" dirty="0">
                <a:solidFill>
                  <a:schemeClr val="dk1"/>
                </a:solidFill>
                <a:latin typeface="Calibri"/>
                <a:ea typeface="Calibri"/>
                <a:cs typeface="Calibri"/>
                <a:sym typeface="Calibri"/>
                <a:hlinkClick r:id="rId3"/>
              </a:rPr>
              <a:t>https://base-empreinte.ademe.fr/</a:t>
            </a:r>
            <a:r>
              <a:rPr lang="fr-FR" dirty="0">
                <a:solidFill>
                  <a:schemeClr val="dk1"/>
                </a:solidFill>
                <a:latin typeface="Calibri"/>
                <a:ea typeface="Calibri"/>
                <a:cs typeface="Calibri"/>
                <a:sym typeface="Calibri"/>
              </a:rPr>
              <a:t>)</a:t>
            </a:r>
            <a:br>
              <a:rPr lang="fr-FR" dirty="0">
                <a:solidFill>
                  <a:schemeClr val="dk1"/>
                </a:solidFill>
                <a:latin typeface="Calibri"/>
                <a:ea typeface="Calibri"/>
                <a:cs typeface="Calibri"/>
                <a:sym typeface="Calibri"/>
              </a:rPr>
            </a:br>
            <a:r>
              <a:rPr lang="fr-FR" dirty="0">
                <a:solidFill>
                  <a:schemeClr val="dk1"/>
                </a:solidFill>
                <a:latin typeface="Calibri"/>
                <a:ea typeface="Calibri"/>
                <a:cs typeface="Calibri"/>
                <a:sym typeface="Calibri"/>
              </a:rPr>
              <a:t>						→ C</a:t>
            </a:r>
            <a:r>
              <a:rPr lang="fr-FR" sz="1800" dirty="0">
                <a:solidFill>
                  <a:schemeClr val="dk1"/>
                </a:solidFill>
                <a:latin typeface="Calibri"/>
                <a:ea typeface="Calibri"/>
                <a:cs typeface="Calibri"/>
                <a:sym typeface="Calibri"/>
              </a:rPr>
              <a:t>ela nécessite de créer un compte</a:t>
            </a:r>
            <a:br>
              <a:rPr lang="fr-FR" sz="1800" dirty="0">
                <a:solidFill>
                  <a:schemeClr val="dk1"/>
                </a:solidFill>
                <a:latin typeface="Calibri"/>
                <a:ea typeface="Calibri"/>
                <a:cs typeface="Calibri"/>
                <a:sym typeface="Calibri"/>
              </a:rPr>
            </a:br>
            <a:endParaRPr lang="fr-FR" dirty="0">
              <a:solidFill>
                <a:schemeClr val="dk1"/>
              </a:solidFill>
              <a:latin typeface="Calibri"/>
              <a:ea typeface="Calibri"/>
              <a:cs typeface="Calibri"/>
              <a:sym typeface="Calibri"/>
            </a:endParaRPr>
          </a:p>
          <a:p>
            <a:pPr marL="114300" lvl="0">
              <a:lnSpc>
                <a:spcPct val="107000"/>
              </a:lnSpc>
              <a:spcBef>
                <a:spcPts val="800"/>
              </a:spcBef>
              <a:buClr>
                <a:schemeClr val="dk1"/>
              </a:buClr>
              <a:buSzPts val="1800"/>
            </a:pPr>
            <a:endParaRPr sz="1800" dirty="0">
              <a:solidFill>
                <a:schemeClr val="dk1"/>
              </a:solidFill>
              <a:latin typeface="Calibri"/>
              <a:ea typeface="Calibri"/>
              <a:cs typeface="Calibri"/>
              <a:sym typeface="Calibri"/>
            </a:endParaRPr>
          </a:p>
          <a:p>
            <a:pPr marL="914400" lvl="1" indent="-342900" algn="l" rtl="0">
              <a:lnSpc>
                <a:spcPct val="107000"/>
              </a:lnSpc>
              <a:spcBef>
                <a:spcPts val="800"/>
              </a:spcBef>
              <a:spcAft>
                <a:spcPts val="0"/>
              </a:spcAft>
              <a:buClr>
                <a:schemeClr val="dk1"/>
              </a:buClr>
              <a:buSzPts val="1800"/>
              <a:buFont typeface="Calibri"/>
              <a:buChar char="○"/>
            </a:pPr>
            <a:r>
              <a:rPr lang="fr-FR" sz="1800" dirty="0">
                <a:solidFill>
                  <a:schemeClr val="dk1"/>
                </a:solidFill>
                <a:latin typeface="Calibri"/>
                <a:ea typeface="Calibri"/>
                <a:cs typeface="Calibri"/>
                <a:sym typeface="Calibri"/>
              </a:rPr>
              <a:t>Les données d’activité sont dans le document </a:t>
            </a:r>
            <a:r>
              <a:rPr lang="fr-FR" sz="1800" dirty="0" err="1">
                <a:solidFill>
                  <a:schemeClr val="dk1"/>
                </a:solidFill>
                <a:latin typeface="Calibri"/>
                <a:ea typeface="Calibri"/>
                <a:cs typeface="Calibri"/>
                <a:sym typeface="Calibri"/>
              </a:rPr>
              <a:t>word</a:t>
            </a:r>
            <a:r>
              <a:rPr lang="fr-FR" sz="1800" dirty="0">
                <a:solidFill>
                  <a:schemeClr val="dk1"/>
                </a:solidFill>
                <a:latin typeface="Calibri"/>
                <a:ea typeface="Calibri"/>
                <a:cs typeface="Calibri"/>
                <a:sym typeface="Calibri"/>
              </a:rPr>
              <a:t>  </a:t>
            </a:r>
            <a:r>
              <a:rPr lang="fr-FR" sz="1800" dirty="0">
                <a:solidFill>
                  <a:srgbClr val="C00000"/>
                </a:solidFill>
                <a:latin typeface="Calibri"/>
                <a:ea typeface="Calibri"/>
                <a:cs typeface="Calibri"/>
                <a:sym typeface="Calibri"/>
              </a:rPr>
              <a:t>“Données d’activités IUT” </a:t>
            </a:r>
            <a:endParaRPr lang="fr-FR" dirty="0">
              <a:solidFill>
                <a:schemeClr val="dk1"/>
              </a:solidFill>
              <a:latin typeface="Calibri"/>
              <a:ea typeface="Calibri"/>
              <a:cs typeface="Calibri"/>
              <a:sym typeface="Calibri"/>
            </a:endParaRPr>
          </a:p>
          <a:p>
            <a:pPr marL="571500" lvl="1" algn="l" rtl="0">
              <a:lnSpc>
                <a:spcPct val="107000"/>
              </a:lnSpc>
              <a:spcBef>
                <a:spcPts val="800"/>
              </a:spcBef>
              <a:spcAft>
                <a:spcPts val="0"/>
              </a:spcAft>
              <a:buClr>
                <a:schemeClr val="dk1"/>
              </a:buClr>
              <a:buSzPts val="1800"/>
            </a:pPr>
            <a:endParaRPr sz="1800" dirty="0">
              <a:solidFill>
                <a:schemeClr val="dk1"/>
              </a:solidFill>
              <a:latin typeface="Calibri"/>
              <a:ea typeface="Calibri"/>
              <a:cs typeface="Calibri"/>
              <a:sym typeface="Calibri"/>
            </a:endParaRPr>
          </a:p>
          <a:p>
            <a:pPr marL="914400" lvl="1" indent="-342900" algn="l" rtl="0">
              <a:lnSpc>
                <a:spcPct val="107000"/>
              </a:lnSpc>
              <a:spcBef>
                <a:spcPts val="800"/>
              </a:spcBef>
              <a:spcAft>
                <a:spcPts val="0"/>
              </a:spcAft>
              <a:buClr>
                <a:schemeClr val="dk1"/>
              </a:buClr>
              <a:buSzPts val="1800"/>
              <a:buFont typeface="Calibri"/>
              <a:buChar char="○"/>
            </a:pPr>
            <a:r>
              <a:rPr lang="fr-FR" sz="1800" dirty="0">
                <a:solidFill>
                  <a:schemeClr val="dk1"/>
                </a:solidFill>
                <a:latin typeface="Calibri"/>
                <a:ea typeface="Calibri"/>
                <a:cs typeface="Calibri"/>
                <a:sym typeface="Calibri"/>
              </a:rPr>
              <a:t>Le tableur à utiliser et à remplir est </a:t>
            </a:r>
            <a:r>
              <a:rPr lang="fr-FR" sz="1800" dirty="0">
                <a:solidFill>
                  <a:srgbClr val="C00000"/>
                </a:solidFill>
                <a:latin typeface="Calibri"/>
                <a:ea typeface="Calibri"/>
                <a:cs typeface="Calibri"/>
                <a:sym typeface="Calibri"/>
              </a:rPr>
              <a:t>“Tableur Bilan Carbone”</a:t>
            </a:r>
            <a:endParaRPr sz="1800" dirty="0">
              <a:solidFill>
                <a:schemeClr val="dk1"/>
              </a:solidFill>
              <a:latin typeface="Calibri"/>
              <a:ea typeface="Calibri"/>
              <a:cs typeface="Calibri"/>
              <a:sym typeface="Calibri"/>
            </a:endParaRPr>
          </a:p>
        </p:txBody>
      </p:sp>
      <p:pic>
        <p:nvPicPr>
          <p:cNvPr id="8" name="Google Shape;189;p7">
            <a:extLst>
              <a:ext uri="{FF2B5EF4-FFF2-40B4-BE49-F238E27FC236}">
                <a16:creationId xmlns:a16="http://schemas.microsoft.com/office/drawing/2014/main" id="{419796DF-B3D5-40E5-B4A6-0A59D0012CFE}"/>
              </a:ext>
            </a:extLst>
          </p:cNvPr>
          <p:cNvPicPr preferRelativeResize="0"/>
          <p:nvPr/>
        </p:nvPicPr>
        <p:blipFill>
          <a:blip r:embed="rId4">
            <a:alphaModFix/>
          </a:blip>
          <a:stretch>
            <a:fillRect/>
          </a:stretch>
        </p:blipFill>
        <p:spPr>
          <a:xfrm>
            <a:off x="1944878" y="3926990"/>
            <a:ext cx="663907" cy="622198"/>
          </a:xfrm>
          <a:prstGeom prst="rect">
            <a:avLst/>
          </a:prstGeom>
          <a:noFill/>
          <a:ln>
            <a:noFill/>
          </a:ln>
        </p:spPr>
      </p:pic>
      <p:pic>
        <p:nvPicPr>
          <p:cNvPr id="9" name="Google Shape;190;p7">
            <a:extLst>
              <a:ext uri="{FF2B5EF4-FFF2-40B4-BE49-F238E27FC236}">
                <a16:creationId xmlns:a16="http://schemas.microsoft.com/office/drawing/2014/main" id="{35FA258E-F3A4-4F92-A0CC-9075ACABB23B}"/>
              </a:ext>
            </a:extLst>
          </p:cNvPr>
          <p:cNvPicPr preferRelativeResize="0"/>
          <p:nvPr/>
        </p:nvPicPr>
        <p:blipFill>
          <a:blip r:embed="rId5">
            <a:alphaModFix/>
          </a:blip>
          <a:stretch>
            <a:fillRect/>
          </a:stretch>
        </p:blipFill>
        <p:spPr>
          <a:xfrm>
            <a:off x="1944878" y="4848272"/>
            <a:ext cx="663907" cy="622199"/>
          </a:xfrm>
          <a:prstGeom prst="rect">
            <a:avLst/>
          </a:prstGeom>
          <a:noFill/>
          <a:ln>
            <a:noFill/>
          </a:ln>
        </p:spPr>
      </p:pic>
    </p:spTree>
    <p:extLst>
      <p:ext uri="{BB962C8B-B14F-4D97-AF65-F5344CB8AC3E}">
        <p14:creationId xmlns:p14="http://schemas.microsoft.com/office/powerpoint/2010/main" val="17362878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A65717BC-57C4-47FD-B115-7F5215FA3532}"/>
              </a:ext>
            </a:extLst>
          </p:cNvPr>
          <p:cNvSpPr txBox="1"/>
          <p:nvPr/>
        </p:nvSpPr>
        <p:spPr>
          <a:xfrm>
            <a:off x="3004457" y="315685"/>
            <a:ext cx="6270171" cy="369332"/>
          </a:xfrm>
          <a:prstGeom prst="rect">
            <a:avLst/>
          </a:prstGeom>
          <a:noFill/>
        </p:spPr>
        <p:txBody>
          <a:bodyPr wrap="square" rtlCol="0">
            <a:spAutoFit/>
          </a:bodyPr>
          <a:lstStyle/>
          <a:p>
            <a:r>
              <a:rPr lang="fr-FR" dirty="0"/>
              <a:t>Voici le bilan effectué par l’Association Bilan Carbone</a:t>
            </a:r>
          </a:p>
        </p:txBody>
      </p:sp>
      <p:sp>
        <p:nvSpPr>
          <p:cNvPr id="8" name="Google Shape;130;p3">
            <a:extLst>
              <a:ext uri="{FF2B5EF4-FFF2-40B4-BE49-F238E27FC236}">
                <a16:creationId xmlns:a16="http://schemas.microsoft.com/office/drawing/2014/main" id="{094D0CD1-88B5-4A7A-B919-01A3D25883BC}"/>
              </a:ext>
            </a:extLst>
          </p:cNvPr>
          <p:cNvSpPr txBox="1">
            <a:spLocks/>
          </p:cNvSpPr>
          <p:nvPr/>
        </p:nvSpPr>
        <p:spPr>
          <a:xfrm>
            <a:off x="0" y="6376988"/>
            <a:ext cx="611188" cy="365125"/>
          </a:xfrm>
          <a:prstGeom prst="rect">
            <a:avLst/>
          </a:prstGeom>
          <a:noFill/>
          <a:ln>
            <a:noFill/>
          </a:ln>
        </p:spPr>
        <p:txBody>
          <a:bodyPr spcFirstLastPara="1" wrap="square" lIns="0" tIns="0" rIns="0" bIns="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
                <a:srgbClr val="000000"/>
              </a:buClr>
              <a:buSzPts val="1400"/>
              <a:buFont typeface="Arial"/>
              <a:buNone/>
            </a:pPr>
            <a:fld id="{00000000-1234-1234-1234-123412341234}" type="slidenum">
              <a:rPr lang="fr-FR" smtClean="0"/>
              <a:pPr algn="ctr">
                <a:buClr>
                  <a:srgbClr val="000000"/>
                </a:buClr>
                <a:buSzPts val="1400"/>
                <a:buFont typeface="Arial"/>
                <a:buNone/>
              </a:pPr>
              <a:t>24</a:t>
            </a:fld>
            <a:endParaRPr lang="fr-FR" dirty="0"/>
          </a:p>
        </p:txBody>
      </p:sp>
      <p:pic>
        <p:nvPicPr>
          <p:cNvPr id="2" name="Image 1">
            <a:extLst>
              <a:ext uri="{FF2B5EF4-FFF2-40B4-BE49-F238E27FC236}">
                <a16:creationId xmlns:a16="http://schemas.microsoft.com/office/drawing/2014/main" id="{31AF6F1C-957D-42E2-851C-82A9CA00FA73}"/>
              </a:ext>
            </a:extLst>
          </p:cNvPr>
          <p:cNvPicPr>
            <a:picLocks noChangeAspect="1"/>
          </p:cNvPicPr>
          <p:nvPr/>
        </p:nvPicPr>
        <p:blipFill>
          <a:blip r:embed="rId2"/>
          <a:stretch>
            <a:fillRect/>
          </a:stretch>
        </p:blipFill>
        <p:spPr>
          <a:xfrm>
            <a:off x="422031" y="964668"/>
            <a:ext cx="11547231" cy="5159401"/>
          </a:xfrm>
          <a:prstGeom prst="rect">
            <a:avLst/>
          </a:prstGeom>
        </p:spPr>
      </p:pic>
    </p:spTree>
    <p:extLst>
      <p:ext uri="{BB962C8B-B14F-4D97-AF65-F5344CB8AC3E}">
        <p14:creationId xmlns:p14="http://schemas.microsoft.com/office/powerpoint/2010/main" val="42666159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gec8223986c_1_563"/>
          <p:cNvSpPr txBox="1">
            <a:spLocks noGrp="1"/>
          </p:cNvSpPr>
          <p:nvPr>
            <p:ph type="title"/>
          </p:nvPr>
        </p:nvSpPr>
        <p:spPr>
          <a:xfrm>
            <a:off x="2027548" y="0"/>
            <a:ext cx="8028900" cy="9807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fr-FR"/>
              <a:t>Analyse d’un bilan GES : et maintenant on fait quoi ?</a:t>
            </a:r>
            <a:endParaRPr/>
          </a:p>
        </p:txBody>
      </p:sp>
      <p:sp>
        <p:nvSpPr>
          <p:cNvPr id="242" name="Google Shape;242;gec8223986c_1_563"/>
          <p:cNvSpPr txBox="1"/>
          <p:nvPr/>
        </p:nvSpPr>
        <p:spPr>
          <a:xfrm>
            <a:off x="6446049" y="2478688"/>
            <a:ext cx="5328600" cy="46170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2400" b="1" i="0" u="none" strike="noStrike" kern="0" cap="none" spc="0" normalizeH="0" baseline="0" noProof="0">
                <a:ln>
                  <a:noFill/>
                </a:ln>
                <a:solidFill>
                  <a:srgbClr val="085160"/>
                </a:solidFill>
                <a:effectLst/>
                <a:uLnTx/>
                <a:uFillTx/>
                <a:latin typeface="Century Gothic"/>
                <a:ea typeface="Century Gothic"/>
                <a:cs typeface="Century Gothic"/>
                <a:sym typeface="Century Gothic"/>
              </a:rPr>
              <a:t>Sur quoi on agit en </a:t>
            </a:r>
            <a:r>
              <a:rPr kumimoji="0" lang="fr-FR" sz="2400" b="1" i="0" u="none" strike="noStrike" kern="0" cap="none" spc="0" normalizeH="0" baseline="0" noProof="0">
                <a:ln>
                  <a:noFill/>
                </a:ln>
                <a:solidFill>
                  <a:srgbClr val="F6AB38"/>
                </a:solidFill>
                <a:effectLst/>
                <a:uLnTx/>
                <a:uFillTx/>
                <a:latin typeface="Century Gothic"/>
                <a:ea typeface="Century Gothic"/>
                <a:cs typeface="Century Gothic"/>
                <a:sym typeface="Century Gothic"/>
              </a:rPr>
              <a:t>priorité</a:t>
            </a:r>
            <a:r>
              <a:rPr kumimoji="0" lang="fr-FR" sz="2400" b="1" i="0" u="none" strike="noStrike" kern="0" cap="none" spc="0" normalizeH="0" baseline="0" noProof="0">
                <a:ln>
                  <a:noFill/>
                </a:ln>
                <a:solidFill>
                  <a:srgbClr val="085160"/>
                </a:solidFill>
                <a:effectLst/>
                <a:uLnTx/>
                <a:uFillTx/>
                <a:latin typeface="Century Gothic"/>
                <a:ea typeface="Century Gothic"/>
                <a:cs typeface="Century Gothic"/>
                <a:sym typeface="Century Gothic"/>
              </a:rPr>
              <a:t> ?</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243" name="Google Shape;243;gec8223986c_1_563"/>
          <p:cNvGrpSpPr/>
          <p:nvPr/>
        </p:nvGrpSpPr>
        <p:grpSpPr>
          <a:xfrm>
            <a:off x="191339" y="1579587"/>
            <a:ext cx="6612115" cy="4803920"/>
            <a:chOff x="351025" y="2298504"/>
            <a:chExt cx="6092992" cy="4426760"/>
          </a:xfrm>
        </p:grpSpPr>
        <p:pic>
          <p:nvPicPr>
            <p:cNvPr id="244" name="Google Shape;244;gec8223986c_1_563"/>
            <p:cNvPicPr preferRelativeResize="0"/>
            <p:nvPr/>
          </p:nvPicPr>
          <p:blipFill rotWithShape="1">
            <a:blip r:embed="rId3">
              <a:alphaModFix/>
            </a:blip>
            <a:srcRect/>
            <a:stretch/>
          </p:blipFill>
          <p:spPr>
            <a:xfrm>
              <a:off x="1554788" y="2617998"/>
              <a:ext cx="4566600" cy="2936100"/>
            </a:xfrm>
            <a:prstGeom prst="rect">
              <a:avLst/>
            </a:prstGeom>
            <a:noFill/>
            <a:ln>
              <a:noFill/>
            </a:ln>
          </p:spPr>
        </p:pic>
        <p:sp>
          <p:nvSpPr>
            <p:cNvPr id="245" name="Google Shape;245;gec8223986c_1_563"/>
            <p:cNvSpPr txBox="1"/>
            <p:nvPr/>
          </p:nvSpPr>
          <p:spPr>
            <a:xfrm>
              <a:off x="2187258" y="2319105"/>
              <a:ext cx="1030200" cy="51060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400" b="1" i="0" u="none" strike="noStrike" kern="0" cap="none" spc="0" normalizeH="0" baseline="0" noProof="0">
                  <a:ln>
                    <a:noFill/>
                  </a:ln>
                  <a:solidFill>
                    <a:srgbClr val="0E94D7"/>
                  </a:solidFill>
                  <a:effectLst/>
                  <a:uLnTx/>
                  <a:uFillTx/>
                  <a:latin typeface="Century Gothic"/>
                  <a:ea typeface="Century Gothic"/>
                  <a:cs typeface="Century Gothic"/>
                  <a:sym typeface="Century Gothic"/>
                </a:rPr>
                <a:t>Achats</a:t>
              </a:r>
              <a:endParaRPr kumimoji="0" sz="1600" b="1" i="0" u="none" strike="noStrike" kern="0" cap="none" spc="0" normalizeH="0" baseline="0" noProof="0">
                <a:ln>
                  <a:noFill/>
                </a:ln>
                <a:solidFill>
                  <a:srgbClr val="0E94D7"/>
                </a:solidFill>
                <a:effectLst/>
                <a:uLnTx/>
                <a:uFillTx/>
                <a:latin typeface="Century Gothic"/>
                <a:ea typeface="Century Gothic"/>
                <a:cs typeface="Century Gothic"/>
                <a:sym typeface="Century Gothic"/>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600" b="1" i="0" u="none" strike="noStrike" kern="0" cap="none" spc="0" normalizeH="0" baseline="0" noProof="0">
                  <a:ln>
                    <a:noFill/>
                  </a:ln>
                  <a:solidFill>
                    <a:srgbClr val="0E94D7"/>
                  </a:solidFill>
                  <a:effectLst/>
                  <a:uLnTx/>
                  <a:uFillTx/>
                  <a:latin typeface="Century Gothic"/>
                  <a:ea typeface="Century Gothic"/>
                  <a:cs typeface="Century Gothic"/>
                  <a:sym typeface="Century Gothic"/>
                </a:rPr>
                <a:t>9%</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6" name="Google Shape;246;gec8223986c_1_563"/>
            <p:cNvSpPr txBox="1"/>
            <p:nvPr/>
          </p:nvSpPr>
          <p:spPr>
            <a:xfrm>
              <a:off x="2868255" y="2298504"/>
              <a:ext cx="1409700" cy="48210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400" b="1" i="0" u="none" strike="noStrike" kern="0" cap="none" spc="0" normalizeH="0" baseline="0" noProof="0">
                  <a:ln>
                    <a:noFill/>
                  </a:ln>
                  <a:solidFill>
                    <a:srgbClr val="90DFAA"/>
                  </a:solidFill>
                  <a:effectLst/>
                  <a:uLnTx/>
                  <a:uFillTx/>
                  <a:latin typeface="Century Gothic"/>
                  <a:ea typeface="Century Gothic"/>
                  <a:cs typeface="Century Gothic"/>
                  <a:sym typeface="Century Gothic"/>
                </a:rPr>
                <a:t>Déchets</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400" b="1" i="0" u="none" strike="noStrike" kern="0" cap="none" spc="0" normalizeH="0" baseline="0" noProof="0">
                  <a:ln>
                    <a:noFill/>
                  </a:ln>
                  <a:solidFill>
                    <a:srgbClr val="90DFAA"/>
                  </a:solidFill>
                  <a:effectLst/>
                  <a:uLnTx/>
                  <a:uFillTx/>
                  <a:latin typeface="Century Gothic"/>
                  <a:ea typeface="Century Gothic"/>
                  <a:cs typeface="Century Gothic"/>
                  <a:sym typeface="Century Gothic"/>
                </a:rPr>
                <a:t>7%</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7" name="Google Shape;247;gec8223986c_1_563"/>
            <p:cNvSpPr txBox="1"/>
            <p:nvPr/>
          </p:nvSpPr>
          <p:spPr>
            <a:xfrm>
              <a:off x="3715514" y="2821724"/>
              <a:ext cx="2173800" cy="42540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200" b="1" i="0" u="none" strike="noStrike" kern="0" cap="none" spc="0" normalizeH="0" baseline="0" noProof="0">
                  <a:ln>
                    <a:noFill/>
                  </a:ln>
                  <a:solidFill>
                    <a:srgbClr val="FF7058"/>
                  </a:solidFill>
                  <a:effectLst/>
                  <a:uLnTx/>
                  <a:uFillTx/>
                  <a:latin typeface="Century Gothic"/>
                  <a:ea typeface="Century Gothic"/>
                  <a:cs typeface="Century Gothic"/>
                  <a:sym typeface="Century Gothic"/>
                </a:rPr>
                <a:t>Immobilisations</a:t>
              </a:r>
              <a:br>
                <a:rPr kumimoji="0" lang="fr-FR" sz="1200" b="1" i="0" u="none" strike="noStrike" kern="0" cap="none" spc="0" normalizeH="0" baseline="0" noProof="0">
                  <a:ln>
                    <a:noFill/>
                  </a:ln>
                  <a:solidFill>
                    <a:srgbClr val="FF7058"/>
                  </a:solidFill>
                  <a:effectLst/>
                  <a:uLnTx/>
                  <a:uFillTx/>
                  <a:latin typeface="Century Gothic"/>
                  <a:ea typeface="Century Gothic"/>
                  <a:cs typeface="Century Gothic"/>
                  <a:sym typeface="Century Gothic"/>
                </a:rPr>
              </a:br>
              <a:r>
                <a:rPr kumimoji="0" lang="fr-FR" sz="1200" b="1" i="0" u="none" strike="noStrike" kern="0" cap="none" spc="0" normalizeH="0" baseline="0" noProof="0">
                  <a:ln>
                    <a:noFill/>
                  </a:ln>
                  <a:solidFill>
                    <a:srgbClr val="FF7058"/>
                  </a:solidFill>
                  <a:effectLst/>
                  <a:uLnTx/>
                  <a:uFillTx/>
                  <a:latin typeface="Century Gothic"/>
                  <a:ea typeface="Century Gothic"/>
                  <a:cs typeface="Century Gothic"/>
                  <a:sym typeface="Century Gothic"/>
                </a:rPr>
                <a:t>5%</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8" name="Google Shape;248;gec8223986c_1_563"/>
            <p:cNvSpPr txBox="1"/>
            <p:nvPr/>
          </p:nvSpPr>
          <p:spPr>
            <a:xfrm>
              <a:off x="4046717" y="5701570"/>
              <a:ext cx="2397300" cy="85110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800" b="1" i="0" u="none" strike="noStrike" kern="0" cap="none" spc="0" normalizeH="0" baseline="0" noProof="0">
                  <a:ln>
                    <a:noFill/>
                  </a:ln>
                  <a:solidFill>
                    <a:srgbClr val="085160"/>
                  </a:solidFill>
                  <a:effectLst/>
                  <a:uLnTx/>
                  <a:uFillTx/>
                  <a:latin typeface="Century Gothic"/>
                  <a:ea typeface="Century Gothic"/>
                  <a:cs typeface="Century Gothic"/>
                  <a:sym typeface="Century Gothic"/>
                </a:rPr>
                <a:t>Consommation d’énergie</a:t>
              </a:r>
              <a:br>
                <a:rPr kumimoji="0" lang="fr-FR" sz="1800" b="1" i="0" u="none" strike="noStrike" kern="0" cap="none" spc="0" normalizeH="0" baseline="0" noProof="0">
                  <a:ln>
                    <a:noFill/>
                  </a:ln>
                  <a:solidFill>
                    <a:srgbClr val="085160"/>
                  </a:solidFill>
                  <a:effectLst/>
                  <a:uLnTx/>
                  <a:uFillTx/>
                  <a:latin typeface="Century Gothic"/>
                  <a:ea typeface="Century Gothic"/>
                  <a:cs typeface="Century Gothic"/>
                  <a:sym typeface="Century Gothic"/>
                </a:rPr>
              </a:br>
              <a:r>
                <a:rPr kumimoji="0" lang="fr-FR" sz="1800" b="1" i="0" u="none" strike="noStrike" kern="0" cap="none" spc="0" normalizeH="0" baseline="0" noProof="0">
                  <a:ln>
                    <a:noFill/>
                  </a:ln>
                  <a:solidFill>
                    <a:srgbClr val="085160"/>
                  </a:solidFill>
                  <a:effectLst/>
                  <a:uLnTx/>
                  <a:uFillTx/>
                  <a:latin typeface="Century Gothic"/>
                  <a:ea typeface="Century Gothic"/>
                  <a:cs typeface="Century Gothic"/>
                  <a:sym typeface="Century Gothic"/>
                </a:rPr>
                <a:t>35%</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249" name="Google Shape;249;gec8223986c_1_563"/>
            <p:cNvGrpSpPr/>
            <p:nvPr/>
          </p:nvGrpSpPr>
          <p:grpSpPr>
            <a:xfrm>
              <a:off x="4667192" y="4509177"/>
              <a:ext cx="1092310" cy="1252889"/>
              <a:chOff x="4384058" y="3925691"/>
              <a:chExt cx="964086" cy="1193341"/>
            </a:xfrm>
          </p:grpSpPr>
          <p:pic>
            <p:nvPicPr>
              <p:cNvPr id="250" name="Google Shape;250;gec8223986c_1_563"/>
              <p:cNvPicPr preferRelativeResize="0"/>
              <p:nvPr/>
            </p:nvPicPr>
            <p:blipFill rotWithShape="1">
              <a:blip r:embed="rId4">
                <a:alphaModFix/>
              </a:blip>
              <a:srcRect/>
              <a:stretch/>
            </p:blipFill>
            <p:spPr>
              <a:xfrm>
                <a:off x="4384058" y="4318305"/>
                <a:ext cx="964086" cy="800727"/>
              </a:xfrm>
              <a:prstGeom prst="rect">
                <a:avLst/>
              </a:prstGeom>
              <a:noFill/>
              <a:ln>
                <a:noFill/>
              </a:ln>
            </p:spPr>
          </p:pic>
          <p:sp>
            <p:nvSpPr>
              <p:cNvPr id="251" name="Google Shape;251;gec8223986c_1_563"/>
              <p:cNvSpPr/>
              <p:nvPr/>
            </p:nvSpPr>
            <p:spPr>
              <a:xfrm>
                <a:off x="4636530" y="3925691"/>
                <a:ext cx="55863" cy="359069"/>
              </a:xfrm>
              <a:custGeom>
                <a:avLst/>
                <a:gdLst/>
                <a:ahLst/>
                <a:cxnLst/>
                <a:rect l="l" t="t" r="r" b="b"/>
                <a:pathLst>
                  <a:path w="248279" h="312234" extrusionOk="0">
                    <a:moveTo>
                      <a:pt x="168525" y="312234"/>
                    </a:moveTo>
                    <a:cubicBezTo>
                      <a:pt x="78386" y="267629"/>
                      <a:pt x="-11753" y="223024"/>
                      <a:pt x="1257" y="189570"/>
                    </a:cubicBezTo>
                    <a:cubicBezTo>
                      <a:pt x="14267" y="156116"/>
                      <a:pt x="231716" y="143107"/>
                      <a:pt x="246584" y="111512"/>
                    </a:cubicBezTo>
                    <a:cubicBezTo>
                      <a:pt x="261452" y="79917"/>
                      <a:pt x="175959" y="39958"/>
                      <a:pt x="90467" y="0"/>
                    </a:cubicBezTo>
                  </a:path>
                </a:pathLst>
              </a:custGeom>
              <a:noFill/>
              <a:ln w="381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252" name="Google Shape;252;gec8223986c_1_563"/>
              <p:cNvSpPr/>
              <p:nvPr/>
            </p:nvSpPr>
            <p:spPr>
              <a:xfrm>
                <a:off x="4823711" y="3934075"/>
                <a:ext cx="55863" cy="359069"/>
              </a:xfrm>
              <a:custGeom>
                <a:avLst/>
                <a:gdLst/>
                <a:ahLst/>
                <a:cxnLst/>
                <a:rect l="l" t="t" r="r" b="b"/>
                <a:pathLst>
                  <a:path w="248279" h="312234" extrusionOk="0">
                    <a:moveTo>
                      <a:pt x="168525" y="312234"/>
                    </a:moveTo>
                    <a:cubicBezTo>
                      <a:pt x="78386" y="267629"/>
                      <a:pt x="-11753" y="223024"/>
                      <a:pt x="1257" y="189570"/>
                    </a:cubicBezTo>
                    <a:cubicBezTo>
                      <a:pt x="14267" y="156116"/>
                      <a:pt x="231716" y="143107"/>
                      <a:pt x="246584" y="111512"/>
                    </a:cubicBezTo>
                    <a:cubicBezTo>
                      <a:pt x="261452" y="79917"/>
                      <a:pt x="175959" y="39958"/>
                      <a:pt x="90467" y="0"/>
                    </a:cubicBezTo>
                  </a:path>
                </a:pathLst>
              </a:custGeom>
              <a:noFill/>
              <a:ln w="381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253" name="Google Shape;253;gec8223986c_1_563"/>
              <p:cNvSpPr/>
              <p:nvPr/>
            </p:nvSpPr>
            <p:spPr>
              <a:xfrm>
                <a:off x="5010892" y="3931770"/>
                <a:ext cx="55863" cy="359069"/>
              </a:xfrm>
              <a:custGeom>
                <a:avLst/>
                <a:gdLst/>
                <a:ahLst/>
                <a:cxnLst/>
                <a:rect l="l" t="t" r="r" b="b"/>
                <a:pathLst>
                  <a:path w="248279" h="312234" extrusionOk="0">
                    <a:moveTo>
                      <a:pt x="168525" y="312234"/>
                    </a:moveTo>
                    <a:cubicBezTo>
                      <a:pt x="78386" y="267629"/>
                      <a:pt x="-11753" y="223024"/>
                      <a:pt x="1257" y="189570"/>
                    </a:cubicBezTo>
                    <a:cubicBezTo>
                      <a:pt x="14267" y="156116"/>
                      <a:pt x="231716" y="143107"/>
                      <a:pt x="246584" y="111512"/>
                    </a:cubicBezTo>
                    <a:cubicBezTo>
                      <a:pt x="261452" y="79917"/>
                      <a:pt x="175959" y="39958"/>
                      <a:pt x="90467" y="0"/>
                    </a:cubicBezTo>
                  </a:path>
                </a:pathLst>
              </a:custGeom>
              <a:noFill/>
              <a:ln w="381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grpSp>
        <p:sp>
          <p:nvSpPr>
            <p:cNvPr id="254" name="Google Shape;254;gec8223986c_1_563"/>
            <p:cNvSpPr txBox="1"/>
            <p:nvPr/>
          </p:nvSpPr>
          <p:spPr>
            <a:xfrm>
              <a:off x="1562265" y="5391218"/>
              <a:ext cx="1681200" cy="59580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800" b="1" i="0" u="none" strike="noStrike" kern="0" cap="none" spc="0" normalizeH="0" baseline="0" noProof="0">
                  <a:ln>
                    <a:noFill/>
                  </a:ln>
                  <a:solidFill>
                    <a:srgbClr val="F6AB38"/>
                  </a:solidFill>
                  <a:effectLst/>
                  <a:uLnTx/>
                  <a:uFillTx/>
                  <a:latin typeface="Century Gothic"/>
                  <a:ea typeface="Century Gothic"/>
                  <a:cs typeface="Century Gothic"/>
                  <a:sym typeface="Century Gothic"/>
                </a:rPr>
                <a:t>Mobilité</a:t>
              </a:r>
              <a:br>
                <a:rPr kumimoji="0" lang="fr-FR" sz="1800" b="1" i="0" u="none" strike="noStrike" kern="0" cap="none" spc="0" normalizeH="0" baseline="0" noProof="0">
                  <a:ln>
                    <a:noFill/>
                  </a:ln>
                  <a:solidFill>
                    <a:srgbClr val="F6AB38"/>
                  </a:solidFill>
                  <a:effectLst/>
                  <a:uLnTx/>
                  <a:uFillTx/>
                  <a:latin typeface="Century Gothic"/>
                  <a:ea typeface="Century Gothic"/>
                  <a:cs typeface="Century Gothic"/>
                  <a:sym typeface="Century Gothic"/>
                </a:rPr>
              </a:br>
              <a:r>
                <a:rPr kumimoji="0" lang="fr-FR" sz="1800" b="1" i="0" u="none" strike="noStrike" kern="0" cap="none" spc="0" normalizeH="0" baseline="0" noProof="0">
                  <a:ln>
                    <a:noFill/>
                  </a:ln>
                  <a:solidFill>
                    <a:srgbClr val="F6AB38"/>
                  </a:solidFill>
                  <a:effectLst/>
                  <a:uLnTx/>
                  <a:uFillTx/>
                  <a:latin typeface="Century Gothic"/>
                  <a:ea typeface="Century Gothic"/>
                  <a:cs typeface="Century Gothic"/>
                  <a:sym typeface="Century Gothic"/>
                </a:rPr>
                <a:t>23%</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255" name="Google Shape;255;gec8223986c_1_563"/>
            <p:cNvPicPr preferRelativeResize="0"/>
            <p:nvPr/>
          </p:nvPicPr>
          <p:blipFill rotWithShape="1">
            <a:blip r:embed="rId5">
              <a:alphaModFix/>
            </a:blip>
            <a:srcRect/>
            <a:stretch/>
          </p:blipFill>
          <p:spPr>
            <a:xfrm>
              <a:off x="1561597" y="6059487"/>
              <a:ext cx="1502641" cy="665777"/>
            </a:xfrm>
            <a:prstGeom prst="rect">
              <a:avLst/>
            </a:prstGeom>
            <a:noFill/>
            <a:ln>
              <a:noFill/>
            </a:ln>
          </p:spPr>
        </p:pic>
        <p:sp>
          <p:nvSpPr>
            <p:cNvPr id="256" name="Google Shape;256;gec8223986c_1_563"/>
            <p:cNvSpPr txBox="1"/>
            <p:nvPr/>
          </p:nvSpPr>
          <p:spPr>
            <a:xfrm>
              <a:off x="351025" y="4030604"/>
              <a:ext cx="1658400" cy="59580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800" b="1" i="0" u="none" strike="noStrike" kern="0" cap="none" spc="0" normalizeH="0" baseline="0" noProof="0">
                  <a:ln>
                    <a:noFill/>
                  </a:ln>
                  <a:solidFill>
                    <a:srgbClr val="636363"/>
                  </a:solidFill>
                  <a:effectLst/>
                  <a:uLnTx/>
                  <a:uFillTx/>
                  <a:latin typeface="Century Gothic"/>
                  <a:ea typeface="Century Gothic"/>
                  <a:cs typeface="Century Gothic"/>
                  <a:sym typeface="Century Gothic"/>
                </a:rPr>
                <a:t>Alimentation</a:t>
              </a:r>
              <a:br>
                <a:rPr kumimoji="0" lang="fr-FR" sz="1800" b="1" i="0" u="none" strike="noStrike" kern="0" cap="none" spc="0" normalizeH="0" baseline="0" noProof="0">
                  <a:ln>
                    <a:noFill/>
                  </a:ln>
                  <a:solidFill>
                    <a:srgbClr val="636363"/>
                  </a:solidFill>
                  <a:effectLst/>
                  <a:uLnTx/>
                  <a:uFillTx/>
                  <a:latin typeface="Century Gothic"/>
                  <a:ea typeface="Century Gothic"/>
                  <a:cs typeface="Century Gothic"/>
                  <a:sym typeface="Century Gothic"/>
                </a:rPr>
              </a:br>
              <a:r>
                <a:rPr kumimoji="0" lang="fr-FR" sz="1800" b="1" i="0" u="none" strike="noStrike" kern="0" cap="none" spc="0" normalizeH="0" baseline="0" noProof="0">
                  <a:ln>
                    <a:noFill/>
                  </a:ln>
                  <a:solidFill>
                    <a:srgbClr val="636363"/>
                  </a:solidFill>
                  <a:effectLst/>
                  <a:uLnTx/>
                  <a:uFillTx/>
                  <a:latin typeface="Century Gothic"/>
                  <a:ea typeface="Century Gothic"/>
                  <a:cs typeface="Century Gothic"/>
                  <a:sym typeface="Century Gothic"/>
                </a:rPr>
                <a:t>21%</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257" name="Google Shape;257;gec8223986c_1_563"/>
            <p:cNvPicPr preferRelativeResize="0"/>
            <p:nvPr/>
          </p:nvPicPr>
          <p:blipFill rotWithShape="1">
            <a:blip r:embed="rId6">
              <a:alphaModFix/>
            </a:blip>
            <a:srcRect/>
            <a:stretch/>
          </p:blipFill>
          <p:spPr>
            <a:xfrm>
              <a:off x="559702" y="3194886"/>
              <a:ext cx="1240931" cy="826246"/>
            </a:xfrm>
            <a:prstGeom prst="rect">
              <a:avLst/>
            </a:prstGeom>
            <a:noFill/>
            <a:ln>
              <a:noFill/>
            </a:ln>
          </p:spPr>
        </p:pic>
        <p:pic>
          <p:nvPicPr>
            <p:cNvPr id="258" name="Google Shape;258;gec8223986c_1_563"/>
            <p:cNvPicPr preferRelativeResize="0"/>
            <p:nvPr/>
          </p:nvPicPr>
          <p:blipFill rotWithShape="1">
            <a:blip r:embed="rId7">
              <a:alphaModFix/>
            </a:blip>
            <a:srcRect/>
            <a:stretch/>
          </p:blipFill>
          <p:spPr>
            <a:xfrm>
              <a:off x="5016784" y="3185665"/>
              <a:ext cx="433968" cy="349114"/>
            </a:xfrm>
            <a:prstGeom prst="rect">
              <a:avLst/>
            </a:prstGeom>
            <a:noFill/>
            <a:ln>
              <a:noFill/>
            </a:ln>
          </p:spPr>
        </p:pic>
        <p:pic>
          <p:nvPicPr>
            <p:cNvPr id="259" name="Google Shape;259;gec8223986c_1_563"/>
            <p:cNvPicPr preferRelativeResize="0"/>
            <p:nvPr/>
          </p:nvPicPr>
          <p:blipFill rotWithShape="1">
            <a:blip r:embed="rId8">
              <a:alphaModFix/>
            </a:blip>
            <a:srcRect/>
            <a:stretch/>
          </p:blipFill>
          <p:spPr>
            <a:xfrm>
              <a:off x="4018989" y="2353386"/>
              <a:ext cx="402117" cy="391504"/>
            </a:xfrm>
            <a:prstGeom prst="rect">
              <a:avLst/>
            </a:prstGeom>
            <a:noFill/>
            <a:ln>
              <a:noFill/>
            </a:ln>
          </p:spPr>
        </p:pic>
        <p:pic>
          <p:nvPicPr>
            <p:cNvPr id="260" name="Google Shape;260;gec8223986c_1_563"/>
            <p:cNvPicPr preferRelativeResize="0"/>
            <p:nvPr/>
          </p:nvPicPr>
          <p:blipFill rotWithShape="1">
            <a:blip r:embed="rId9">
              <a:alphaModFix/>
            </a:blip>
            <a:srcRect/>
            <a:stretch/>
          </p:blipFill>
          <p:spPr>
            <a:xfrm>
              <a:off x="1943420" y="2379977"/>
              <a:ext cx="359554" cy="453467"/>
            </a:xfrm>
            <a:prstGeom prst="rect">
              <a:avLst/>
            </a:prstGeom>
            <a:noFill/>
            <a:ln>
              <a:noFill/>
            </a:ln>
          </p:spPr>
        </p:pic>
      </p:grpSp>
      <p:sp>
        <p:nvSpPr>
          <p:cNvPr id="261" name="Google Shape;261;gec8223986c_1_563"/>
          <p:cNvSpPr txBox="1"/>
          <p:nvPr/>
        </p:nvSpPr>
        <p:spPr>
          <a:xfrm>
            <a:off x="6987414" y="3225633"/>
            <a:ext cx="4245900" cy="163170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F79124"/>
              </a:buClr>
              <a:buSzPts val="2400"/>
              <a:buFont typeface="Noto Sans Symbols"/>
              <a:buChar char="▪"/>
              <a:tabLst/>
              <a:defRPr/>
            </a:pPr>
            <a:r>
              <a:rPr kumimoji="0" lang="fr-FR" sz="2400" b="1" i="0" u="none" strike="noStrike" kern="0" cap="none" spc="0" normalizeH="0" baseline="0" noProof="0">
                <a:ln>
                  <a:noFill/>
                </a:ln>
                <a:solidFill>
                  <a:srgbClr val="085160"/>
                </a:solidFill>
                <a:effectLst/>
                <a:uLnTx/>
                <a:uFillTx/>
                <a:latin typeface="Century Gothic"/>
                <a:ea typeface="Century Gothic"/>
                <a:cs typeface="Century Gothic"/>
                <a:sym typeface="Century Gothic"/>
              </a:rPr>
              <a:t>Quels sont les postes les </a:t>
            </a:r>
            <a:r>
              <a:rPr kumimoji="0" lang="fr-FR" sz="2400" b="1" i="0" u="none" strike="noStrike" kern="0" cap="none" spc="0" normalizeH="0" baseline="0" noProof="0">
                <a:ln>
                  <a:noFill/>
                </a:ln>
                <a:solidFill>
                  <a:srgbClr val="F6AB38"/>
                </a:solidFill>
                <a:effectLst/>
                <a:uLnTx/>
                <a:uFillTx/>
                <a:latin typeface="Century Gothic"/>
                <a:ea typeface="Century Gothic"/>
                <a:cs typeface="Century Gothic"/>
                <a:sym typeface="Century Gothic"/>
              </a:rPr>
              <a:t>plus émetteurs </a:t>
            </a:r>
            <a:r>
              <a:rPr kumimoji="0" lang="fr-FR" sz="2400" b="1" i="0" u="none" strike="noStrike" kern="0" cap="none" spc="0" normalizeH="0" baseline="0" noProof="0">
                <a:ln>
                  <a:noFill/>
                </a:ln>
                <a:solidFill>
                  <a:srgbClr val="085160"/>
                </a:solidFill>
                <a:effectLst/>
                <a:uLnTx/>
                <a:uFillTx/>
                <a:latin typeface="Century Gothic"/>
                <a:ea typeface="Century Gothic"/>
                <a:cs typeface="Century Gothic"/>
                <a:sym typeface="Century Gothic"/>
              </a:rPr>
              <a:t>?</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ctr" defTabSz="914400" rtl="0" eaLnBrk="1" fontAlgn="auto" latinLnBrk="0" hangingPunct="1">
              <a:lnSpc>
                <a:spcPct val="100000"/>
              </a:lnSpc>
              <a:spcBef>
                <a:spcPts val="480"/>
              </a:spcBef>
              <a:spcAft>
                <a:spcPts val="0"/>
              </a:spcAft>
              <a:buClr>
                <a:srgbClr val="F79124"/>
              </a:buClr>
              <a:buSzPts val="2400"/>
              <a:buFont typeface="Noto Sans Symbols"/>
              <a:buChar char="▪"/>
              <a:tabLst/>
              <a:defRPr/>
            </a:pPr>
            <a:r>
              <a:rPr kumimoji="0" lang="fr-FR" sz="2400" b="1" i="0" u="none" strike="noStrike" kern="0" cap="none" spc="0" normalizeH="0" baseline="0" noProof="0">
                <a:ln>
                  <a:noFill/>
                </a:ln>
                <a:solidFill>
                  <a:srgbClr val="085160"/>
                </a:solidFill>
                <a:effectLst/>
                <a:uLnTx/>
                <a:uFillTx/>
                <a:latin typeface="Century Gothic"/>
                <a:ea typeface="Century Gothic"/>
                <a:cs typeface="Century Gothic"/>
                <a:sym typeface="Century Gothic"/>
              </a:rPr>
              <a:t>Sur quels postes </a:t>
            </a:r>
            <a:r>
              <a:rPr lang="fr-FR" sz="2400" b="1" kern="0">
                <a:solidFill>
                  <a:srgbClr val="085160"/>
                </a:solidFill>
                <a:latin typeface="Century Gothic"/>
                <a:ea typeface="Century Gothic"/>
                <a:cs typeface="Century Gothic"/>
                <a:sym typeface="Century Gothic"/>
              </a:rPr>
              <a:t>peut-on</a:t>
            </a:r>
            <a:r>
              <a:rPr kumimoji="0" lang="fr-FR" sz="2400" b="1" i="0" u="none" strike="noStrike" kern="0" cap="none" spc="0" normalizeH="0" baseline="0" noProof="0">
                <a:ln>
                  <a:noFill/>
                </a:ln>
                <a:solidFill>
                  <a:srgbClr val="085160"/>
                </a:solidFill>
                <a:effectLst/>
                <a:uLnTx/>
                <a:uFillTx/>
                <a:latin typeface="Century Gothic"/>
                <a:ea typeface="Century Gothic"/>
                <a:cs typeface="Century Gothic"/>
                <a:sym typeface="Century Gothic"/>
              </a:rPr>
              <a:t> agir </a:t>
            </a:r>
            <a:r>
              <a:rPr kumimoji="0" lang="fr-FR" sz="2400" b="1" i="0" u="none" strike="noStrike" kern="0" cap="none" spc="0" normalizeH="0" baseline="0" noProof="0">
                <a:ln>
                  <a:noFill/>
                </a:ln>
                <a:solidFill>
                  <a:srgbClr val="F6AB38"/>
                </a:solidFill>
                <a:effectLst/>
                <a:uLnTx/>
                <a:uFillTx/>
                <a:latin typeface="Century Gothic"/>
                <a:ea typeface="Century Gothic"/>
                <a:cs typeface="Century Gothic"/>
                <a:sym typeface="Century Gothic"/>
              </a:rPr>
              <a:t>facilement</a:t>
            </a:r>
            <a:r>
              <a:rPr kumimoji="0" lang="fr-FR" sz="2400" b="1" i="0" u="none" strike="noStrike" kern="0" cap="none" spc="0" normalizeH="0" baseline="0" noProof="0">
                <a:ln>
                  <a:noFill/>
                </a:ln>
                <a:solidFill>
                  <a:srgbClr val="085160"/>
                </a:solidFill>
                <a:effectLst/>
                <a:uLnTx/>
                <a:uFillTx/>
                <a:latin typeface="Century Gothic"/>
                <a:ea typeface="Century Gothic"/>
                <a:cs typeface="Century Gothic"/>
                <a:sym typeface="Century Gothic"/>
              </a:rPr>
              <a:t> ?</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 name="ZoneTexte 1">
            <a:extLst>
              <a:ext uri="{FF2B5EF4-FFF2-40B4-BE49-F238E27FC236}">
                <a16:creationId xmlns:a16="http://schemas.microsoft.com/office/drawing/2014/main" id="{677F4AFE-8878-459C-99C4-7A317D4C2CAA}"/>
              </a:ext>
            </a:extLst>
          </p:cNvPr>
          <p:cNvSpPr txBox="1"/>
          <p:nvPr/>
        </p:nvSpPr>
        <p:spPr>
          <a:xfrm>
            <a:off x="5334000" y="1153886"/>
            <a:ext cx="2274277" cy="379200"/>
          </a:xfrm>
          <a:prstGeom prst="rect">
            <a:avLst/>
          </a:prstGeom>
          <a:solidFill>
            <a:srgbClr val="ED7D3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a:cs typeface="Arial"/>
              </a:rPr>
              <a:t>Exemple de consos</a:t>
            </a:r>
          </a:p>
        </p:txBody>
      </p:sp>
      <p:sp>
        <p:nvSpPr>
          <p:cNvPr id="24" name="Google Shape;130;p3">
            <a:extLst>
              <a:ext uri="{FF2B5EF4-FFF2-40B4-BE49-F238E27FC236}">
                <a16:creationId xmlns:a16="http://schemas.microsoft.com/office/drawing/2014/main" id="{335C68DF-AE75-49C6-949B-E5BDD4E730EA}"/>
              </a:ext>
            </a:extLst>
          </p:cNvPr>
          <p:cNvSpPr txBox="1">
            <a:spLocks/>
          </p:cNvSpPr>
          <p:nvPr/>
        </p:nvSpPr>
        <p:spPr>
          <a:xfrm>
            <a:off x="0" y="6283204"/>
            <a:ext cx="611188" cy="365125"/>
          </a:xfrm>
          <a:prstGeom prst="rect">
            <a:avLst/>
          </a:prstGeom>
          <a:noFill/>
          <a:ln>
            <a:noFill/>
          </a:ln>
        </p:spPr>
        <p:txBody>
          <a:bodyPr spcFirstLastPara="1" wrap="square" lIns="0" tIns="0" rIns="0" bIns="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
                <a:srgbClr val="000000"/>
              </a:buClr>
              <a:buSzPts val="1400"/>
              <a:buFont typeface="Arial"/>
              <a:buNone/>
            </a:pPr>
            <a:fld id="{00000000-1234-1234-1234-123412341234}" type="slidenum">
              <a:rPr lang="fr-FR" smtClean="0"/>
              <a:pPr algn="ctr">
                <a:buClr>
                  <a:srgbClr val="000000"/>
                </a:buClr>
                <a:buSzPts val="1400"/>
                <a:buFont typeface="Arial"/>
                <a:buNone/>
              </a:pPr>
              <a:t>25</a:t>
            </a:fld>
            <a:endParaRPr lang="fr-F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gec8223986c_1_588"/>
          <p:cNvSpPr txBox="1">
            <a:spLocks noGrp="1"/>
          </p:cNvSpPr>
          <p:nvPr>
            <p:ph type="title"/>
          </p:nvPr>
        </p:nvSpPr>
        <p:spPr>
          <a:xfrm>
            <a:off x="2027548" y="0"/>
            <a:ext cx="8028900" cy="9807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fr-FR"/>
              <a:t>Où agir ? Bien cibler les actions</a:t>
            </a:r>
            <a:endParaRPr/>
          </a:p>
        </p:txBody>
      </p:sp>
      <p:grpSp>
        <p:nvGrpSpPr>
          <p:cNvPr id="268" name="Google Shape;268;gec8223986c_1_588"/>
          <p:cNvGrpSpPr/>
          <p:nvPr/>
        </p:nvGrpSpPr>
        <p:grpSpPr>
          <a:xfrm>
            <a:off x="2632407" y="1562298"/>
            <a:ext cx="7660091" cy="4704192"/>
            <a:chOff x="1486651" y="1577745"/>
            <a:chExt cx="7660091" cy="4704192"/>
          </a:xfrm>
        </p:grpSpPr>
        <p:grpSp>
          <p:nvGrpSpPr>
            <p:cNvPr id="269" name="Google Shape;269;gec8223986c_1_588"/>
            <p:cNvGrpSpPr/>
            <p:nvPr/>
          </p:nvGrpSpPr>
          <p:grpSpPr>
            <a:xfrm>
              <a:off x="1486651" y="1577745"/>
              <a:ext cx="7660091" cy="4704192"/>
              <a:chOff x="603803" y="1700480"/>
              <a:chExt cx="5640715" cy="4704192"/>
            </a:xfrm>
          </p:grpSpPr>
          <p:grpSp>
            <p:nvGrpSpPr>
              <p:cNvPr id="270" name="Google Shape;270;gec8223986c_1_588"/>
              <p:cNvGrpSpPr/>
              <p:nvPr/>
            </p:nvGrpSpPr>
            <p:grpSpPr>
              <a:xfrm>
                <a:off x="1259456" y="1700480"/>
                <a:ext cx="3709628" cy="4704192"/>
                <a:chOff x="894034" y="2492788"/>
                <a:chExt cx="1410709" cy="1785002"/>
              </a:xfrm>
            </p:grpSpPr>
            <p:cxnSp>
              <p:nvCxnSpPr>
                <p:cNvPr id="271" name="Google Shape;271;gec8223986c_1_588"/>
                <p:cNvCxnSpPr/>
                <p:nvPr/>
              </p:nvCxnSpPr>
              <p:spPr>
                <a:xfrm rot="10800000">
                  <a:off x="1487488" y="2492788"/>
                  <a:ext cx="0" cy="1728300"/>
                </a:xfrm>
                <a:prstGeom prst="straightConnector1">
                  <a:avLst/>
                </a:prstGeom>
                <a:noFill/>
                <a:ln w="57150" cap="flat" cmpd="sng">
                  <a:solidFill>
                    <a:srgbClr val="F6AB38"/>
                  </a:solidFill>
                  <a:prstDash val="solid"/>
                  <a:round/>
                  <a:headEnd type="none" w="sm" len="sm"/>
                  <a:tailEnd type="triangle" w="med" len="med"/>
                </a:ln>
              </p:spPr>
            </p:cxnSp>
            <p:cxnSp>
              <p:nvCxnSpPr>
                <p:cNvPr id="272" name="Google Shape;272;gec8223986c_1_588"/>
                <p:cNvCxnSpPr/>
                <p:nvPr/>
              </p:nvCxnSpPr>
              <p:spPr>
                <a:xfrm rot="10800000">
                  <a:off x="1487542" y="2549490"/>
                  <a:ext cx="0" cy="1728300"/>
                </a:xfrm>
                <a:prstGeom prst="straightConnector1">
                  <a:avLst/>
                </a:prstGeom>
                <a:noFill/>
                <a:ln w="57150" cap="flat" cmpd="sng">
                  <a:solidFill>
                    <a:srgbClr val="F6AB38"/>
                  </a:solidFill>
                  <a:prstDash val="solid"/>
                  <a:round/>
                  <a:headEnd type="none" w="sm" len="sm"/>
                  <a:tailEnd type="triangle" w="med" len="med"/>
                </a:ln>
              </p:spPr>
            </p:cxnSp>
            <p:cxnSp>
              <p:nvCxnSpPr>
                <p:cNvPr id="18" name="Google Shape;272;gec8223986c_1_588">
                  <a:extLst>
                    <a:ext uri="{FF2B5EF4-FFF2-40B4-BE49-F238E27FC236}">
                      <a16:creationId xmlns:a16="http://schemas.microsoft.com/office/drawing/2014/main" id="{0FB50EF3-C675-4BC6-B712-A6B271D2A86D}"/>
                    </a:ext>
                  </a:extLst>
                </p:cNvPr>
                <p:cNvCxnSpPr>
                  <a:cxnSpLocks/>
                </p:cNvCxnSpPr>
                <p:nvPr/>
              </p:nvCxnSpPr>
              <p:spPr>
                <a:xfrm>
                  <a:off x="894034" y="3333288"/>
                  <a:ext cx="1410709" cy="4329"/>
                </a:xfrm>
                <a:prstGeom prst="straightConnector1">
                  <a:avLst/>
                </a:prstGeom>
                <a:noFill/>
                <a:ln w="57150" cap="flat" cmpd="sng">
                  <a:solidFill>
                    <a:srgbClr val="F6AB38"/>
                  </a:solidFill>
                  <a:prstDash val="solid"/>
                  <a:round/>
                  <a:headEnd type="none" w="sm" len="sm"/>
                  <a:tailEnd type="triangle" w="med" len="med"/>
                </a:ln>
              </p:spPr>
            </p:cxnSp>
          </p:grpSp>
          <p:sp>
            <p:nvSpPr>
              <p:cNvPr id="273" name="Google Shape;273;gec8223986c_1_588"/>
              <p:cNvSpPr txBox="1"/>
              <p:nvPr/>
            </p:nvSpPr>
            <p:spPr>
              <a:xfrm>
                <a:off x="5082918" y="3641047"/>
                <a:ext cx="1161600" cy="64650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800" b="1" i="0" u="none" strike="noStrike" kern="0" cap="none" spc="0" normalizeH="0" baseline="0" noProof="0">
                    <a:ln>
                      <a:noFill/>
                    </a:ln>
                    <a:solidFill>
                      <a:srgbClr val="085160"/>
                    </a:solidFill>
                    <a:effectLst/>
                    <a:uLnTx/>
                    <a:uFillTx/>
                    <a:latin typeface="Century Gothic"/>
                    <a:ea typeface="Century Gothic"/>
                    <a:cs typeface="Century Gothic"/>
                    <a:sym typeface="Century Gothic"/>
                  </a:rPr>
                  <a:t>Facilité d’action</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4" name="Google Shape;274;gec8223986c_1_588"/>
              <p:cNvSpPr txBox="1"/>
              <p:nvPr/>
            </p:nvSpPr>
            <p:spPr>
              <a:xfrm>
                <a:off x="3161675" y="3130648"/>
                <a:ext cx="1944300" cy="64650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800" b="1" i="0" u="none" strike="noStrike" kern="0" cap="none" spc="0" normalizeH="0" baseline="0" noProof="0">
                    <a:ln>
                      <a:noFill/>
                    </a:ln>
                    <a:solidFill>
                      <a:srgbClr val="00B050"/>
                    </a:solidFill>
                    <a:effectLst/>
                    <a:uLnTx/>
                    <a:uFillTx/>
                    <a:latin typeface="Century Gothic"/>
                    <a:ea typeface="Century Gothic"/>
                    <a:cs typeface="Century Gothic"/>
                    <a:sym typeface="Century Gothic"/>
                  </a:rPr>
                  <a:t>Pourquoi attendre ? Go !</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5" name="Google Shape;275;gec8223986c_1_588"/>
              <p:cNvSpPr txBox="1"/>
              <p:nvPr/>
            </p:nvSpPr>
            <p:spPr>
              <a:xfrm>
                <a:off x="3178796" y="5186690"/>
                <a:ext cx="1944300" cy="92340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800" b="1" i="0" u="none" strike="noStrike" kern="0" cap="none" spc="0" normalizeH="0" baseline="0" noProof="0">
                    <a:ln>
                      <a:noFill/>
                    </a:ln>
                    <a:solidFill>
                      <a:srgbClr val="0070C0"/>
                    </a:solidFill>
                    <a:effectLst/>
                    <a:uLnTx/>
                    <a:uFillTx/>
                    <a:latin typeface="Century Gothic"/>
                    <a:ea typeface="Century Gothic"/>
                    <a:cs typeface="Century Gothic"/>
                    <a:sym typeface="Century Gothic"/>
                  </a:rPr>
                  <a:t>Pourquoi pas, mais ça ne doit pas masquer le reste</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6" name="Google Shape;276;gec8223986c_1_588"/>
              <p:cNvSpPr txBox="1"/>
              <p:nvPr/>
            </p:nvSpPr>
            <p:spPr>
              <a:xfrm>
                <a:off x="664802" y="2898101"/>
                <a:ext cx="1944300" cy="64650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800" b="1" i="0" u="none" strike="noStrike" kern="0" cap="none" spc="0" normalizeH="0" baseline="0" noProof="0">
                    <a:ln>
                      <a:noFill/>
                    </a:ln>
                    <a:solidFill>
                      <a:srgbClr val="00B0F0"/>
                    </a:solidFill>
                    <a:effectLst/>
                    <a:uLnTx/>
                    <a:uFillTx/>
                    <a:latin typeface="Century Gothic"/>
                    <a:ea typeface="Century Gothic"/>
                    <a:cs typeface="Century Gothic"/>
                    <a:sym typeface="Century Gothic"/>
                  </a:rPr>
                  <a:t>À faire, mais dans un second temps !</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7" name="Google Shape;277;gec8223986c_1_588"/>
              <p:cNvSpPr txBox="1"/>
              <p:nvPr/>
            </p:nvSpPr>
            <p:spPr>
              <a:xfrm>
                <a:off x="603803" y="5214653"/>
                <a:ext cx="1944300" cy="64650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800" b="1" i="0" u="none" strike="noStrike" kern="0" cap="none" spc="0" normalizeH="0" baseline="0" noProof="0">
                    <a:ln>
                      <a:noFill/>
                    </a:ln>
                    <a:solidFill>
                      <a:srgbClr val="FF0000"/>
                    </a:solidFill>
                    <a:effectLst/>
                    <a:uLnTx/>
                    <a:uFillTx/>
                    <a:latin typeface="Century Gothic"/>
                    <a:ea typeface="Century Gothic"/>
                    <a:cs typeface="Century Gothic"/>
                    <a:sym typeface="Century Gothic"/>
                  </a:rPr>
                  <a:t>Inutile de perdre son temps ici</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pic>
          <p:nvPicPr>
            <p:cNvPr id="278" name="Google Shape;278;gec8223986c_1_588"/>
            <p:cNvPicPr preferRelativeResize="0"/>
            <p:nvPr/>
          </p:nvPicPr>
          <p:blipFill rotWithShape="1">
            <a:blip r:embed="rId3">
              <a:alphaModFix/>
            </a:blip>
            <a:srcRect/>
            <a:stretch/>
          </p:blipFill>
          <p:spPr>
            <a:xfrm>
              <a:off x="2419608" y="1868173"/>
              <a:ext cx="940087" cy="849974"/>
            </a:xfrm>
            <a:prstGeom prst="rect">
              <a:avLst/>
            </a:prstGeom>
            <a:noFill/>
            <a:ln>
              <a:noFill/>
            </a:ln>
          </p:spPr>
        </p:pic>
        <p:pic>
          <p:nvPicPr>
            <p:cNvPr id="279" name="Google Shape;279;gec8223986c_1_588"/>
            <p:cNvPicPr preferRelativeResize="0"/>
            <p:nvPr/>
          </p:nvPicPr>
          <p:blipFill rotWithShape="1">
            <a:blip r:embed="rId3">
              <a:alphaModFix/>
            </a:blip>
            <a:srcRect/>
            <a:stretch/>
          </p:blipFill>
          <p:spPr>
            <a:xfrm>
              <a:off x="5840646" y="4160017"/>
              <a:ext cx="915286" cy="827551"/>
            </a:xfrm>
            <a:prstGeom prst="rect">
              <a:avLst/>
            </a:prstGeom>
            <a:noFill/>
            <a:ln>
              <a:noFill/>
            </a:ln>
          </p:spPr>
        </p:pic>
        <p:pic>
          <p:nvPicPr>
            <p:cNvPr id="280" name="Google Shape;280;gec8223986c_1_588"/>
            <p:cNvPicPr preferRelativeResize="0"/>
            <p:nvPr/>
          </p:nvPicPr>
          <p:blipFill rotWithShape="1">
            <a:blip r:embed="rId4">
              <a:alphaModFix/>
            </a:blip>
            <a:srcRect/>
            <a:stretch/>
          </p:blipFill>
          <p:spPr>
            <a:xfrm>
              <a:off x="2377030" y="4265689"/>
              <a:ext cx="859564" cy="826229"/>
            </a:xfrm>
            <a:prstGeom prst="rect">
              <a:avLst/>
            </a:prstGeom>
            <a:noFill/>
            <a:ln>
              <a:noFill/>
            </a:ln>
          </p:spPr>
        </p:pic>
        <p:pic>
          <p:nvPicPr>
            <p:cNvPr id="281" name="Google Shape;281;gec8223986c_1_588"/>
            <p:cNvPicPr preferRelativeResize="0"/>
            <p:nvPr/>
          </p:nvPicPr>
          <p:blipFill rotWithShape="1">
            <a:blip r:embed="rId5">
              <a:alphaModFix/>
            </a:blip>
            <a:srcRect/>
            <a:stretch/>
          </p:blipFill>
          <p:spPr>
            <a:xfrm>
              <a:off x="5667678" y="1795602"/>
              <a:ext cx="1191949" cy="1164782"/>
            </a:xfrm>
            <a:prstGeom prst="rect">
              <a:avLst/>
            </a:prstGeom>
            <a:noFill/>
            <a:ln>
              <a:noFill/>
            </a:ln>
          </p:spPr>
        </p:pic>
      </p:grpSp>
      <p:sp>
        <p:nvSpPr>
          <p:cNvPr id="282" name="Google Shape;282;gec8223986c_1_588"/>
          <p:cNvSpPr txBox="1"/>
          <p:nvPr/>
        </p:nvSpPr>
        <p:spPr>
          <a:xfrm>
            <a:off x="4382350" y="1052098"/>
            <a:ext cx="5215399" cy="369291"/>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800" b="1" i="0" u="none" strike="noStrike" kern="0" cap="none" spc="0" normalizeH="0" baseline="0" noProof="0">
                <a:ln>
                  <a:noFill/>
                </a:ln>
                <a:solidFill>
                  <a:srgbClr val="085160"/>
                </a:solidFill>
                <a:effectLst/>
                <a:uLnTx/>
                <a:uFillTx/>
                <a:latin typeface="Century Gothic"/>
                <a:ea typeface="Century Gothic"/>
                <a:cs typeface="Century Gothic"/>
                <a:sym typeface="Century Gothic"/>
              </a:rPr>
              <a:t>Importance des Émissions de GES associées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 name="Google Shape;130;p3">
            <a:extLst>
              <a:ext uri="{FF2B5EF4-FFF2-40B4-BE49-F238E27FC236}">
                <a16:creationId xmlns:a16="http://schemas.microsoft.com/office/drawing/2014/main" id="{A2EB152A-0E83-46A7-9505-525269B4106C}"/>
              </a:ext>
            </a:extLst>
          </p:cNvPr>
          <p:cNvSpPr txBox="1">
            <a:spLocks/>
          </p:cNvSpPr>
          <p:nvPr/>
        </p:nvSpPr>
        <p:spPr>
          <a:xfrm>
            <a:off x="0" y="6318373"/>
            <a:ext cx="611188" cy="365125"/>
          </a:xfrm>
          <a:prstGeom prst="rect">
            <a:avLst/>
          </a:prstGeom>
          <a:noFill/>
          <a:ln>
            <a:noFill/>
          </a:ln>
        </p:spPr>
        <p:txBody>
          <a:bodyPr spcFirstLastPara="1" wrap="square" lIns="0" tIns="0" rIns="0" bIns="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
                <a:srgbClr val="000000"/>
              </a:buClr>
              <a:buSzPts val="1400"/>
              <a:buFont typeface="Arial"/>
              <a:buNone/>
            </a:pPr>
            <a:fld id="{00000000-1234-1234-1234-123412341234}" type="slidenum">
              <a:rPr lang="fr-FR" smtClean="0"/>
              <a:pPr algn="ctr">
                <a:buClr>
                  <a:srgbClr val="000000"/>
                </a:buClr>
                <a:buSzPts val="1400"/>
                <a:buFont typeface="Arial"/>
                <a:buNone/>
              </a:pPr>
              <a:t>26</a:t>
            </a:fld>
            <a:endParaRPr lang="fr-F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gec8223986c_1_948"/>
          <p:cNvSpPr txBox="1">
            <a:spLocks noGrp="1"/>
          </p:cNvSpPr>
          <p:nvPr>
            <p:ph type="title"/>
          </p:nvPr>
        </p:nvSpPr>
        <p:spPr>
          <a:xfrm>
            <a:off x="2027548" y="0"/>
            <a:ext cx="8028900" cy="9807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fr-FR" dirty="0"/>
              <a:t>Evaluez l’impact de votre plan d’action carbone </a:t>
            </a:r>
            <a:endParaRPr dirty="0"/>
          </a:p>
        </p:txBody>
      </p:sp>
      <p:sp>
        <p:nvSpPr>
          <p:cNvPr id="288" name="Google Shape;288;gec8223986c_1_948"/>
          <p:cNvSpPr txBox="1"/>
          <p:nvPr/>
        </p:nvSpPr>
        <p:spPr>
          <a:xfrm>
            <a:off x="609600" y="1268760"/>
            <a:ext cx="10972800" cy="48573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F79124"/>
              </a:buClr>
              <a:buSzPts val="2400"/>
              <a:buFont typeface="Arial"/>
              <a:buNone/>
              <a:tabLst/>
              <a:defRPr/>
            </a:pPr>
            <a:r>
              <a:rPr kumimoji="0" lang="fr-FR" sz="2400" b="0" i="0" u="none" strike="noStrike" kern="0" cap="none" spc="0" normalizeH="0" baseline="0" noProof="0" dirty="0">
                <a:ln>
                  <a:noFill/>
                </a:ln>
                <a:solidFill>
                  <a:srgbClr val="000000"/>
                </a:solidFill>
                <a:effectLst/>
                <a:uLnTx/>
                <a:uFillTx/>
                <a:latin typeface="Century Gothic"/>
                <a:ea typeface="Century Gothic"/>
                <a:cs typeface="Century Gothic"/>
                <a:sym typeface="Century Gothic"/>
              </a:rPr>
              <a:t>A chacun des objectifs de votre plan d’action, vous pouvez associer un </a:t>
            </a:r>
            <a:r>
              <a:rPr kumimoji="0" lang="fr-FR" sz="2400" b="1" i="0" u="none" strike="noStrike" kern="0" cap="none" spc="0" normalizeH="0" baseline="0" noProof="0" dirty="0">
                <a:ln>
                  <a:noFill/>
                </a:ln>
                <a:solidFill>
                  <a:srgbClr val="085160"/>
                </a:solidFill>
                <a:effectLst/>
                <a:uLnTx/>
                <a:uFillTx/>
                <a:latin typeface="Century Gothic"/>
                <a:ea typeface="Century Gothic"/>
                <a:cs typeface="Century Gothic"/>
                <a:sym typeface="Century Gothic"/>
              </a:rPr>
              <a:t>impact potentiel </a:t>
            </a:r>
            <a:r>
              <a:rPr kumimoji="0" lang="fr-FR" sz="2400" b="0" i="0" u="none" strike="noStrike" kern="0" cap="none" spc="0" normalizeH="0" baseline="0" noProof="0" dirty="0">
                <a:ln>
                  <a:noFill/>
                </a:ln>
                <a:solidFill>
                  <a:srgbClr val="000000"/>
                </a:solidFill>
                <a:effectLst/>
                <a:uLnTx/>
                <a:uFillTx/>
                <a:latin typeface="Century Gothic"/>
                <a:ea typeface="Century Gothic"/>
                <a:cs typeface="Century Gothic"/>
                <a:sym typeface="Century Gothic"/>
              </a:rPr>
              <a:t>de réduction des émissions.</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480"/>
              </a:spcBef>
              <a:spcAft>
                <a:spcPts val="0"/>
              </a:spcAft>
              <a:buClr>
                <a:srgbClr val="F79124"/>
              </a:buClr>
              <a:buSzPts val="2400"/>
              <a:buFont typeface="Arial"/>
              <a:buNone/>
              <a:tabLst/>
              <a:defRPr/>
            </a:pPr>
            <a:endParaRPr kumimoji="0" sz="2400" b="1" i="0" u="none" strike="noStrike" kern="0" cap="none" spc="0" normalizeH="0" baseline="0" noProof="0" dirty="0">
              <a:ln>
                <a:noFill/>
              </a:ln>
              <a:solidFill>
                <a:srgbClr val="085160"/>
              </a:solidFill>
              <a:effectLst/>
              <a:uLnTx/>
              <a:uFillTx/>
              <a:latin typeface="Century Gothic"/>
              <a:ea typeface="Century Gothic"/>
              <a:cs typeface="Century Gothic"/>
              <a:sym typeface="Century Gothic"/>
            </a:endParaRPr>
          </a:p>
          <a:p>
            <a:pPr marL="0" marR="0" lvl="0" indent="0" algn="l" defTabSz="914400" rtl="0" eaLnBrk="1" fontAlgn="auto" latinLnBrk="0" hangingPunct="1">
              <a:lnSpc>
                <a:spcPct val="100000"/>
              </a:lnSpc>
              <a:spcBef>
                <a:spcPts val="400"/>
              </a:spcBef>
              <a:spcAft>
                <a:spcPts val="0"/>
              </a:spcAft>
              <a:buClr>
                <a:srgbClr val="F79124"/>
              </a:buClr>
              <a:buSzPts val="2000"/>
              <a:buFont typeface="Arial"/>
              <a:buNone/>
              <a:tabLst/>
              <a:defRPr/>
            </a:pPr>
            <a:r>
              <a:rPr kumimoji="0" lang="fr-FR" sz="2000" b="1" i="0" u="none" strike="noStrike" kern="0" cap="none" spc="0" normalizeH="0" baseline="0" noProof="0" dirty="0">
                <a:ln>
                  <a:noFill/>
                </a:ln>
                <a:solidFill>
                  <a:srgbClr val="085160"/>
                </a:solidFill>
                <a:effectLst/>
                <a:uLnTx/>
                <a:uFillTx/>
                <a:latin typeface="Century Gothic"/>
                <a:ea typeface="Century Gothic"/>
                <a:cs typeface="Century Gothic"/>
                <a:sym typeface="Century Gothic"/>
              </a:rPr>
              <a:t>Exemple : 50% de repas végétariens à la cantine en 2020</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857250" marR="0" lvl="2" indent="0" algn="l" defTabSz="914400" rtl="0" eaLnBrk="1" fontAlgn="auto" latinLnBrk="0" hangingPunct="1">
              <a:lnSpc>
                <a:spcPct val="100000"/>
              </a:lnSpc>
              <a:spcBef>
                <a:spcPts val="400"/>
              </a:spcBef>
              <a:spcAft>
                <a:spcPts val="0"/>
              </a:spcAft>
              <a:buClr>
                <a:srgbClr val="000000"/>
              </a:buClr>
              <a:buSzPts val="2000"/>
              <a:buFont typeface="Arial"/>
              <a:buNone/>
              <a:tabLst/>
              <a:defRPr/>
            </a:pPr>
            <a:r>
              <a:rPr kumimoji="0" lang="fr-FR" sz="2000" b="0" i="0" u="none" strike="noStrike" kern="0" cap="none" spc="0" normalizeH="0" baseline="0" noProof="0" dirty="0">
                <a:ln>
                  <a:noFill/>
                </a:ln>
                <a:solidFill>
                  <a:srgbClr val="000000"/>
                </a:solidFill>
                <a:effectLst/>
                <a:uLnTx/>
                <a:uFillTx/>
                <a:latin typeface="Century Gothic"/>
                <a:ea typeface="Century Gothic"/>
                <a:cs typeface="Century Gothic"/>
                <a:sym typeface="Century Gothic"/>
              </a:rPr>
              <a:t>Repas de midi ≈ nombre de repas x FE par repas</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857250" marR="0" lvl="2" indent="0" algn="l" defTabSz="914400" rtl="0" eaLnBrk="1" fontAlgn="auto" latinLnBrk="0" hangingPunct="1">
              <a:lnSpc>
                <a:spcPct val="100000"/>
              </a:lnSpc>
              <a:spcBef>
                <a:spcPts val="480"/>
              </a:spcBef>
              <a:spcAft>
                <a:spcPts val="0"/>
              </a:spcAft>
              <a:buClr>
                <a:srgbClr val="000000"/>
              </a:buClr>
              <a:buSzPts val="2400"/>
              <a:buFont typeface="Arial"/>
              <a:buNone/>
              <a:tabLst/>
              <a:defRPr/>
            </a:pPr>
            <a:endParaRPr kumimoji="0" sz="2400" b="0" i="0" u="none" strike="noStrike" kern="0" cap="none" spc="0" normalizeH="0" baseline="0" noProof="0" dirty="0">
              <a:ln>
                <a:noFill/>
              </a:ln>
              <a:solidFill>
                <a:srgbClr val="000000"/>
              </a:solidFill>
              <a:effectLst/>
              <a:uLnTx/>
              <a:uFillTx/>
              <a:latin typeface="Century Gothic"/>
              <a:ea typeface="Century Gothic"/>
              <a:cs typeface="Century Gothic"/>
              <a:sym typeface="Century Gothic"/>
            </a:endParaRPr>
          </a:p>
          <a:p>
            <a:pPr marL="0" marR="0" lvl="0" indent="0" algn="l" defTabSz="914400" rtl="0" eaLnBrk="1" fontAlgn="auto" latinLnBrk="0" hangingPunct="1">
              <a:lnSpc>
                <a:spcPct val="100000"/>
              </a:lnSpc>
              <a:spcBef>
                <a:spcPts val="400"/>
              </a:spcBef>
              <a:spcAft>
                <a:spcPts val="0"/>
              </a:spcAft>
              <a:buClr>
                <a:srgbClr val="F79124"/>
              </a:buClr>
              <a:buSzPts val="2000"/>
              <a:buFont typeface="Arial"/>
              <a:buNone/>
              <a:tabLst/>
              <a:defRPr/>
            </a:pPr>
            <a:r>
              <a:rPr kumimoji="0" lang="fr-FR" sz="2000" b="1" i="0" u="none" strike="noStrike" kern="0" cap="none" spc="0" normalizeH="0" baseline="0" noProof="0" dirty="0">
                <a:ln>
                  <a:noFill/>
                </a:ln>
                <a:solidFill>
                  <a:srgbClr val="085160"/>
                </a:solidFill>
                <a:effectLst/>
                <a:uLnTx/>
                <a:uFillTx/>
                <a:latin typeface="Century Gothic"/>
                <a:ea typeface="Century Gothic"/>
                <a:cs typeface="Century Gothic"/>
                <a:sym typeface="Century Gothic"/>
              </a:rPr>
              <a:t>Avant : </a:t>
            </a:r>
            <a:r>
              <a:rPr kumimoji="0" lang="fr-FR" sz="2000" b="0" i="0" u="none" strike="noStrike" kern="0" cap="none" spc="0" normalizeH="0" baseline="0" noProof="0" dirty="0">
                <a:ln>
                  <a:noFill/>
                </a:ln>
                <a:solidFill>
                  <a:srgbClr val="000000"/>
                </a:solidFill>
                <a:effectLst/>
                <a:uLnTx/>
                <a:uFillTx/>
                <a:latin typeface="Century Gothic"/>
                <a:ea typeface="Century Gothic"/>
                <a:cs typeface="Century Gothic"/>
                <a:sym typeface="Century Gothic"/>
              </a:rPr>
              <a:t>500 repas moyens/j x 200 j/an </a:t>
            </a:r>
            <a:r>
              <a:rPr kumimoji="0" lang="fr-FR" sz="2000" b="1" i="0" u="none" strike="noStrike" kern="0" cap="none" spc="0" normalizeH="0" baseline="0" noProof="0" dirty="0">
                <a:ln>
                  <a:noFill/>
                </a:ln>
                <a:solidFill>
                  <a:srgbClr val="085160"/>
                </a:solidFill>
                <a:effectLst/>
                <a:uLnTx/>
                <a:uFillTx/>
                <a:latin typeface="Century Gothic"/>
                <a:ea typeface="Century Gothic"/>
                <a:cs typeface="Century Gothic"/>
                <a:sym typeface="Century Gothic"/>
              </a:rPr>
              <a:t>x </a:t>
            </a:r>
            <a:r>
              <a:rPr kumimoji="0" lang="fr-FR" sz="2000" b="1" i="0" u="none" strike="noStrike" kern="0" cap="none" spc="0" normalizeH="0" baseline="0" noProof="0" dirty="0">
                <a:ln>
                  <a:noFill/>
                </a:ln>
                <a:solidFill>
                  <a:srgbClr val="F6AB38"/>
                </a:solidFill>
                <a:effectLst/>
                <a:uLnTx/>
                <a:uFillTx/>
                <a:latin typeface="Century Gothic"/>
                <a:ea typeface="Century Gothic"/>
                <a:cs typeface="Century Gothic"/>
                <a:sym typeface="Century Gothic"/>
              </a:rPr>
              <a:t>2 kgCO2e/repas </a:t>
            </a:r>
            <a:r>
              <a:rPr kumimoji="0" lang="fr-FR" sz="2000" b="1" i="0" u="none" strike="noStrike" kern="0" cap="none" spc="0" normalizeH="0" baseline="0" noProof="0" dirty="0">
                <a:ln>
                  <a:noFill/>
                </a:ln>
                <a:solidFill>
                  <a:srgbClr val="085160"/>
                </a:solidFill>
                <a:effectLst/>
                <a:uLnTx/>
                <a:uFillTx/>
                <a:latin typeface="Century Gothic"/>
                <a:ea typeface="Century Gothic"/>
                <a:cs typeface="Century Gothic"/>
                <a:sym typeface="Century Gothic"/>
              </a:rPr>
              <a:t>≈ 200 tCO2e/an</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400"/>
              </a:spcBef>
              <a:spcAft>
                <a:spcPts val="0"/>
              </a:spcAft>
              <a:buClr>
                <a:srgbClr val="F79124"/>
              </a:buClr>
              <a:buSzPts val="2000"/>
              <a:buFont typeface="Arial"/>
              <a:buNone/>
              <a:tabLst/>
              <a:defRPr/>
            </a:pPr>
            <a:r>
              <a:rPr kumimoji="0" lang="fr-FR" sz="2000" b="1" i="0" u="none" strike="noStrike" kern="0" cap="none" spc="0" normalizeH="0" baseline="0" noProof="0" dirty="0">
                <a:ln>
                  <a:noFill/>
                </a:ln>
                <a:solidFill>
                  <a:srgbClr val="085160"/>
                </a:solidFill>
                <a:effectLst/>
                <a:uLnTx/>
                <a:uFillTx/>
                <a:latin typeface="Century Gothic"/>
                <a:ea typeface="Century Gothic"/>
                <a:cs typeface="Century Gothic"/>
                <a:sym typeface="Century Gothic"/>
              </a:rPr>
              <a:t>Après : </a:t>
            </a:r>
            <a:r>
              <a:rPr kumimoji="0" lang="fr-FR" sz="2000" b="0" i="0" u="none" strike="noStrike" kern="0" cap="none" spc="0" normalizeH="0" baseline="0" noProof="0" dirty="0">
                <a:ln>
                  <a:noFill/>
                </a:ln>
                <a:solidFill>
                  <a:srgbClr val="000000"/>
                </a:solidFill>
                <a:effectLst/>
                <a:uLnTx/>
                <a:uFillTx/>
                <a:latin typeface="Century Gothic"/>
                <a:ea typeface="Century Gothic"/>
                <a:cs typeface="Century Gothic"/>
                <a:sym typeface="Century Gothic"/>
              </a:rPr>
              <a:t>250 repas végétariens/j x 200 j/an </a:t>
            </a:r>
            <a:r>
              <a:rPr kumimoji="0" lang="fr-FR" sz="2000" b="1" i="0" u="none" strike="noStrike" kern="0" cap="none" spc="0" normalizeH="0" baseline="0" noProof="0" dirty="0">
                <a:ln>
                  <a:noFill/>
                </a:ln>
                <a:solidFill>
                  <a:srgbClr val="085160"/>
                </a:solidFill>
                <a:effectLst/>
                <a:uLnTx/>
                <a:uFillTx/>
                <a:latin typeface="Century Gothic"/>
                <a:ea typeface="Century Gothic"/>
                <a:cs typeface="Century Gothic"/>
                <a:sym typeface="Century Gothic"/>
              </a:rPr>
              <a:t>x </a:t>
            </a:r>
            <a:r>
              <a:rPr kumimoji="0" lang="fr-FR" sz="2000" b="1" i="0" u="none" strike="noStrike" kern="0" cap="none" spc="0" normalizeH="0" baseline="0" noProof="0" dirty="0">
                <a:ln>
                  <a:noFill/>
                </a:ln>
                <a:solidFill>
                  <a:srgbClr val="F6AB38"/>
                </a:solidFill>
                <a:effectLst/>
                <a:uLnTx/>
                <a:uFillTx/>
                <a:latin typeface="Century Gothic"/>
                <a:ea typeface="Century Gothic"/>
                <a:cs typeface="Century Gothic"/>
                <a:sym typeface="Century Gothic"/>
              </a:rPr>
              <a:t>0,5 kgCO2e/repas </a:t>
            </a:r>
            <a:r>
              <a:rPr kumimoji="0" lang="fr-FR" sz="2000" b="0" i="0" u="none" strike="noStrike" kern="0" cap="none" spc="0" normalizeH="0" baseline="0" noProof="0" dirty="0">
                <a:ln>
                  <a:noFill/>
                </a:ln>
                <a:solidFill>
                  <a:srgbClr val="000000"/>
                </a:solidFill>
                <a:effectLst/>
                <a:uLnTx/>
                <a:uFillTx/>
                <a:latin typeface="Century Gothic"/>
                <a:ea typeface="Century Gothic"/>
                <a:cs typeface="Century Gothic"/>
                <a:sym typeface="Century Gothic"/>
              </a:rPr>
              <a:t>+</a:t>
            </a:r>
            <a:r>
              <a:rPr kumimoji="0" lang="fr-FR" sz="2000" b="1" i="0" u="none" strike="noStrike" kern="0" cap="none" spc="0" normalizeH="0" baseline="0" noProof="0" dirty="0">
                <a:ln>
                  <a:noFill/>
                </a:ln>
                <a:solidFill>
                  <a:srgbClr val="F6AB38"/>
                </a:solidFill>
                <a:effectLst/>
                <a:uLnTx/>
                <a:uFillTx/>
                <a:latin typeface="Century Gothic"/>
                <a:ea typeface="Century Gothic"/>
                <a:cs typeface="Century Gothic"/>
                <a:sym typeface="Century Gothic"/>
              </a:rPr>
              <a:t> </a:t>
            </a:r>
            <a:r>
              <a:rPr kumimoji="0" lang="fr-FR" sz="2000" b="0" i="0" u="none" strike="noStrike" kern="0" cap="none" spc="0" normalizeH="0" baseline="0" noProof="0" dirty="0">
                <a:ln>
                  <a:noFill/>
                </a:ln>
                <a:solidFill>
                  <a:srgbClr val="000000"/>
                </a:solidFill>
                <a:effectLst/>
                <a:uLnTx/>
                <a:uFillTx/>
                <a:latin typeface="Century Gothic"/>
                <a:ea typeface="Century Gothic"/>
                <a:cs typeface="Century Gothic"/>
                <a:sym typeface="Century Gothic"/>
              </a:rPr>
              <a:t>250 repas moyens/j x 200j/an </a:t>
            </a:r>
            <a:r>
              <a:rPr kumimoji="0" lang="fr-FR" sz="2000" b="1" i="0" u="none" strike="noStrike" kern="0" cap="none" spc="0" normalizeH="0" baseline="0" noProof="0" dirty="0">
                <a:ln>
                  <a:noFill/>
                </a:ln>
                <a:solidFill>
                  <a:srgbClr val="085160"/>
                </a:solidFill>
                <a:effectLst/>
                <a:uLnTx/>
                <a:uFillTx/>
                <a:latin typeface="Century Gothic"/>
                <a:ea typeface="Century Gothic"/>
                <a:cs typeface="Century Gothic"/>
                <a:sym typeface="Century Gothic"/>
              </a:rPr>
              <a:t>x </a:t>
            </a:r>
            <a:r>
              <a:rPr kumimoji="0" lang="fr-FR" sz="2000" b="1" i="0" u="none" strike="noStrike" kern="0" cap="none" spc="0" normalizeH="0" baseline="0" noProof="0" dirty="0">
                <a:ln>
                  <a:noFill/>
                </a:ln>
                <a:solidFill>
                  <a:srgbClr val="F6AB38"/>
                </a:solidFill>
                <a:effectLst/>
                <a:uLnTx/>
                <a:uFillTx/>
                <a:latin typeface="Century Gothic"/>
                <a:ea typeface="Century Gothic"/>
                <a:cs typeface="Century Gothic"/>
                <a:sym typeface="Century Gothic"/>
              </a:rPr>
              <a:t>2 kgCO2e/repas</a:t>
            </a:r>
            <a:r>
              <a:rPr kumimoji="0" lang="fr-FR" sz="2000" b="0" i="0" u="none" strike="noStrike" kern="0" cap="none" spc="0" normalizeH="0" baseline="0" noProof="0" dirty="0">
                <a:ln>
                  <a:noFill/>
                </a:ln>
                <a:solidFill>
                  <a:srgbClr val="000000"/>
                </a:solidFill>
                <a:effectLst/>
                <a:uLnTx/>
                <a:uFillTx/>
                <a:latin typeface="Century Gothic"/>
                <a:ea typeface="Century Gothic"/>
                <a:cs typeface="Century Gothic"/>
                <a:sym typeface="Century Gothic"/>
              </a:rPr>
              <a:t> </a:t>
            </a:r>
            <a:r>
              <a:rPr kumimoji="0" lang="fr-FR" sz="2000" b="1" i="0" u="none" strike="noStrike" kern="0" cap="none" spc="0" normalizeH="0" baseline="0" noProof="0" dirty="0">
                <a:ln>
                  <a:noFill/>
                </a:ln>
                <a:solidFill>
                  <a:srgbClr val="F6AB38"/>
                </a:solidFill>
                <a:effectLst/>
                <a:uLnTx/>
                <a:uFillTx/>
                <a:latin typeface="Century Gothic"/>
                <a:ea typeface="Century Gothic"/>
                <a:cs typeface="Century Gothic"/>
                <a:sym typeface="Century Gothic"/>
              </a:rPr>
              <a:t> </a:t>
            </a:r>
            <a:r>
              <a:rPr kumimoji="0" lang="fr-FR" sz="2000" b="1" i="0" u="none" strike="noStrike" kern="0" cap="none" spc="0" normalizeH="0" baseline="0" noProof="0" dirty="0">
                <a:ln>
                  <a:noFill/>
                </a:ln>
                <a:solidFill>
                  <a:srgbClr val="085160"/>
                </a:solidFill>
                <a:effectLst/>
                <a:uLnTx/>
                <a:uFillTx/>
                <a:latin typeface="Century Gothic"/>
                <a:ea typeface="Century Gothic"/>
                <a:cs typeface="Century Gothic"/>
                <a:sym typeface="Century Gothic"/>
              </a:rPr>
              <a:t>≈ 25 + 100 ≈ 125 tCO2e/an</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400"/>
              </a:spcBef>
              <a:spcAft>
                <a:spcPts val="0"/>
              </a:spcAft>
              <a:buClr>
                <a:srgbClr val="F79124"/>
              </a:buClr>
              <a:buSzPts val="2000"/>
              <a:buFont typeface="Arial"/>
              <a:buNone/>
              <a:tabLst/>
              <a:defRPr/>
            </a:pPr>
            <a:endParaRPr kumimoji="0" sz="2000" b="1" i="0" u="none" strike="noStrike" kern="0" cap="none" spc="0" normalizeH="0" baseline="0" noProof="0" dirty="0">
              <a:ln>
                <a:noFill/>
              </a:ln>
              <a:solidFill>
                <a:srgbClr val="085160"/>
              </a:solidFill>
              <a:effectLst/>
              <a:uLnTx/>
              <a:uFillTx/>
              <a:latin typeface="Century Gothic"/>
              <a:ea typeface="Century Gothic"/>
              <a:cs typeface="Century Gothic"/>
              <a:sym typeface="Century Gothic"/>
            </a:endParaRPr>
          </a:p>
          <a:p>
            <a:pPr marL="0" marR="0" lvl="0" indent="0" algn="l" defTabSz="914400" rtl="0" eaLnBrk="1" fontAlgn="auto" latinLnBrk="0" hangingPunct="1">
              <a:lnSpc>
                <a:spcPct val="100000"/>
              </a:lnSpc>
              <a:spcBef>
                <a:spcPts val="400"/>
              </a:spcBef>
              <a:spcAft>
                <a:spcPts val="0"/>
              </a:spcAft>
              <a:buClr>
                <a:srgbClr val="F79124"/>
              </a:buClr>
              <a:buSzPts val="2000"/>
              <a:buFont typeface="Arial"/>
              <a:buNone/>
              <a:tabLst/>
              <a:defRPr/>
            </a:pPr>
            <a:r>
              <a:rPr kumimoji="0" lang="fr-FR" sz="2000" b="1" i="0" u="none" strike="noStrike" kern="0" cap="none" spc="0" normalizeH="0" baseline="0" noProof="0" dirty="0">
                <a:ln>
                  <a:noFill/>
                </a:ln>
                <a:solidFill>
                  <a:srgbClr val="085160"/>
                </a:solidFill>
                <a:effectLst/>
                <a:uLnTx/>
                <a:uFillTx/>
                <a:latin typeface="Century Gothic"/>
                <a:ea typeface="Century Gothic"/>
                <a:cs typeface="Century Gothic"/>
                <a:sym typeface="Century Gothic"/>
              </a:rPr>
              <a:t>Gain potentiel : </a:t>
            </a:r>
            <a:r>
              <a:rPr kumimoji="0" lang="fr-FR" sz="2000" b="1" i="0" u="none" strike="noStrike" kern="0" cap="none" spc="0" normalizeH="0" baseline="0" noProof="0" dirty="0">
                <a:ln>
                  <a:noFill/>
                </a:ln>
                <a:solidFill>
                  <a:srgbClr val="F6AB38"/>
                </a:solidFill>
                <a:effectLst/>
                <a:uLnTx/>
                <a:uFillTx/>
                <a:latin typeface="Century Gothic"/>
                <a:ea typeface="Century Gothic"/>
                <a:cs typeface="Century Gothic"/>
                <a:sym typeface="Century Gothic"/>
              </a:rPr>
              <a:t>75 tCO2e/an</a:t>
            </a:r>
          </a:p>
          <a:p>
            <a:pPr marL="0" marR="0" lvl="0" indent="0" algn="l" defTabSz="914400" rtl="0" eaLnBrk="1" fontAlgn="auto" latinLnBrk="0" hangingPunct="1">
              <a:lnSpc>
                <a:spcPct val="100000"/>
              </a:lnSpc>
              <a:spcBef>
                <a:spcPts val="400"/>
              </a:spcBef>
              <a:spcAft>
                <a:spcPts val="0"/>
              </a:spcAft>
              <a:buClr>
                <a:srgbClr val="F79124"/>
              </a:buClr>
              <a:buSzPts val="2000"/>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857250" marR="0" lvl="2" indent="0" algn="l" defTabSz="914400" rtl="0" eaLnBrk="1" fontAlgn="auto" latinLnBrk="0" hangingPunct="1">
              <a:lnSpc>
                <a:spcPct val="100000"/>
              </a:lnSpc>
              <a:spcBef>
                <a:spcPts val="480"/>
              </a:spcBef>
              <a:spcAft>
                <a:spcPts val="0"/>
              </a:spcAft>
              <a:buClr>
                <a:srgbClr val="000000"/>
              </a:buClr>
              <a:buSzPts val="2400"/>
              <a:buFont typeface="Arial"/>
              <a:buNone/>
              <a:tabLst/>
              <a:defRPr/>
            </a:pPr>
            <a:r>
              <a:rPr kumimoji="0" lang="fr-FR" sz="2400" b="0" i="0" u="none" strike="noStrike" kern="0" cap="none" spc="0" normalizeH="0" baseline="0" noProof="0" dirty="0">
                <a:ln>
                  <a:noFill/>
                </a:ln>
                <a:solidFill>
                  <a:srgbClr val="000000"/>
                </a:solidFill>
                <a:effectLst/>
                <a:uLnTx/>
                <a:uFillTx/>
                <a:latin typeface="Century Gothic"/>
                <a:ea typeface="Century Gothic"/>
                <a:cs typeface="Century Gothic"/>
                <a:sym typeface="Century Gothic"/>
              </a:rPr>
              <a:t>Vous pouvez ensuite </a:t>
            </a:r>
            <a:r>
              <a:rPr kumimoji="0" lang="fr-FR" sz="2400" b="1" i="0" u="none" strike="noStrike" kern="0" cap="none" spc="0" normalizeH="0" baseline="0" noProof="0" dirty="0">
                <a:ln>
                  <a:noFill/>
                </a:ln>
                <a:solidFill>
                  <a:srgbClr val="085160"/>
                </a:solidFill>
                <a:effectLst/>
                <a:uLnTx/>
                <a:uFillTx/>
                <a:latin typeface="Century Gothic"/>
                <a:ea typeface="Century Gothic"/>
                <a:cs typeface="Century Gothic"/>
                <a:sym typeface="Century Gothic"/>
              </a:rPr>
              <a:t>suivre</a:t>
            </a:r>
            <a:r>
              <a:rPr kumimoji="0" lang="fr-FR" sz="2400" b="0" i="0" u="none" strike="noStrike" kern="0" cap="none" spc="0" normalizeH="0" baseline="0" noProof="0" dirty="0">
                <a:ln>
                  <a:noFill/>
                </a:ln>
                <a:solidFill>
                  <a:srgbClr val="000000"/>
                </a:solidFill>
                <a:effectLst/>
                <a:uLnTx/>
                <a:uFillTx/>
                <a:latin typeface="Century Gothic"/>
                <a:ea typeface="Century Gothic"/>
                <a:cs typeface="Century Gothic"/>
                <a:sym typeface="Century Gothic"/>
              </a:rPr>
              <a:t> la mise en place de cette action sur le terrain et </a:t>
            </a:r>
            <a:r>
              <a:rPr kumimoji="0" lang="fr-FR" sz="2400" b="1" i="0" u="none" strike="noStrike" kern="0" cap="none" spc="0" normalizeH="0" baseline="0" noProof="0" dirty="0">
                <a:ln>
                  <a:noFill/>
                </a:ln>
                <a:solidFill>
                  <a:srgbClr val="085160"/>
                </a:solidFill>
                <a:effectLst/>
                <a:uLnTx/>
                <a:uFillTx/>
                <a:latin typeface="Century Gothic"/>
                <a:ea typeface="Century Gothic"/>
                <a:cs typeface="Century Gothic"/>
                <a:sym typeface="Century Gothic"/>
              </a:rPr>
              <a:t>évaluer</a:t>
            </a:r>
            <a:r>
              <a:rPr kumimoji="0" lang="fr-FR" sz="2400" b="0" i="0" u="none" strike="noStrike" kern="0" cap="none" spc="0" normalizeH="0" baseline="0" noProof="0" dirty="0">
                <a:ln>
                  <a:noFill/>
                </a:ln>
                <a:solidFill>
                  <a:srgbClr val="000000"/>
                </a:solidFill>
                <a:effectLst/>
                <a:uLnTx/>
                <a:uFillTx/>
                <a:latin typeface="Century Gothic"/>
                <a:ea typeface="Century Gothic"/>
                <a:cs typeface="Century Gothic"/>
                <a:sym typeface="Century Gothic"/>
              </a:rPr>
              <a:t> l’impact réel de votre action</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857250" marR="0" lvl="2" indent="0" algn="l" defTabSz="914400" rtl="0" eaLnBrk="1" fontAlgn="auto" latinLnBrk="0" hangingPunct="1">
              <a:lnSpc>
                <a:spcPct val="100000"/>
              </a:lnSpc>
              <a:spcBef>
                <a:spcPts val="480"/>
              </a:spcBef>
              <a:spcAft>
                <a:spcPts val="0"/>
              </a:spcAft>
              <a:buClr>
                <a:srgbClr val="000000"/>
              </a:buClr>
              <a:buSzPts val="2400"/>
              <a:buFont typeface="Arial"/>
              <a:buNone/>
              <a:tabLst/>
              <a:defRPr/>
            </a:pPr>
            <a:endParaRPr kumimoji="0" sz="2400" b="1" i="0" u="none" strike="noStrike" kern="0" cap="none" spc="0" normalizeH="0" baseline="0" noProof="0" dirty="0">
              <a:ln>
                <a:noFill/>
              </a:ln>
              <a:solidFill>
                <a:srgbClr val="085160"/>
              </a:solidFill>
              <a:effectLst/>
              <a:uLnTx/>
              <a:uFillTx/>
              <a:latin typeface="Century Gothic"/>
              <a:ea typeface="Century Gothic"/>
              <a:cs typeface="Century Gothic"/>
              <a:sym typeface="Century Gothic"/>
            </a:endParaRPr>
          </a:p>
          <a:p>
            <a:pPr marL="857250" marR="0" lvl="2" indent="0" algn="l" defTabSz="914400" rtl="0" eaLnBrk="1" fontAlgn="auto" latinLnBrk="0" hangingPunct="1">
              <a:lnSpc>
                <a:spcPct val="100000"/>
              </a:lnSpc>
              <a:spcBef>
                <a:spcPts val="480"/>
              </a:spcBef>
              <a:spcAft>
                <a:spcPts val="0"/>
              </a:spcAft>
              <a:buClr>
                <a:srgbClr val="000000"/>
              </a:buClr>
              <a:buSzPts val="2400"/>
              <a:buFont typeface="Arial"/>
              <a:buNone/>
              <a:tabLst/>
              <a:defRPr/>
            </a:pPr>
            <a:endParaRPr kumimoji="0" sz="2400" b="1" i="0" u="none" strike="noStrike" kern="0" cap="none" spc="0" normalizeH="0" baseline="0" noProof="0" dirty="0">
              <a:ln>
                <a:noFill/>
              </a:ln>
              <a:solidFill>
                <a:srgbClr val="085160"/>
              </a:solidFill>
              <a:effectLst/>
              <a:uLnTx/>
              <a:uFillTx/>
              <a:latin typeface="Century Gothic"/>
              <a:ea typeface="Century Gothic"/>
              <a:cs typeface="Century Gothic"/>
              <a:sym typeface="Century Gothic"/>
            </a:endParaRPr>
          </a:p>
          <a:p>
            <a:pPr marL="857250" marR="0" lvl="2" indent="0" algn="l" defTabSz="914400" rtl="0" eaLnBrk="1" fontAlgn="auto" latinLnBrk="0" hangingPunct="1">
              <a:lnSpc>
                <a:spcPct val="100000"/>
              </a:lnSpc>
              <a:spcBef>
                <a:spcPts val="560"/>
              </a:spcBef>
              <a:spcAft>
                <a:spcPts val="0"/>
              </a:spcAft>
              <a:buClr>
                <a:srgbClr val="000000"/>
              </a:buClr>
              <a:buSzPts val="2800"/>
              <a:buFont typeface="Arial"/>
              <a:buNone/>
              <a:tabLst/>
              <a:defRPr/>
            </a:pPr>
            <a:endParaRPr kumimoji="0" sz="2800" b="0" i="0" u="none" strike="noStrike" kern="0" cap="none" spc="0" normalizeH="0" baseline="0" noProof="0" dirty="0">
              <a:ln>
                <a:noFill/>
              </a:ln>
              <a:solidFill>
                <a:srgbClr val="000000"/>
              </a:solidFill>
              <a:effectLst/>
              <a:uLnTx/>
              <a:uFillTx/>
              <a:latin typeface="Century Gothic"/>
              <a:ea typeface="Century Gothic"/>
              <a:cs typeface="Century Gothic"/>
              <a:sym typeface="Century Gothic"/>
            </a:endParaRPr>
          </a:p>
          <a:p>
            <a:pPr marL="0" marR="0" lvl="0" indent="0" algn="l" defTabSz="914400" rtl="0" eaLnBrk="1" fontAlgn="auto" latinLnBrk="0" hangingPunct="1">
              <a:lnSpc>
                <a:spcPct val="100000"/>
              </a:lnSpc>
              <a:spcBef>
                <a:spcPts val="480"/>
              </a:spcBef>
              <a:spcAft>
                <a:spcPts val="0"/>
              </a:spcAft>
              <a:buClr>
                <a:srgbClr val="F79124"/>
              </a:buClr>
              <a:buSzPts val="2400"/>
              <a:buFont typeface="Arial"/>
              <a:buNone/>
              <a:tabLst/>
              <a:defRPr/>
            </a:pPr>
            <a:endParaRPr kumimoji="0" sz="2400" b="1" i="0" u="none" strike="noStrike" kern="0" cap="none" spc="0" normalizeH="0" baseline="0" noProof="0" dirty="0">
              <a:ln>
                <a:noFill/>
              </a:ln>
              <a:solidFill>
                <a:srgbClr val="085160"/>
              </a:solidFill>
              <a:effectLst/>
              <a:uLnTx/>
              <a:uFillTx/>
              <a:latin typeface="Century Gothic"/>
              <a:ea typeface="Century Gothic"/>
              <a:cs typeface="Century Gothic"/>
              <a:sym typeface="Century Gothic"/>
            </a:endParaRPr>
          </a:p>
          <a:p>
            <a:pPr marL="0" marR="0" lvl="0" indent="0" algn="l" defTabSz="914400" rtl="0" eaLnBrk="1" fontAlgn="auto" latinLnBrk="0" hangingPunct="1">
              <a:lnSpc>
                <a:spcPct val="100000"/>
              </a:lnSpc>
              <a:spcBef>
                <a:spcPts val="480"/>
              </a:spcBef>
              <a:spcAft>
                <a:spcPts val="0"/>
              </a:spcAft>
              <a:buClr>
                <a:srgbClr val="F79124"/>
              </a:buClr>
              <a:buSzPts val="2400"/>
              <a:buFont typeface="Arial"/>
              <a:buNone/>
              <a:tabLst/>
              <a:defRPr/>
            </a:pPr>
            <a:endParaRPr kumimoji="0" sz="2400" b="1" i="0" u="none" strike="noStrike" kern="0" cap="none" spc="0" normalizeH="0" baseline="0" noProof="0" dirty="0">
              <a:ln>
                <a:noFill/>
              </a:ln>
              <a:solidFill>
                <a:srgbClr val="085160"/>
              </a:solidFill>
              <a:effectLst/>
              <a:uLnTx/>
              <a:uFillTx/>
              <a:latin typeface="Century Gothic"/>
              <a:ea typeface="Century Gothic"/>
              <a:cs typeface="Century Gothic"/>
              <a:sym typeface="Century Gothic"/>
            </a:endParaRPr>
          </a:p>
        </p:txBody>
      </p:sp>
      <p:pic>
        <p:nvPicPr>
          <p:cNvPr id="289" name="Google Shape;289;gec8223986c_1_948"/>
          <p:cNvPicPr preferRelativeResize="0"/>
          <p:nvPr/>
        </p:nvPicPr>
        <p:blipFill rotWithShape="1">
          <a:blip r:embed="rId3">
            <a:alphaModFix/>
          </a:blip>
          <a:srcRect/>
          <a:stretch/>
        </p:blipFill>
        <p:spPr>
          <a:xfrm>
            <a:off x="791207" y="2888112"/>
            <a:ext cx="576000" cy="540888"/>
          </a:xfrm>
          <a:prstGeom prst="rect">
            <a:avLst/>
          </a:prstGeom>
          <a:noFill/>
          <a:ln>
            <a:noFill/>
          </a:ln>
        </p:spPr>
      </p:pic>
      <p:pic>
        <p:nvPicPr>
          <p:cNvPr id="290" name="Google Shape;290;gec8223986c_1_948"/>
          <p:cNvPicPr preferRelativeResize="0"/>
          <p:nvPr/>
        </p:nvPicPr>
        <p:blipFill rotWithShape="1">
          <a:blip r:embed="rId4">
            <a:alphaModFix/>
          </a:blip>
          <a:srcRect/>
          <a:stretch/>
        </p:blipFill>
        <p:spPr>
          <a:xfrm>
            <a:off x="647127" y="5673844"/>
            <a:ext cx="720080" cy="720080"/>
          </a:xfrm>
          <a:prstGeom prst="rect">
            <a:avLst/>
          </a:prstGeom>
          <a:noFill/>
          <a:ln>
            <a:noFill/>
          </a:ln>
        </p:spPr>
      </p:pic>
      <p:sp>
        <p:nvSpPr>
          <p:cNvPr id="6" name="Google Shape;130;p3">
            <a:extLst>
              <a:ext uri="{FF2B5EF4-FFF2-40B4-BE49-F238E27FC236}">
                <a16:creationId xmlns:a16="http://schemas.microsoft.com/office/drawing/2014/main" id="{DF561539-D20A-41F9-B675-D7F44C8927C2}"/>
              </a:ext>
            </a:extLst>
          </p:cNvPr>
          <p:cNvSpPr txBox="1">
            <a:spLocks/>
          </p:cNvSpPr>
          <p:nvPr/>
        </p:nvSpPr>
        <p:spPr>
          <a:xfrm>
            <a:off x="0" y="6318373"/>
            <a:ext cx="611188" cy="365125"/>
          </a:xfrm>
          <a:prstGeom prst="rect">
            <a:avLst/>
          </a:prstGeom>
          <a:noFill/>
          <a:ln>
            <a:noFill/>
          </a:ln>
        </p:spPr>
        <p:txBody>
          <a:bodyPr spcFirstLastPara="1" wrap="square" lIns="0" tIns="0" rIns="0" bIns="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
                <a:srgbClr val="000000"/>
              </a:buClr>
              <a:buSzPts val="1400"/>
              <a:buFont typeface="Arial"/>
              <a:buNone/>
            </a:pPr>
            <a:fld id="{00000000-1234-1234-1234-123412341234}" type="slidenum">
              <a:rPr lang="fr-FR" smtClean="0"/>
              <a:pPr algn="ctr">
                <a:buClr>
                  <a:srgbClr val="000000"/>
                </a:buClr>
                <a:buSzPts val="1400"/>
                <a:buFont typeface="Arial"/>
                <a:buNone/>
              </a:pPr>
              <a:t>27</a:t>
            </a:fld>
            <a:endParaRPr lang="fr-F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04"/>
        <p:cNvGrpSpPr/>
        <p:nvPr/>
      </p:nvGrpSpPr>
      <p:grpSpPr>
        <a:xfrm>
          <a:off x="0" y="0"/>
          <a:ext cx="0" cy="0"/>
          <a:chOff x="0" y="0"/>
          <a:chExt cx="0" cy="0"/>
        </a:xfrm>
      </p:grpSpPr>
      <p:sp>
        <p:nvSpPr>
          <p:cNvPr id="2405" name="Google Shape;2405;p126"/>
          <p:cNvSpPr txBox="1">
            <a:spLocks noGrp="1"/>
          </p:cNvSpPr>
          <p:nvPr>
            <p:ph type="body" idx="1"/>
          </p:nvPr>
        </p:nvSpPr>
        <p:spPr>
          <a:xfrm>
            <a:off x="0" y="2492897"/>
            <a:ext cx="10363200" cy="1500187"/>
          </a:xfrm>
          <a:prstGeom prst="rect">
            <a:avLst/>
          </a:prstGeom>
          <a:solidFill>
            <a:srgbClr val="F6AB38"/>
          </a:solidFill>
          <a:ln>
            <a:noFill/>
          </a:ln>
        </p:spPr>
        <p:txBody>
          <a:bodyPr spcFirstLastPara="1" wrap="square" lIns="216000" tIns="45700" rIns="91425" bIns="45700" anchor="ctr" anchorCtr="0">
            <a:normAutofit/>
          </a:bodyPr>
          <a:lstStyle/>
          <a:p>
            <a:pPr marL="0" lvl="0" indent="0" algn="l" rtl="0">
              <a:spcBef>
                <a:spcPts val="0"/>
              </a:spcBef>
              <a:spcAft>
                <a:spcPts val="0"/>
              </a:spcAft>
              <a:buSzPts val="4000"/>
              <a:buNone/>
            </a:pPr>
            <a:r>
              <a:rPr lang="fr-FR" dirty="0"/>
              <a:t>Quelques ordres de grandeur</a:t>
            </a:r>
            <a:endParaRPr dirty="0"/>
          </a:p>
        </p:txBody>
      </p:sp>
      <p:pic>
        <p:nvPicPr>
          <p:cNvPr id="4" name="Image 3">
            <a:extLst>
              <a:ext uri="{FF2B5EF4-FFF2-40B4-BE49-F238E27FC236}">
                <a16:creationId xmlns:a16="http://schemas.microsoft.com/office/drawing/2014/main" id="{18C79FCA-54B4-499E-B4F0-F5306CBD7A7F}"/>
              </a:ext>
            </a:extLst>
          </p:cNvPr>
          <p:cNvPicPr>
            <a:picLocks noChangeAspect="1"/>
          </p:cNvPicPr>
          <p:nvPr/>
        </p:nvPicPr>
        <p:blipFill>
          <a:blip r:embed="rId3"/>
          <a:stretch>
            <a:fillRect/>
          </a:stretch>
        </p:blipFill>
        <p:spPr>
          <a:xfrm>
            <a:off x="9656620" y="3454438"/>
            <a:ext cx="1781435" cy="1781435"/>
          </a:xfrm>
          <a:prstGeom prst="rect">
            <a:avLst/>
          </a:prstGeom>
        </p:spPr>
      </p:pic>
      <p:pic>
        <p:nvPicPr>
          <p:cNvPr id="5" name="Image 4">
            <a:extLst>
              <a:ext uri="{FF2B5EF4-FFF2-40B4-BE49-F238E27FC236}">
                <a16:creationId xmlns:a16="http://schemas.microsoft.com/office/drawing/2014/main" id="{A212A632-00F9-42A1-9F8E-DE0E7A56CF63}"/>
              </a:ext>
            </a:extLst>
          </p:cNvPr>
          <p:cNvPicPr>
            <a:picLocks noChangeAspect="1"/>
          </p:cNvPicPr>
          <p:nvPr/>
        </p:nvPicPr>
        <p:blipFill>
          <a:blip r:embed="rId4"/>
          <a:stretch>
            <a:fillRect/>
          </a:stretch>
        </p:blipFill>
        <p:spPr>
          <a:xfrm>
            <a:off x="7253714" y="1507752"/>
            <a:ext cx="1512168" cy="1512168"/>
          </a:xfrm>
          <a:prstGeom prst="rect">
            <a:avLst/>
          </a:prstGeom>
        </p:spPr>
      </p:pic>
      <p:pic>
        <p:nvPicPr>
          <p:cNvPr id="6" name="Image 5">
            <a:extLst>
              <a:ext uri="{FF2B5EF4-FFF2-40B4-BE49-F238E27FC236}">
                <a16:creationId xmlns:a16="http://schemas.microsoft.com/office/drawing/2014/main" id="{88DEEB64-4212-4F99-94DD-7ECCE2A4BD32}"/>
              </a:ext>
            </a:extLst>
          </p:cNvPr>
          <p:cNvPicPr>
            <a:picLocks noChangeAspect="1"/>
          </p:cNvPicPr>
          <p:nvPr/>
        </p:nvPicPr>
        <p:blipFill>
          <a:blip r:embed="rId5"/>
          <a:stretch>
            <a:fillRect/>
          </a:stretch>
        </p:blipFill>
        <p:spPr>
          <a:xfrm>
            <a:off x="9243948" y="1507752"/>
            <a:ext cx="1656680" cy="1656680"/>
          </a:xfrm>
          <a:prstGeom prst="rect">
            <a:avLst/>
          </a:prstGeom>
        </p:spPr>
      </p:pic>
      <p:pic>
        <p:nvPicPr>
          <p:cNvPr id="7" name="Image 6"/>
          <p:cNvPicPr>
            <a:picLocks noChangeAspect="1"/>
          </p:cNvPicPr>
          <p:nvPr/>
        </p:nvPicPr>
        <p:blipFill>
          <a:blip r:embed="rId6"/>
          <a:stretch>
            <a:fillRect/>
          </a:stretch>
        </p:blipFill>
        <p:spPr>
          <a:xfrm>
            <a:off x="8077994" y="4978229"/>
            <a:ext cx="1216076" cy="1144542"/>
          </a:xfrm>
          <a:prstGeom prst="rect">
            <a:avLst/>
          </a:prstGeom>
        </p:spPr>
      </p:pic>
      <p:sp>
        <p:nvSpPr>
          <p:cNvPr id="8" name="Google Shape;130;p3">
            <a:extLst>
              <a:ext uri="{FF2B5EF4-FFF2-40B4-BE49-F238E27FC236}">
                <a16:creationId xmlns:a16="http://schemas.microsoft.com/office/drawing/2014/main" id="{9165D365-3B4A-4499-92E8-D173A6EFE9B1}"/>
              </a:ext>
            </a:extLst>
          </p:cNvPr>
          <p:cNvSpPr txBox="1">
            <a:spLocks/>
          </p:cNvSpPr>
          <p:nvPr/>
        </p:nvSpPr>
        <p:spPr>
          <a:xfrm>
            <a:off x="0" y="6376988"/>
            <a:ext cx="611188" cy="365125"/>
          </a:xfrm>
          <a:prstGeom prst="rect">
            <a:avLst/>
          </a:prstGeom>
          <a:noFill/>
          <a:ln>
            <a:noFill/>
          </a:ln>
        </p:spPr>
        <p:txBody>
          <a:bodyPr spcFirstLastPara="1" wrap="square" lIns="0" tIns="0" rIns="0" bIns="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
                <a:srgbClr val="000000"/>
              </a:buClr>
              <a:buSzPts val="1400"/>
              <a:buFont typeface="Arial"/>
              <a:buNone/>
            </a:pPr>
            <a:fld id="{00000000-1234-1234-1234-123412341234}" type="slidenum">
              <a:rPr lang="fr-FR" smtClean="0"/>
              <a:pPr algn="ctr">
                <a:buClr>
                  <a:srgbClr val="000000"/>
                </a:buClr>
                <a:buSzPts val="1400"/>
                <a:buFont typeface="Arial"/>
                <a:buNone/>
              </a:pPr>
              <a:t>28</a:t>
            </a:fld>
            <a:endParaRPr lang="fr-FR" dirty="0"/>
          </a:p>
        </p:txBody>
      </p:sp>
    </p:spTree>
    <p:extLst>
      <p:ext uri="{BB962C8B-B14F-4D97-AF65-F5344CB8AC3E}">
        <p14:creationId xmlns:p14="http://schemas.microsoft.com/office/powerpoint/2010/main" val="15747665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Graphique 22">
            <a:extLst>
              <a:ext uri="{FF2B5EF4-FFF2-40B4-BE49-F238E27FC236}">
                <a16:creationId xmlns:a16="http://schemas.microsoft.com/office/drawing/2014/main" id="{858CF731-FA30-4531-BDD0-D1C8AE964414}"/>
              </a:ext>
            </a:extLst>
          </p:cNvPr>
          <p:cNvGraphicFramePr/>
          <p:nvPr/>
        </p:nvGraphicFramePr>
        <p:xfrm>
          <a:off x="-4705200" y="1157691"/>
          <a:ext cx="16737195" cy="3351429"/>
        </p:xfrm>
        <a:graphic>
          <a:graphicData uri="http://schemas.openxmlformats.org/drawingml/2006/chart">
            <c:chart xmlns:c="http://schemas.openxmlformats.org/drawingml/2006/chart" xmlns:r="http://schemas.openxmlformats.org/officeDocument/2006/relationships" r:id="rId3"/>
          </a:graphicData>
        </a:graphic>
      </p:graphicFrame>
      <p:sp>
        <p:nvSpPr>
          <p:cNvPr id="5" name="Titre 4"/>
          <p:cNvSpPr>
            <a:spLocks noGrp="1"/>
          </p:cNvSpPr>
          <p:nvPr>
            <p:ph type="title"/>
          </p:nvPr>
        </p:nvSpPr>
        <p:spPr/>
        <p:txBody>
          <a:bodyPr/>
          <a:lstStyle/>
          <a:p>
            <a:r>
              <a:rPr lang="fr-FR" dirty="0"/>
              <a:t>Quelques actions pour agir</a:t>
            </a:r>
            <a:br>
              <a:rPr lang="fr-FR" dirty="0"/>
            </a:br>
            <a:r>
              <a:rPr lang="fr-FR" dirty="0">
                <a:solidFill>
                  <a:srgbClr val="F6AB38"/>
                </a:solidFill>
              </a:rPr>
              <a:t>Transports</a:t>
            </a:r>
          </a:p>
        </p:txBody>
      </p:sp>
      <p:sp>
        <p:nvSpPr>
          <p:cNvPr id="6" name="Espace réservé du numéro de diapositive 5">
            <a:extLst>
              <a:ext uri="{FF2B5EF4-FFF2-40B4-BE49-F238E27FC236}">
                <a16:creationId xmlns:a16="http://schemas.microsoft.com/office/drawing/2014/main" id="{6492ADFF-6538-4EC8-981D-456DDED25765}"/>
              </a:ext>
            </a:extLst>
          </p:cNvPr>
          <p:cNvSpPr>
            <a:spLocks noGrp="1"/>
          </p:cNvSpPr>
          <p:nvPr>
            <p:ph type="sldNum" sz="quarter" idx="4294967295"/>
          </p:nvPr>
        </p:nvSpPr>
        <p:spPr>
          <a:xfrm>
            <a:off x="11280576" y="6597352"/>
            <a:ext cx="864096" cy="260648"/>
          </a:xfrm>
          <a:prstGeom prst="rect">
            <a:avLst/>
          </a:prstGeom>
        </p:spPr>
        <p:txBody>
          <a:bodyPr anchor="ctr"/>
          <a:lstStyle>
            <a:defPPr>
              <a:defRPr lang="fr-FR"/>
            </a:defPPr>
            <a:lvl1pPr algn="r" rtl="0" fontAlgn="base">
              <a:spcBef>
                <a:spcPct val="0"/>
              </a:spcBef>
              <a:spcAft>
                <a:spcPct val="0"/>
              </a:spcAft>
              <a:defRPr sz="1400" b="1" kern="1200">
                <a:solidFill>
                  <a:schemeClr val="bg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a:lstStyle>
          <a:p>
            <a:pPr>
              <a:buClrTx/>
              <a:buFontTx/>
              <a:buNone/>
              <a:defRPr/>
            </a:pPr>
            <a:fld id="{977A11F6-3D0F-4813-9A73-318DF2A72F01}" type="slidenum">
              <a:rPr lang="en-US" smtClean="0">
                <a:solidFill>
                  <a:prstClr val="white"/>
                </a:solidFill>
              </a:rPr>
              <a:pPr>
                <a:buClrTx/>
                <a:buFontTx/>
                <a:buNone/>
                <a:defRPr/>
              </a:pPr>
              <a:t>29</a:t>
            </a:fld>
            <a:endParaRPr lang="en-US" dirty="0">
              <a:solidFill>
                <a:prstClr val="white"/>
              </a:solidFill>
            </a:endParaRPr>
          </a:p>
        </p:txBody>
      </p:sp>
      <p:sp>
        <p:nvSpPr>
          <p:cNvPr id="16" name="Espace réservé du contenu 2">
            <a:extLst>
              <a:ext uri="{FF2B5EF4-FFF2-40B4-BE49-F238E27FC236}">
                <a16:creationId xmlns:a16="http://schemas.microsoft.com/office/drawing/2014/main" id="{FBD6F843-1A88-462A-931D-75B029C9787C}"/>
              </a:ext>
            </a:extLst>
          </p:cNvPr>
          <p:cNvSpPr>
            <a:spLocks noGrp="1"/>
          </p:cNvSpPr>
          <p:nvPr>
            <p:ph idx="1"/>
          </p:nvPr>
        </p:nvSpPr>
        <p:spPr>
          <a:xfrm>
            <a:off x="1169170" y="4678088"/>
            <a:ext cx="9532445" cy="1618011"/>
          </a:xfrm>
        </p:spPr>
        <p:txBody>
          <a:bodyPr/>
          <a:lstStyle/>
          <a:p>
            <a:pPr marL="285750" indent="-285750">
              <a:buFont typeface="Arial" panose="020B0604020202020204" pitchFamily="34" charset="0"/>
              <a:buChar char="•"/>
            </a:pPr>
            <a:r>
              <a:rPr lang="fr-FR" sz="1600" dirty="0"/>
              <a:t>Limiter les déplacements en avion au maximum</a:t>
            </a:r>
          </a:p>
          <a:p>
            <a:pPr marL="285750" indent="-285750">
              <a:buFont typeface="Arial" panose="020B0604020202020204" pitchFamily="34" charset="0"/>
              <a:buChar char="•"/>
            </a:pPr>
            <a:r>
              <a:rPr lang="fr-FR" sz="1600" dirty="0"/>
              <a:t>Privilégier le vélo pour les petits déplacements. (10 km = 30 min de vélo)</a:t>
            </a:r>
          </a:p>
          <a:p>
            <a:pPr marL="285750" indent="-285750">
              <a:buFont typeface="Arial" panose="020B0604020202020204" pitchFamily="34" charset="0"/>
              <a:buChar char="•"/>
            </a:pPr>
            <a:r>
              <a:rPr lang="fr-FR" sz="1600" dirty="0"/>
              <a:t>Faire du covoiturage pour les trajets réguliers/quotidiens ou les déplacements plus longs. Adopter une conduite souple et s’inscrire à des cours d'écoconduite. </a:t>
            </a:r>
          </a:p>
          <a:p>
            <a:pPr marL="285750" indent="-285750">
              <a:buFont typeface="Arial" panose="020B0604020202020204" pitchFamily="34" charset="0"/>
              <a:buChar char="•"/>
            </a:pPr>
            <a:r>
              <a:rPr lang="fr-FR" sz="1600" dirty="0"/>
              <a:t>Privilégier les transports en commun.</a:t>
            </a:r>
          </a:p>
        </p:txBody>
      </p:sp>
      <p:pic>
        <p:nvPicPr>
          <p:cNvPr id="15" name="Image 14">
            <a:extLst>
              <a:ext uri="{FF2B5EF4-FFF2-40B4-BE49-F238E27FC236}">
                <a16:creationId xmlns:a16="http://schemas.microsoft.com/office/drawing/2014/main" id="{18C79FCA-54B4-499E-B4F0-F5306CBD7A7F}"/>
              </a:ext>
            </a:extLst>
          </p:cNvPr>
          <p:cNvPicPr>
            <a:picLocks noChangeAspect="1"/>
          </p:cNvPicPr>
          <p:nvPr/>
        </p:nvPicPr>
        <p:blipFill>
          <a:blip r:embed="rId4"/>
          <a:stretch>
            <a:fillRect/>
          </a:stretch>
        </p:blipFill>
        <p:spPr>
          <a:xfrm>
            <a:off x="610959" y="2140273"/>
            <a:ext cx="1416589" cy="1416589"/>
          </a:xfrm>
          <a:prstGeom prst="rect">
            <a:avLst/>
          </a:prstGeom>
        </p:spPr>
      </p:pic>
      <p:sp>
        <p:nvSpPr>
          <p:cNvPr id="17" name="Rectangle 16">
            <a:extLst>
              <a:ext uri="{FF2B5EF4-FFF2-40B4-BE49-F238E27FC236}">
                <a16:creationId xmlns:a16="http://schemas.microsoft.com/office/drawing/2014/main" id="{07DDD1F1-439D-44EC-8838-7D8EA728C7F3}"/>
              </a:ext>
            </a:extLst>
          </p:cNvPr>
          <p:cNvSpPr/>
          <p:nvPr/>
        </p:nvSpPr>
        <p:spPr>
          <a:xfrm>
            <a:off x="0" y="6597115"/>
            <a:ext cx="10280378" cy="338554"/>
          </a:xfrm>
          <a:prstGeom prst="rect">
            <a:avLst/>
          </a:prstGeom>
        </p:spPr>
        <p:txBody>
          <a:bodyPr wrap="none">
            <a:spAutoFit/>
          </a:bodyPr>
          <a:lstStyle/>
          <a:p>
            <a:pPr fontAlgn="base">
              <a:spcBef>
                <a:spcPct val="0"/>
              </a:spcBef>
              <a:spcAft>
                <a:spcPct val="0"/>
              </a:spcAft>
              <a:buClrTx/>
              <a:buFontTx/>
              <a:buNone/>
            </a:pPr>
            <a:r>
              <a:rPr lang="fr-FR" sz="1600" kern="1200" dirty="0">
                <a:solidFill>
                  <a:prstClr val="white"/>
                </a:solidFill>
                <a:latin typeface="Century Gothic" panose="020B0502020202020204" pitchFamily="34" charset="0"/>
                <a:ea typeface="+mn-ea"/>
                <a:cs typeface="Arial" pitchFamily="34" charset="0"/>
              </a:rPr>
              <a:t>Sources : Facteurs d’émission ADEME, Calculs Avenir Climatique, valeurs moyennes en France sur 1 an</a:t>
            </a:r>
          </a:p>
        </p:txBody>
      </p:sp>
      <p:cxnSp>
        <p:nvCxnSpPr>
          <p:cNvPr id="24" name="Connecteur droit 23">
            <a:extLst>
              <a:ext uri="{FF2B5EF4-FFF2-40B4-BE49-F238E27FC236}">
                <a16:creationId xmlns:a16="http://schemas.microsoft.com/office/drawing/2014/main" id="{46AE6EF9-C9FB-404D-A79F-FCBCFB494070}"/>
              </a:ext>
            </a:extLst>
          </p:cNvPr>
          <p:cNvCxnSpPr>
            <a:cxnSpLocks/>
          </p:cNvCxnSpPr>
          <p:nvPr/>
        </p:nvCxnSpPr>
        <p:spPr>
          <a:xfrm flipV="1">
            <a:off x="9873712" y="1452968"/>
            <a:ext cx="0" cy="2525513"/>
          </a:xfrm>
          <a:prstGeom prst="line">
            <a:avLst/>
          </a:prstGeom>
          <a:ln w="38100">
            <a:solidFill>
              <a:srgbClr val="43B8ED"/>
            </a:solidFill>
          </a:ln>
        </p:spPr>
        <p:style>
          <a:lnRef idx="1">
            <a:schemeClr val="accent1"/>
          </a:lnRef>
          <a:fillRef idx="0">
            <a:schemeClr val="accent1"/>
          </a:fillRef>
          <a:effectRef idx="0">
            <a:schemeClr val="accent1"/>
          </a:effectRef>
          <a:fontRef idx="minor">
            <a:schemeClr val="tx1"/>
          </a:fontRef>
        </p:style>
      </p:cxnSp>
      <p:pic>
        <p:nvPicPr>
          <p:cNvPr id="25" name="Image 24">
            <a:extLst>
              <a:ext uri="{FF2B5EF4-FFF2-40B4-BE49-F238E27FC236}">
                <a16:creationId xmlns:a16="http://schemas.microsoft.com/office/drawing/2014/main" id="{F28C4E8D-F75B-48B7-83F9-7DD617B91BCA}"/>
              </a:ext>
            </a:extLst>
          </p:cNvPr>
          <p:cNvPicPr>
            <a:picLocks noChangeAspect="1"/>
          </p:cNvPicPr>
          <p:nvPr/>
        </p:nvPicPr>
        <p:blipFill rotWithShape="1">
          <a:blip r:embed="rId5">
            <a:clrChange>
              <a:clrFrom>
                <a:srgbClr val="FFFFFF"/>
              </a:clrFrom>
              <a:clrTo>
                <a:srgbClr val="FFFFFF">
                  <a:alpha val="0"/>
                </a:srgbClr>
              </a:clrTo>
            </a:clrChange>
          </a:blip>
          <a:srcRect r="6871"/>
          <a:stretch/>
        </p:blipFill>
        <p:spPr>
          <a:xfrm>
            <a:off x="9605036" y="835251"/>
            <a:ext cx="537352" cy="491283"/>
          </a:xfrm>
          <a:prstGeom prst="rect">
            <a:avLst/>
          </a:prstGeom>
        </p:spPr>
      </p:pic>
      <p:sp>
        <p:nvSpPr>
          <p:cNvPr id="10" name="Google Shape;130;p3">
            <a:extLst>
              <a:ext uri="{FF2B5EF4-FFF2-40B4-BE49-F238E27FC236}">
                <a16:creationId xmlns:a16="http://schemas.microsoft.com/office/drawing/2014/main" id="{F50AB3E7-9129-4A94-9943-0AA8489C283C}"/>
              </a:ext>
            </a:extLst>
          </p:cNvPr>
          <p:cNvSpPr txBox="1">
            <a:spLocks/>
          </p:cNvSpPr>
          <p:nvPr/>
        </p:nvSpPr>
        <p:spPr>
          <a:xfrm>
            <a:off x="0" y="6306650"/>
            <a:ext cx="611188" cy="365125"/>
          </a:xfrm>
          <a:prstGeom prst="rect">
            <a:avLst/>
          </a:prstGeom>
          <a:noFill/>
          <a:ln>
            <a:noFill/>
          </a:ln>
        </p:spPr>
        <p:txBody>
          <a:bodyPr spcFirstLastPara="1" wrap="square" lIns="0" tIns="0" rIns="0" bIns="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
                <a:srgbClr val="000000"/>
              </a:buClr>
              <a:buSzPts val="1400"/>
              <a:buFont typeface="Arial"/>
              <a:buNone/>
            </a:pPr>
            <a:fld id="{00000000-1234-1234-1234-123412341234}" type="slidenum">
              <a:rPr lang="fr-FR" smtClean="0"/>
              <a:pPr algn="ctr">
                <a:buClr>
                  <a:srgbClr val="000000"/>
                </a:buClr>
                <a:buSzPts val="1400"/>
                <a:buFont typeface="Arial"/>
                <a:buNone/>
              </a:pPr>
              <a:t>29</a:t>
            </a:fld>
            <a:endParaRPr lang="fr-FR" dirty="0"/>
          </a:p>
        </p:txBody>
      </p:sp>
      <p:sp>
        <p:nvSpPr>
          <p:cNvPr id="11" name="Intensité Carbone">
            <a:extLst>
              <a:ext uri="{FF2B5EF4-FFF2-40B4-BE49-F238E27FC236}">
                <a16:creationId xmlns:a16="http://schemas.microsoft.com/office/drawing/2014/main" id="{4A6326BB-80B5-4780-8557-E43183AB8421}"/>
              </a:ext>
            </a:extLst>
          </p:cNvPr>
          <p:cNvSpPr txBox="1"/>
          <p:nvPr/>
        </p:nvSpPr>
        <p:spPr>
          <a:xfrm>
            <a:off x="7230014" y="491246"/>
            <a:ext cx="2611642" cy="338554"/>
          </a:xfrm>
          <a:prstGeom prst="rect">
            <a:avLst/>
          </a:prstGeom>
          <a:noFill/>
          <a:ln>
            <a:noFill/>
          </a:ln>
        </p:spPr>
        <p:txBody>
          <a:bodyPr wrap="square" rtlCol="0" anchor="ctr">
            <a:spAutoFit/>
          </a:bodyPr>
          <a:lstStyle/>
          <a:p>
            <a:pPr algn="r" fontAlgn="base">
              <a:spcBef>
                <a:spcPct val="0"/>
              </a:spcBef>
              <a:spcAft>
                <a:spcPct val="0"/>
              </a:spcAft>
              <a:buClrTx/>
              <a:buFontTx/>
              <a:buNone/>
            </a:pPr>
            <a:r>
              <a:rPr lang="fr-FR" sz="1600" b="1" kern="1200" dirty="0">
                <a:solidFill>
                  <a:srgbClr val="43B8ED"/>
                </a:solidFill>
                <a:latin typeface="Century Gothic" panose="020B0502020202020204" pitchFamily="34" charset="0"/>
                <a:ea typeface="+mn-ea"/>
                <a:cs typeface="Arial" pitchFamily="34" charset="0"/>
              </a:rPr>
              <a:t>Neutralité carbone</a:t>
            </a:r>
          </a:p>
        </p:txBody>
      </p:sp>
    </p:spTree>
    <p:extLst>
      <p:ext uri="{BB962C8B-B14F-4D97-AF65-F5344CB8AC3E}">
        <p14:creationId xmlns:p14="http://schemas.microsoft.com/office/powerpoint/2010/main" val="40211776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Graphique 10">
            <a:extLst>
              <a:ext uri="{FF2B5EF4-FFF2-40B4-BE49-F238E27FC236}">
                <a16:creationId xmlns:a16="http://schemas.microsoft.com/office/drawing/2014/main" id="{9510B7F8-A1C4-465C-94CD-A2E31995D403}"/>
              </a:ext>
            </a:extLst>
          </p:cNvPr>
          <p:cNvGraphicFramePr/>
          <p:nvPr>
            <p:extLst>
              <p:ext uri="{D42A27DB-BD31-4B8C-83A1-F6EECF244321}">
                <p14:modId xmlns:p14="http://schemas.microsoft.com/office/powerpoint/2010/main" val="3171835457"/>
              </p:ext>
            </p:extLst>
          </p:nvPr>
        </p:nvGraphicFramePr>
        <p:xfrm>
          <a:off x="-1679624" y="833852"/>
          <a:ext cx="11624627" cy="3808841"/>
        </p:xfrm>
        <a:graphic>
          <a:graphicData uri="http://schemas.openxmlformats.org/drawingml/2006/chart">
            <c:chart xmlns:c="http://schemas.openxmlformats.org/drawingml/2006/chart" xmlns:r="http://schemas.openxmlformats.org/officeDocument/2006/relationships" r:id="rId3"/>
          </a:graphicData>
        </a:graphic>
      </p:graphicFrame>
      <p:sp>
        <p:nvSpPr>
          <p:cNvPr id="5" name="Titre 4"/>
          <p:cNvSpPr>
            <a:spLocks noGrp="1"/>
          </p:cNvSpPr>
          <p:nvPr>
            <p:ph type="title"/>
          </p:nvPr>
        </p:nvSpPr>
        <p:spPr/>
        <p:txBody>
          <a:bodyPr/>
          <a:lstStyle/>
          <a:p>
            <a:r>
              <a:rPr lang="fr-FR" dirty="0"/>
              <a:t>Quelques actions pour agir</a:t>
            </a:r>
            <a:br>
              <a:rPr lang="fr-FR" dirty="0"/>
            </a:br>
            <a:r>
              <a:rPr lang="fr-FR" dirty="0">
                <a:solidFill>
                  <a:srgbClr val="F6AB38"/>
                </a:solidFill>
              </a:rPr>
              <a:t>Biens et services</a:t>
            </a:r>
          </a:p>
        </p:txBody>
      </p:sp>
      <p:sp>
        <p:nvSpPr>
          <p:cNvPr id="6" name="Espace réservé du numéro de diapositive 5">
            <a:extLst>
              <a:ext uri="{FF2B5EF4-FFF2-40B4-BE49-F238E27FC236}">
                <a16:creationId xmlns:a16="http://schemas.microsoft.com/office/drawing/2014/main" id="{6492ADFF-6538-4EC8-981D-456DDED25765}"/>
              </a:ext>
            </a:extLst>
          </p:cNvPr>
          <p:cNvSpPr>
            <a:spLocks noGrp="1"/>
          </p:cNvSpPr>
          <p:nvPr>
            <p:ph type="sldNum" sz="quarter" idx="4294967295"/>
          </p:nvPr>
        </p:nvSpPr>
        <p:spPr>
          <a:xfrm>
            <a:off x="11280576" y="6597352"/>
            <a:ext cx="864096" cy="260648"/>
          </a:xfrm>
          <a:prstGeom prst="rect">
            <a:avLst/>
          </a:prstGeom>
        </p:spPr>
        <p:txBody>
          <a:bodyPr anchor="ctr"/>
          <a:lstStyle>
            <a:defPPr>
              <a:defRPr lang="fr-FR"/>
            </a:defPPr>
            <a:lvl1pPr algn="r" rtl="0" fontAlgn="base">
              <a:spcBef>
                <a:spcPct val="0"/>
              </a:spcBef>
              <a:spcAft>
                <a:spcPct val="0"/>
              </a:spcAft>
              <a:defRPr sz="1400" b="1" kern="1200">
                <a:solidFill>
                  <a:schemeClr val="bg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a:lstStyle>
          <a:p>
            <a:pPr>
              <a:buClrTx/>
              <a:buFontTx/>
              <a:buNone/>
              <a:defRPr/>
            </a:pPr>
            <a:fld id="{977A11F6-3D0F-4813-9A73-318DF2A72F01}" type="slidenum">
              <a:rPr lang="en-US" smtClean="0">
                <a:solidFill>
                  <a:prstClr val="white"/>
                </a:solidFill>
              </a:rPr>
              <a:pPr>
                <a:buClrTx/>
                <a:buFontTx/>
                <a:buNone/>
                <a:defRPr/>
              </a:pPr>
              <a:t>30</a:t>
            </a:fld>
            <a:endParaRPr lang="en-US" dirty="0">
              <a:solidFill>
                <a:prstClr val="white"/>
              </a:solidFill>
            </a:endParaRPr>
          </a:p>
        </p:txBody>
      </p:sp>
      <p:sp>
        <p:nvSpPr>
          <p:cNvPr id="16" name="Espace réservé du contenu 2">
            <a:extLst>
              <a:ext uri="{FF2B5EF4-FFF2-40B4-BE49-F238E27FC236}">
                <a16:creationId xmlns:a16="http://schemas.microsoft.com/office/drawing/2014/main" id="{FBD6F843-1A88-462A-931D-75B029C9787C}"/>
              </a:ext>
            </a:extLst>
          </p:cNvPr>
          <p:cNvSpPr>
            <a:spLocks noGrp="1"/>
          </p:cNvSpPr>
          <p:nvPr>
            <p:ph idx="1"/>
          </p:nvPr>
        </p:nvSpPr>
        <p:spPr>
          <a:xfrm>
            <a:off x="1319274" y="4800834"/>
            <a:ext cx="8737174" cy="1296144"/>
          </a:xfrm>
        </p:spPr>
        <p:txBody>
          <a:bodyPr/>
          <a:lstStyle/>
          <a:p>
            <a:pPr>
              <a:buFont typeface="Arial" panose="020B0604020202020204" pitchFamily="34" charset="0"/>
              <a:buChar char="•"/>
            </a:pPr>
            <a:r>
              <a:rPr lang="fr-FR" sz="1600" dirty="0"/>
              <a:t>Allonger la durée de vie du matériel (matériel de qualité, réparation…)</a:t>
            </a:r>
          </a:p>
          <a:p>
            <a:pPr>
              <a:buFont typeface="Arial" panose="020B0604020202020204" pitchFamily="34" charset="0"/>
              <a:buChar char="•"/>
            </a:pPr>
            <a:r>
              <a:rPr lang="fr-FR" sz="1600" dirty="0"/>
              <a:t>Privilégier du matériel d'occasion ou de seconde main (récupération, friperies…)</a:t>
            </a:r>
          </a:p>
          <a:p>
            <a:pPr>
              <a:buFont typeface="Arial" panose="020B0604020202020204" pitchFamily="34" charset="0"/>
              <a:buChar char="•"/>
            </a:pPr>
            <a:r>
              <a:rPr lang="fr-FR" sz="1600" dirty="0"/>
              <a:t>Limiter l’usage du streaming vidéo. Eviter la HD.</a:t>
            </a:r>
          </a:p>
          <a:p>
            <a:pPr>
              <a:buFont typeface="Arial" panose="020B0604020202020204" pitchFamily="34" charset="0"/>
              <a:buChar char="•"/>
            </a:pPr>
            <a:r>
              <a:rPr lang="fr-FR" sz="1600" dirty="0"/>
              <a:t>Changer pour une banque investissant plutôt vers des projets bas-carbone</a:t>
            </a:r>
          </a:p>
        </p:txBody>
      </p:sp>
      <p:pic>
        <p:nvPicPr>
          <p:cNvPr id="13" name="Image 12">
            <a:extLst>
              <a:ext uri="{FF2B5EF4-FFF2-40B4-BE49-F238E27FC236}">
                <a16:creationId xmlns:a16="http://schemas.microsoft.com/office/drawing/2014/main" id="{A212A632-00F9-42A1-9F8E-DE0E7A56CF63}"/>
              </a:ext>
            </a:extLst>
          </p:cNvPr>
          <p:cNvPicPr>
            <a:picLocks noChangeAspect="1"/>
          </p:cNvPicPr>
          <p:nvPr/>
        </p:nvPicPr>
        <p:blipFill>
          <a:blip r:embed="rId4"/>
          <a:stretch>
            <a:fillRect/>
          </a:stretch>
        </p:blipFill>
        <p:spPr>
          <a:xfrm>
            <a:off x="2000622" y="1814552"/>
            <a:ext cx="1512168" cy="1512168"/>
          </a:xfrm>
          <a:prstGeom prst="rect">
            <a:avLst/>
          </a:prstGeom>
        </p:spPr>
      </p:pic>
      <p:sp>
        <p:nvSpPr>
          <p:cNvPr id="15" name="Rectangle 14">
            <a:extLst>
              <a:ext uri="{FF2B5EF4-FFF2-40B4-BE49-F238E27FC236}">
                <a16:creationId xmlns:a16="http://schemas.microsoft.com/office/drawing/2014/main" id="{62FBB5F0-3BA8-448D-87B7-0A8A13615BF5}"/>
              </a:ext>
            </a:extLst>
          </p:cNvPr>
          <p:cNvSpPr/>
          <p:nvPr/>
        </p:nvSpPr>
        <p:spPr>
          <a:xfrm>
            <a:off x="0" y="6597115"/>
            <a:ext cx="13568138" cy="338554"/>
          </a:xfrm>
          <a:prstGeom prst="rect">
            <a:avLst/>
          </a:prstGeom>
        </p:spPr>
        <p:txBody>
          <a:bodyPr wrap="none">
            <a:spAutoFit/>
          </a:bodyPr>
          <a:lstStyle/>
          <a:p>
            <a:pPr fontAlgn="base">
              <a:spcBef>
                <a:spcPct val="0"/>
              </a:spcBef>
              <a:spcAft>
                <a:spcPct val="0"/>
              </a:spcAft>
              <a:buClrTx/>
              <a:buFontTx/>
              <a:buNone/>
            </a:pPr>
            <a:r>
              <a:rPr lang="fr-FR" sz="1600" kern="1200" dirty="0">
                <a:solidFill>
                  <a:prstClr val="white"/>
                </a:solidFill>
                <a:latin typeface="Century Gothic" panose="020B0502020202020204" pitchFamily="34" charset="0"/>
                <a:ea typeface="+mn-ea"/>
                <a:cs typeface="Arial" pitchFamily="34" charset="0"/>
              </a:rPr>
              <a:t>Sources : Facteurs d’émission ADEME sauf Streaming (The Shift Project). Calculs Avenir Climatique, valeurs moyennes en France sur 1 an</a:t>
            </a:r>
          </a:p>
        </p:txBody>
      </p:sp>
      <p:cxnSp>
        <p:nvCxnSpPr>
          <p:cNvPr id="17" name="Connecteur droit 16">
            <a:extLst>
              <a:ext uri="{FF2B5EF4-FFF2-40B4-BE49-F238E27FC236}">
                <a16:creationId xmlns:a16="http://schemas.microsoft.com/office/drawing/2014/main" id="{DB8F616E-0DD8-4875-B447-B0E1C1B722A1}"/>
              </a:ext>
            </a:extLst>
          </p:cNvPr>
          <p:cNvCxnSpPr>
            <a:cxnSpLocks/>
          </p:cNvCxnSpPr>
          <p:nvPr/>
        </p:nvCxnSpPr>
        <p:spPr>
          <a:xfrm flipV="1">
            <a:off x="9718702" y="1455601"/>
            <a:ext cx="0" cy="2525513"/>
          </a:xfrm>
          <a:prstGeom prst="line">
            <a:avLst/>
          </a:prstGeom>
          <a:ln w="38100">
            <a:solidFill>
              <a:srgbClr val="43B8ED"/>
            </a:solidFill>
          </a:ln>
        </p:spPr>
        <p:style>
          <a:lnRef idx="1">
            <a:schemeClr val="accent1"/>
          </a:lnRef>
          <a:fillRef idx="0">
            <a:schemeClr val="accent1"/>
          </a:fillRef>
          <a:effectRef idx="0">
            <a:schemeClr val="accent1"/>
          </a:effectRef>
          <a:fontRef idx="minor">
            <a:schemeClr val="tx1"/>
          </a:fontRef>
        </p:style>
      </p:cxnSp>
      <p:pic>
        <p:nvPicPr>
          <p:cNvPr id="20" name="Image 19">
            <a:extLst>
              <a:ext uri="{FF2B5EF4-FFF2-40B4-BE49-F238E27FC236}">
                <a16:creationId xmlns:a16="http://schemas.microsoft.com/office/drawing/2014/main" id="{26204DF0-C516-4AD9-BA38-8B70FD35C4DC}"/>
              </a:ext>
            </a:extLst>
          </p:cNvPr>
          <p:cNvPicPr>
            <a:picLocks noChangeAspect="1"/>
          </p:cNvPicPr>
          <p:nvPr/>
        </p:nvPicPr>
        <p:blipFill rotWithShape="1">
          <a:blip r:embed="rId5">
            <a:clrChange>
              <a:clrFrom>
                <a:srgbClr val="FFFFFF"/>
              </a:clrFrom>
              <a:clrTo>
                <a:srgbClr val="FFFFFF">
                  <a:alpha val="0"/>
                </a:srgbClr>
              </a:clrTo>
            </a:clrChange>
          </a:blip>
          <a:srcRect r="6871"/>
          <a:stretch/>
        </p:blipFill>
        <p:spPr>
          <a:xfrm>
            <a:off x="9459325" y="791762"/>
            <a:ext cx="537352" cy="491283"/>
          </a:xfrm>
          <a:prstGeom prst="rect">
            <a:avLst/>
          </a:prstGeom>
        </p:spPr>
      </p:pic>
      <p:sp>
        <p:nvSpPr>
          <p:cNvPr id="14" name="Google Shape;130;p3">
            <a:extLst>
              <a:ext uri="{FF2B5EF4-FFF2-40B4-BE49-F238E27FC236}">
                <a16:creationId xmlns:a16="http://schemas.microsoft.com/office/drawing/2014/main" id="{65A256E2-A411-44DF-90C9-DA000677C09E}"/>
              </a:ext>
            </a:extLst>
          </p:cNvPr>
          <p:cNvSpPr txBox="1">
            <a:spLocks/>
          </p:cNvSpPr>
          <p:nvPr/>
        </p:nvSpPr>
        <p:spPr>
          <a:xfrm>
            <a:off x="0" y="6294927"/>
            <a:ext cx="611188" cy="365125"/>
          </a:xfrm>
          <a:prstGeom prst="rect">
            <a:avLst/>
          </a:prstGeom>
          <a:noFill/>
          <a:ln>
            <a:noFill/>
          </a:ln>
        </p:spPr>
        <p:txBody>
          <a:bodyPr spcFirstLastPara="1" wrap="square" lIns="0" tIns="0" rIns="0" bIns="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
                <a:srgbClr val="000000"/>
              </a:buClr>
              <a:buSzPts val="1400"/>
              <a:buFont typeface="Arial"/>
              <a:buNone/>
            </a:pPr>
            <a:fld id="{00000000-1234-1234-1234-123412341234}" type="slidenum">
              <a:rPr lang="fr-FR" smtClean="0"/>
              <a:pPr algn="ctr">
                <a:buClr>
                  <a:srgbClr val="000000"/>
                </a:buClr>
                <a:buSzPts val="1400"/>
                <a:buFont typeface="Arial"/>
                <a:buNone/>
              </a:pPr>
              <a:t>30</a:t>
            </a:fld>
            <a:endParaRPr lang="fr-FR" dirty="0"/>
          </a:p>
        </p:txBody>
      </p:sp>
    </p:spTree>
    <p:extLst>
      <p:ext uri="{BB962C8B-B14F-4D97-AF65-F5344CB8AC3E}">
        <p14:creationId xmlns:p14="http://schemas.microsoft.com/office/powerpoint/2010/main" val="13444752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Graphique 10">
            <a:extLst>
              <a:ext uri="{FF2B5EF4-FFF2-40B4-BE49-F238E27FC236}">
                <a16:creationId xmlns:a16="http://schemas.microsoft.com/office/drawing/2014/main" id="{9DCA84B1-C885-449F-BE65-026F658D66DE}"/>
              </a:ext>
            </a:extLst>
          </p:cNvPr>
          <p:cNvGraphicFramePr/>
          <p:nvPr>
            <p:extLst>
              <p:ext uri="{D42A27DB-BD31-4B8C-83A1-F6EECF244321}">
                <p14:modId xmlns:p14="http://schemas.microsoft.com/office/powerpoint/2010/main" val="1350345688"/>
              </p:ext>
            </p:extLst>
          </p:nvPr>
        </p:nvGraphicFramePr>
        <p:xfrm>
          <a:off x="-5598392" y="1153935"/>
          <a:ext cx="16737195" cy="3808841"/>
        </p:xfrm>
        <a:graphic>
          <a:graphicData uri="http://schemas.openxmlformats.org/drawingml/2006/chart">
            <c:chart xmlns:c="http://schemas.openxmlformats.org/drawingml/2006/chart" xmlns:r="http://schemas.openxmlformats.org/officeDocument/2006/relationships" r:id="rId3"/>
          </a:graphicData>
        </a:graphic>
      </p:graphicFrame>
      <p:sp>
        <p:nvSpPr>
          <p:cNvPr id="5" name="Titre 4"/>
          <p:cNvSpPr>
            <a:spLocks noGrp="1"/>
          </p:cNvSpPr>
          <p:nvPr>
            <p:ph type="title"/>
          </p:nvPr>
        </p:nvSpPr>
        <p:spPr/>
        <p:txBody>
          <a:bodyPr/>
          <a:lstStyle/>
          <a:p>
            <a:r>
              <a:rPr lang="fr-FR" dirty="0"/>
              <a:t>Quelques actions pour agir</a:t>
            </a:r>
            <a:br>
              <a:rPr lang="fr-FR" dirty="0"/>
            </a:br>
            <a:r>
              <a:rPr lang="fr-FR" dirty="0">
                <a:solidFill>
                  <a:srgbClr val="F6AB38"/>
                </a:solidFill>
              </a:rPr>
              <a:t>Alimentation</a:t>
            </a:r>
          </a:p>
        </p:txBody>
      </p:sp>
      <p:sp>
        <p:nvSpPr>
          <p:cNvPr id="6" name="Espace réservé du numéro de diapositive 5">
            <a:extLst>
              <a:ext uri="{FF2B5EF4-FFF2-40B4-BE49-F238E27FC236}">
                <a16:creationId xmlns:a16="http://schemas.microsoft.com/office/drawing/2014/main" id="{6492ADFF-6538-4EC8-981D-456DDED25765}"/>
              </a:ext>
            </a:extLst>
          </p:cNvPr>
          <p:cNvSpPr>
            <a:spLocks noGrp="1"/>
          </p:cNvSpPr>
          <p:nvPr>
            <p:ph type="sldNum" sz="quarter" idx="4294967295"/>
          </p:nvPr>
        </p:nvSpPr>
        <p:spPr>
          <a:xfrm>
            <a:off x="11280576" y="6597352"/>
            <a:ext cx="864096" cy="260648"/>
          </a:xfrm>
          <a:prstGeom prst="rect">
            <a:avLst/>
          </a:prstGeom>
        </p:spPr>
        <p:txBody>
          <a:bodyPr anchor="ctr"/>
          <a:lstStyle>
            <a:defPPr>
              <a:defRPr lang="fr-FR"/>
            </a:defPPr>
            <a:lvl1pPr algn="r" rtl="0" fontAlgn="base">
              <a:spcBef>
                <a:spcPct val="0"/>
              </a:spcBef>
              <a:spcAft>
                <a:spcPct val="0"/>
              </a:spcAft>
              <a:defRPr sz="1400" b="1" kern="1200">
                <a:solidFill>
                  <a:schemeClr val="bg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a:lstStyle>
          <a:p>
            <a:pPr>
              <a:buClrTx/>
              <a:buFontTx/>
              <a:buNone/>
              <a:defRPr/>
            </a:pPr>
            <a:fld id="{977A11F6-3D0F-4813-9A73-318DF2A72F01}" type="slidenum">
              <a:rPr lang="en-US" smtClean="0">
                <a:solidFill>
                  <a:prstClr val="white"/>
                </a:solidFill>
              </a:rPr>
              <a:pPr>
                <a:buClrTx/>
                <a:buFontTx/>
                <a:buNone/>
                <a:defRPr/>
              </a:pPr>
              <a:t>31</a:t>
            </a:fld>
            <a:endParaRPr lang="en-US" dirty="0">
              <a:solidFill>
                <a:prstClr val="white"/>
              </a:solidFill>
            </a:endParaRPr>
          </a:p>
        </p:txBody>
      </p:sp>
      <p:sp>
        <p:nvSpPr>
          <p:cNvPr id="16" name="Espace réservé du contenu 2">
            <a:extLst>
              <a:ext uri="{FF2B5EF4-FFF2-40B4-BE49-F238E27FC236}">
                <a16:creationId xmlns:a16="http://schemas.microsoft.com/office/drawing/2014/main" id="{FBD6F843-1A88-462A-931D-75B029C9787C}"/>
              </a:ext>
            </a:extLst>
          </p:cNvPr>
          <p:cNvSpPr>
            <a:spLocks noGrp="1"/>
          </p:cNvSpPr>
          <p:nvPr>
            <p:ph idx="1"/>
          </p:nvPr>
        </p:nvSpPr>
        <p:spPr>
          <a:xfrm>
            <a:off x="1022363" y="5008836"/>
            <a:ext cx="10393350" cy="1368152"/>
          </a:xfrm>
        </p:spPr>
        <p:txBody>
          <a:bodyPr/>
          <a:lstStyle/>
          <a:p>
            <a:pPr marL="285750" indent="-285750">
              <a:buFont typeface="Arial" panose="020B0604020202020204" pitchFamily="34" charset="0"/>
              <a:buChar char="•"/>
            </a:pPr>
            <a:r>
              <a:rPr lang="fr-FR" sz="1600" dirty="0"/>
              <a:t>Limiter fortement la consommation de viande, notamment la viande rouge.</a:t>
            </a:r>
          </a:p>
          <a:p>
            <a:pPr marL="285750" indent="-285750">
              <a:buFont typeface="Arial" panose="020B0604020202020204" pitchFamily="34" charset="0"/>
              <a:buChar char="•"/>
            </a:pPr>
            <a:r>
              <a:rPr lang="fr-FR" sz="1600" dirty="0"/>
              <a:t>Préférer les fruits et légumes de saison et de production locale.</a:t>
            </a:r>
          </a:p>
          <a:p>
            <a:pPr marL="285750" indent="-285750">
              <a:buFont typeface="Arial" panose="020B0604020202020204" pitchFamily="34" charset="0"/>
              <a:buChar char="•"/>
            </a:pPr>
            <a:r>
              <a:rPr lang="fr-FR" sz="1600" dirty="0"/>
              <a:t>Privilégier l'eau du robinet</a:t>
            </a:r>
          </a:p>
          <a:p>
            <a:pPr marL="285750" indent="-285750">
              <a:buFont typeface="Arial" panose="020B0604020202020204" pitchFamily="34" charset="0"/>
              <a:buChar char="•"/>
            </a:pPr>
            <a:r>
              <a:rPr lang="fr-FR" sz="1600" dirty="0"/>
              <a:t>Adopter une démarche zéro déchets (courses en vrac...)</a:t>
            </a:r>
          </a:p>
          <a:p>
            <a:pPr marL="285750" indent="-285750">
              <a:buFont typeface="Arial" panose="020B0604020202020204" pitchFamily="34" charset="0"/>
              <a:buChar char="•"/>
            </a:pPr>
            <a:endParaRPr lang="fr-FR" sz="1600" dirty="0"/>
          </a:p>
        </p:txBody>
      </p:sp>
      <p:sp>
        <p:nvSpPr>
          <p:cNvPr id="13" name="Rectangle 12">
            <a:extLst>
              <a:ext uri="{FF2B5EF4-FFF2-40B4-BE49-F238E27FC236}">
                <a16:creationId xmlns:a16="http://schemas.microsoft.com/office/drawing/2014/main" id="{4238938C-AC68-4A37-82EB-47B42CC6DD4B}"/>
              </a:ext>
            </a:extLst>
          </p:cNvPr>
          <p:cNvSpPr/>
          <p:nvPr/>
        </p:nvSpPr>
        <p:spPr>
          <a:xfrm>
            <a:off x="0" y="6597115"/>
            <a:ext cx="10280378" cy="338554"/>
          </a:xfrm>
          <a:prstGeom prst="rect">
            <a:avLst/>
          </a:prstGeom>
        </p:spPr>
        <p:txBody>
          <a:bodyPr wrap="none">
            <a:spAutoFit/>
          </a:bodyPr>
          <a:lstStyle/>
          <a:p>
            <a:pPr fontAlgn="base">
              <a:spcBef>
                <a:spcPct val="0"/>
              </a:spcBef>
              <a:spcAft>
                <a:spcPct val="0"/>
              </a:spcAft>
              <a:buClrTx/>
              <a:buFontTx/>
              <a:buNone/>
            </a:pPr>
            <a:r>
              <a:rPr lang="fr-FR" sz="1600" kern="1200" dirty="0">
                <a:solidFill>
                  <a:prstClr val="white"/>
                </a:solidFill>
                <a:latin typeface="Century Gothic" panose="020B0502020202020204" pitchFamily="34" charset="0"/>
                <a:ea typeface="+mn-ea"/>
                <a:cs typeface="Arial" pitchFamily="34" charset="0"/>
              </a:rPr>
              <a:t>Sources : Facteurs d’émission ADEME, Calculs Avenir Climatique, valeurs moyennes en France sur 1 an</a:t>
            </a:r>
          </a:p>
        </p:txBody>
      </p:sp>
      <p:pic>
        <p:nvPicPr>
          <p:cNvPr id="7" name="Image 6">
            <a:extLst>
              <a:ext uri="{FF2B5EF4-FFF2-40B4-BE49-F238E27FC236}">
                <a16:creationId xmlns:a16="http://schemas.microsoft.com/office/drawing/2014/main" id="{88DEEB64-4212-4F99-94DD-7ECCE2A4BD32}"/>
              </a:ext>
            </a:extLst>
          </p:cNvPr>
          <p:cNvPicPr>
            <a:picLocks noChangeAspect="1"/>
          </p:cNvPicPr>
          <p:nvPr/>
        </p:nvPicPr>
        <p:blipFill>
          <a:blip r:embed="rId4"/>
          <a:stretch>
            <a:fillRect/>
          </a:stretch>
        </p:blipFill>
        <p:spPr>
          <a:xfrm>
            <a:off x="848598" y="2075012"/>
            <a:ext cx="1656680" cy="1656680"/>
          </a:xfrm>
          <a:prstGeom prst="rect">
            <a:avLst/>
          </a:prstGeom>
        </p:spPr>
      </p:pic>
      <p:cxnSp>
        <p:nvCxnSpPr>
          <p:cNvPr id="12" name="Connecteur droit 11">
            <a:extLst>
              <a:ext uri="{FF2B5EF4-FFF2-40B4-BE49-F238E27FC236}">
                <a16:creationId xmlns:a16="http://schemas.microsoft.com/office/drawing/2014/main" id="{07374309-17B5-4B33-ACE3-11E9A7D8B5E8}"/>
              </a:ext>
            </a:extLst>
          </p:cNvPr>
          <p:cNvCxnSpPr>
            <a:cxnSpLocks/>
          </p:cNvCxnSpPr>
          <p:nvPr/>
        </p:nvCxnSpPr>
        <p:spPr>
          <a:xfrm flipV="1">
            <a:off x="8962418" y="1706083"/>
            <a:ext cx="0" cy="2525513"/>
          </a:xfrm>
          <a:prstGeom prst="line">
            <a:avLst/>
          </a:prstGeom>
          <a:ln w="38100">
            <a:solidFill>
              <a:srgbClr val="43B8ED"/>
            </a:solidFill>
          </a:ln>
        </p:spPr>
        <p:style>
          <a:lnRef idx="1">
            <a:schemeClr val="accent1"/>
          </a:lnRef>
          <a:fillRef idx="0">
            <a:schemeClr val="accent1"/>
          </a:fillRef>
          <a:effectRef idx="0">
            <a:schemeClr val="accent1"/>
          </a:effectRef>
          <a:fontRef idx="minor">
            <a:schemeClr val="tx1"/>
          </a:fontRef>
        </p:style>
      </p:cxnSp>
      <p:pic>
        <p:nvPicPr>
          <p:cNvPr id="15" name="Image 14">
            <a:extLst>
              <a:ext uri="{FF2B5EF4-FFF2-40B4-BE49-F238E27FC236}">
                <a16:creationId xmlns:a16="http://schemas.microsoft.com/office/drawing/2014/main" id="{8983906F-07AE-4F7E-94C0-F2478CA04379}"/>
              </a:ext>
            </a:extLst>
          </p:cNvPr>
          <p:cNvPicPr>
            <a:picLocks noChangeAspect="1"/>
          </p:cNvPicPr>
          <p:nvPr/>
        </p:nvPicPr>
        <p:blipFill rotWithShape="1">
          <a:blip r:embed="rId5">
            <a:clrChange>
              <a:clrFrom>
                <a:srgbClr val="FFFFFF"/>
              </a:clrFrom>
              <a:clrTo>
                <a:srgbClr val="FFFFFF">
                  <a:alpha val="0"/>
                </a:srgbClr>
              </a:clrTo>
            </a:clrChange>
          </a:blip>
          <a:srcRect r="6871"/>
          <a:stretch/>
        </p:blipFill>
        <p:spPr>
          <a:xfrm>
            <a:off x="8737316" y="994436"/>
            <a:ext cx="537352" cy="491283"/>
          </a:xfrm>
          <a:prstGeom prst="rect">
            <a:avLst/>
          </a:prstGeom>
        </p:spPr>
      </p:pic>
      <p:sp>
        <p:nvSpPr>
          <p:cNvPr id="10" name="Google Shape;130;p3">
            <a:extLst>
              <a:ext uri="{FF2B5EF4-FFF2-40B4-BE49-F238E27FC236}">
                <a16:creationId xmlns:a16="http://schemas.microsoft.com/office/drawing/2014/main" id="{AD370123-9EC5-49A7-9D21-1B2194A30146}"/>
              </a:ext>
            </a:extLst>
          </p:cNvPr>
          <p:cNvSpPr txBox="1">
            <a:spLocks/>
          </p:cNvSpPr>
          <p:nvPr/>
        </p:nvSpPr>
        <p:spPr>
          <a:xfrm>
            <a:off x="0" y="6306650"/>
            <a:ext cx="611188" cy="365125"/>
          </a:xfrm>
          <a:prstGeom prst="rect">
            <a:avLst/>
          </a:prstGeom>
          <a:noFill/>
          <a:ln>
            <a:noFill/>
          </a:ln>
        </p:spPr>
        <p:txBody>
          <a:bodyPr spcFirstLastPara="1" wrap="square" lIns="0" tIns="0" rIns="0" bIns="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
                <a:srgbClr val="000000"/>
              </a:buClr>
              <a:buSzPts val="1400"/>
              <a:buFont typeface="Arial"/>
              <a:buNone/>
            </a:pPr>
            <a:fld id="{00000000-1234-1234-1234-123412341234}" type="slidenum">
              <a:rPr lang="fr-FR" smtClean="0"/>
              <a:pPr algn="ctr">
                <a:buClr>
                  <a:srgbClr val="000000"/>
                </a:buClr>
                <a:buSzPts val="1400"/>
                <a:buFont typeface="Arial"/>
                <a:buNone/>
              </a:pPr>
              <a:t>31</a:t>
            </a:fld>
            <a:endParaRPr lang="fr-FR" dirty="0"/>
          </a:p>
        </p:txBody>
      </p:sp>
    </p:spTree>
    <p:extLst>
      <p:ext uri="{BB962C8B-B14F-4D97-AF65-F5344CB8AC3E}">
        <p14:creationId xmlns:p14="http://schemas.microsoft.com/office/powerpoint/2010/main" val="31925465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p:txBody>
          <a:bodyPr/>
          <a:lstStyle/>
          <a:p>
            <a:r>
              <a:rPr lang="fr-FR" dirty="0"/>
              <a:t>Quelques actions pour agir</a:t>
            </a:r>
            <a:br>
              <a:rPr lang="fr-FR" dirty="0"/>
            </a:br>
            <a:r>
              <a:rPr lang="fr-FR" dirty="0">
                <a:solidFill>
                  <a:srgbClr val="F6AB38"/>
                </a:solidFill>
              </a:rPr>
              <a:t>Habitat</a:t>
            </a:r>
          </a:p>
        </p:txBody>
      </p:sp>
      <p:sp>
        <p:nvSpPr>
          <p:cNvPr id="2" name="Rectangle 1">
            <a:extLst>
              <a:ext uri="{FF2B5EF4-FFF2-40B4-BE49-F238E27FC236}">
                <a16:creationId xmlns:a16="http://schemas.microsoft.com/office/drawing/2014/main" id="{FF683474-91F4-48F8-98C2-FB48AEC7F85E}"/>
              </a:ext>
            </a:extLst>
          </p:cNvPr>
          <p:cNvSpPr/>
          <p:nvPr/>
        </p:nvSpPr>
        <p:spPr>
          <a:xfrm>
            <a:off x="0" y="6597115"/>
            <a:ext cx="10280378" cy="338554"/>
          </a:xfrm>
          <a:prstGeom prst="rect">
            <a:avLst/>
          </a:prstGeom>
        </p:spPr>
        <p:txBody>
          <a:bodyPr wrap="none">
            <a:spAutoFit/>
          </a:bodyPr>
          <a:lstStyle/>
          <a:p>
            <a:pPr fontAlgn="base">
              <a:spcBef>
                <a:spcPct val="0"/>
              </a:spcBef>
              <a:spcAft>
                <a:spcPct val="0"/>
              </a:spcAft>
              <a:buClrTx/>
              <a:buFontTx/>
              <a:buNone/>
            </a:pPr>
            <a:r>
              <a:rPr lang="fr-FR" sz="1600" kern="1200" dirty="0">
                <a:solidFill>
                  <a:prstClr val="white"/>
                </a:solidFill>
                <a:latin typeface="Century Gothic" panose="020B0502020202020204" pitchFamily="34" charset="0"/>
                <a:ea typeface="+mn-ea"/>
                <a:cs typeface="Arial" pitchFamily="34" charset="0"/>
              </a:rPr>
              <a:t>Sources : Facteurs d’émission ADEME, Calculs Avenir Climatique, valeurs moyennes en France sur 1 an</a:t>
            </a:r>
          </a:p>
        </p:txBody>
      </p:sp>
      <p:sp>
        <p:nvSpPr>
          <p:cNvPr id="6" name="Espace réservé du numéro de diapositive 5">
            <a:extLst>
              <a:ext uri="{FF2B5EF4-FFF2-40B4-BE49-F238E27FC236}">
                <a16:creationId xmlns:a16="http://schemas.microsoft.com/office/drawing/2014/main" id="{6492ADFF-6538-4EC8-981D-456DDED25765}"/>
              </a:ext>
            </a:extLst>
          </p:cNvPr>
          <p:cNvSpPr>
            <a:spLocks noGrp="1"/>
          </p:cNvSpPr>
          <p:nvPr>
            <p:ph type="sldNum" sz="quarter" idx="4294967295"/>
          </p:nvPr>
        </p:nvSpPr>
        <p:spPr>
          <a:xfrm>
            <a:off x="11280576" y="6597352"/>
            <a:ext cx="864096" cy="260648"/>
          </a:xfrm>
          <a:prstGeom prst="rect">
            <a:avLst/>
          </a:prstGeom>
        </p:spPr>
        <p:txBody>
          <a:bodyPr anchor="ctr"/>
          <a:lstStyle>
            <a:defPPr>
              <a:defRPr lang="fr-FR"/>
            </a:defPPr>
            <a:lvl1pPr algn="r" rtl="0" fontAlgn="base">
              <a:spcBef>
                <a:spcPct val="0"/>
              </a:spcBef>
              <a:spcAft>
                <a:spcPct val="0"/>
              </a:spcAft>
              <a:defRPr sz="1400" b="1" kern="1200">
                <a:solidFill>
                  <a:schemeClr val="bg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a:lstStyle>
          <a:p>
            <a:pPr>
              <a:buClrTx/>
              <a:buFontTx/>
              <a:buNone/>
              <a:defRPr/>
            </a:pPr>
            <a:fld id="{977A11F6-3D0F-4813-9A73-318DF2A72F01}" type="slidenum">
              <a:rPr lang="en-US" smtClean="0">
                <a:solidFill>
                  <a:prstClr val="white"/>
                </a:solidFill>
              </a:rPr>
              <a:pPr>
                <a:buClrTx/>
                <a:buFontTx/>
                <a:buNone/>
                <a:defRPr/>
              </a:pPr>
              <a:t>32</a:t>
            </a:fld>
            <a:endParaRPr lang="en-US" dirty="0">
              <a:solidFill>
                <a:prstClr val="white"/>
              </a:solidFill>
            </a:endParaRPr>
          </a:p>
        </p:txBody>
      </p:sp>
      <p:sp>
        <p:nvSpPr>
          <p:cNvPr id="16" name="Espace réservé du contenu 2">
            <a:extLst>
              <a:ext uri="{FF2B5EF4-FFF2-40B4-BE49-F238E27FC236}">
                <a16:creationId xmlns:a16="http://schemas.microsoft.com/office/drawing/2014/main" id="{FBD6F843-1A88-462A-931D-75B029C9787C}"/>
              </a:ext>
            </a:extLst>
          </p:cNvPr>
          <p:cNvSpPr>
            <a:spLocks noGrp="1"/>
          </p:cNvSpPr>
          <p:nvPr>
            <p:ph idx="1"/>
          </p:nvPr>
        </p:nvSpPr>
        <p:spPr>
          <a:xfrm>
            <a:off x="611188" y="5068559"/>
            <a:ext cx="10393350" cy="1219519"/>
          </a:xfrm>
        </p:spPr>
        <p:txBody>
          <a:bodyPr/>
          <a:lstStyle/>
          <a:p>
            <a:pPr marL="342900">
              <a:buFont typeface="Arial" panose="020B0604020202020204" pitchFamily="34" charset="0"/>
              <a:buChar char="•"/>
            </a:pPr>
            <a:r>
              <a:rPr lang="fr-FR" sz="1600" dirty="0"/>
              <a:t>Privilégier un habitat léger ou un logement vacant à réhabiliter. Limiter la surface à construire</a:t>
            </a:r>
          </a:p>
          <a:p>
            <a:pPr marL="342900">
              <a:buFont typeface="Arial" panose="020B0604020202020204" pitchFamily="34" charset="0"/>
              <a:buChar char="•"/>
            </a:pPr>
            <a:r>
              <a:rPr lang="fr-FR" sz="1600" dirty="0"/>
              <a:t>Effectuer des travaux de rénovation thermique en visant l'objectif BBC rénovation. </a:t>
            </a:r>
          </a:p>
          <a:p>
            <a:pPr marL="342900">
              <a:buFont typeface="Arial" panose="020B0604020202020204" pitchFamily="34" charset="0"/>
              <a:buChar char="•"/>
            </a:pPr>
            <a:r>
              <a:rPr lang="fr-FR" sz="1600" dirty="0"/>
              <a:t>Privilégier un chauffage bas carbone (bois, pompes à chaleur...). </a:t>
            </a:r>
          </a:p>
          <a:p>
            <a:pPr marL="342900">
              <a:buFont typeface="Arial" panose="020B0604020202020204" pitchFamily="34" charset="0"/>
              <a:buChar char="•"/>
            </a:pPr>
            <a:r>
              <a:rPr lang="fr-FR" sz="1600" dirty="0"/>
              <a:t>Limiter la température de chauffage. Limiter la surface de chauffe par personne.</a:t>
            </a:r>
          </a:p>
        </p:txBody>
      </p:sp>
      <p:pic>
        <p:nvPicPr>
          <p:cNvPr id="10" name="Image 9">
            <a:extLst>
              <a:ext uri="{FF2B5EF4-FFF2-40B4-BE49-F238E27FC236}">
                <a16:creationId xmlns:a16="http://schemas.microsoft.com/office/drawing/2014/main" id="{14476A91-F00D-4326-98B9-09E97C2271F4}"/>
              </a:ext>
            </a:extLst>
          </p:cNvPr>
          <p:cNvPicPr>
            <a:picLocks noChangeAspect="1"/>
          </p:cNvPicPr>
          <p:nvPr/>
        </p:nvPicPr>
        <p:blipFill>
          <a:blip r:embed="rId3"/>
          <a:stretch>
            <a:fillRect/>
          </a:stretch>
        </p:blipFill>
        <p:spPr>
          <a:xfrm>
            <a:off x="1192259" y="2158962"/>
            <a:ext cx="1560785" cy="1560785"/>
          </a:xfrm>
          <a:prstGeom prst="rect">
            <a:avLst/>
          </a:prstGeom>
        </p:spPr>
      </p:pic>
      <p:graphicFrame>
        <p:nvGraphicFramePr>
          <p:cNvPr id="17" name="Graphique 16">
            <a:extLst>
              <a:ext uri="{FF2B5EF4-FFF2-40B4-BE49-F238E27FC236}">
                <a16:creationId xmlns:a16="http://schemas.microsoft.com/office/drawing/2014/main" id="{5DB743F7-BD0A-4426-8B74-F2963163BEBD}"/>
              </a:ext>
            </a:extLst>
          </p:cNvPr>
          <p:cNvGraphicFramePr/>
          <p:nvPr>
            <p:extLst>
              <p:ext uri="{D42A27DB-BD31-4B8C-83A1-F6EECF244321}">
                <p14:modId xmlns:p14="http://schemas.microsoft.com/office/powerpoint/2010/main" val="770721208"/>
              </p:ext>
            </p:extLst>
          </p:nvPr>
        </p:nvGraphicFramePr>
        <p:xfrm>
          <a:off x="-5615554" y="1170808"/>
          <a:ext cx="16737195" cy="3808841"/>
        </p:xfrm>
        <a:graphic>
          <a:graphicData uri="http://schemas.openxmlformats.org/drawingml/2006/chart">
            <c:chart xmlns:c="http://schemas.openxmlformats.org/drawingml/2006/chart" xmlns:r="http://schemas.openxmlformats.org/officeDocument/2006/relationships" r:id="rId4"/>
          </a:graphicData>
        </a:graphic>
      </p:graphicFrame>
      <p:cxnSp>
        <p:nvCxnSpPr>
          <p:cNvPr id="20" name="Connecteur droit 19">
            <a:extLst>
              <a:ext uri="{FF2B5EF4-FFF2-40B4-BE49-F238E27FC236}">
                <a16:creationId xmlns:a16="http://schemas.microsoft.com/office/drawing/2014/main" id="{BE885A2D-674A-4DEC-B330-1FE06E5C8BDC}"/>
              </a:ext>
            </a:extLst>
          </p:cNvPr>
          <p:cNvCxnSpPr>
            <a:cxnSpLocks/>
          </p:cNvCxnSpPr>
          <p:nvPr/>
        </p:nvCxnSpPr>
        <p:spPr>
          <a:xfrm flipV="1">
            <a:off x="8024870" y="1392529"/>
            <a:ext cx="0" cy="2821084"/>
          </a:xfrm>
          <a:prstGeom prst="line">
            <a:avLst/>
          </a:prstGeom>
          <a:ln w="38100">
            <a:solidFill>
              <a:srgbClr val="43B8ED"/>
            </a:solidFill>
          </a:ln>
        </p:spPr>
        <p:style>
          <a:lnRef idx="1">
            <a:schemeClr val="accent1"/>
          </a:lnRef>
          <a:fillRef idx="0">
            <a:schemeClr val="accent1"/>
          </a:fillRef>
          <a:effectRef idx="0">
            <a:schemeClr val="accent1"/>
          </a:effectRef>
          <a:fontRef idx="minor">
            <a:schemeClr val="tx1"/>
          </a:fontRef>
        </p:style>
      </p:cxnSp>
      <p:pic>
        <p:nvPicPr>
          <p:cNvPr id="21" name="Image 20">
            <a:extLst>
              <a:ext uri="{FF2B5EF4-FFF2-40B4-BE49-F238E27FC236}">
                <a16:creationId xmlns:a16="http://schemas.microsoft.com/office/drawing/2014/main" id="{4E685700-B59F-4D4B-8167-DD70C88A6EB5}"/>
              </a:ext>
            </a:extLst>
          </p:cNvPr>
          <p:cNvPicPr>
            <a:picLocks noChangeAspect="1"/>
          </p:cNvPicPr>
          <p:nvPr/>
        </p:nvPicPr>
        <p:blipFill rotWithShape="1">
          <a:blip r:embed="rId5">
            <a:clrChange>
              <a:clrFrom>
                <a:srgbClr val="FFFFFF"/>
              </a:clrFrom>
              <a:clrTo>
                <a:srgbClr val="FFFFFF">
                  <a:alpha val="0"/>
                </a:srgbClr>
              </a:clrTo>
            </a:clrChange>
          </a:blip>
          <a:srcRect r="6871"/>
          <a:stretch/>
        </p:blipFill>
        <p:spPr>
          <a:xfrm>
            <a:off x="7756194" y="901246"/>
            <a:ext cx="537352" cy="491283"/>
          </a:xfrm>
          <a:prstGeom prst="rect">
            <a:avLst/>
          </a:prstGeom>
        </p:spPr>
      </p:pic>
      <p:pic>
        <p:nvPicPr>
          <p:cNvPr id="11" name="Image 10" descr="Une image contenant lumière, dessin&#10;&#10;Description générée automatiquement">
            <a:extLst>
              <a:ext uri="{FF2B5EF4-FFF2-40B4-BE49-F238E27FC236}">
                <a16:creationId xmlns:a16="http://schemas.microsoft.com/office/drawing/2014/main" id="{A92A253C-28BA-4E56-9591-08B224877F8D}"/>
              </a:ext>
            </a:extLst>
          </p:cNvPr>
          <p:cNvPicPr>
            <a:picLocks noChangeAspect="1"/>
          </p:cNvPicPr>
          <p:nvPr/>
        </p:nvPicPr>
        <p:blipFill>
          <a:blip r:embed="rId6"/>
          <a:stretch>
            <a:fillRect/>
          </a:stretch>
        </p:blipFill>
        <p:spPr>
          <a:xfrm>
            <a:off x="2984737" y="1209351"/>
            <a:ext cx="434473" cy="425433"/>
          </a:xfrm>
          <a:prstGeom prst="rect">
            <a:avLst/>
          </a:prstGeom>
        </p:spPr>
      </p:pic>
      <p:pic>
        <p:nvPicPr>
          <p:cNvPr id="13" name="Image 12" descr="Une image contenant signe&#10;&#10;Description générée automatiquement">
            <a:extLst>
              <a:ext uri="{FF2B5EF4-FFF2-40B4-BE49-F238E27FC236}">
                <a16:creationId xmlns:a16="http://schemas.microsoft.com/office/drawing/2014/main" id="{26C52B46-B66E-480A-AB7E-3D94C4556F9D}"/>
              </a:ext>
            </a:extLst>
          </p:cNvPr>
          <p:cNvPicPr>
            <a:picLocks noChangeAspect="1"/>
          </p:cNvPicPr>
          <p:nvPr/>
        </p:nvPicPr>
        <p:blipFill>
          <a:blip r:embed="rId7"/>
          <a:stretch>
            <a:fillRect/>
          </a:stretch>
        </p:blipFill>
        <p:spPr>
          <a:xfrm>
            <a:off x="4110576" y="3650499"/>
            <a:ext cx="580921" cy="425433"/>
          </a:xfrm>
          <a:prstGeom prst="rect">
            <a:avLst/>
          </a:prstGeom>
        </p:spPr>
      </p:pic>
      <p:sp>
        <p:nvSpPr>
          <p:cNvPr id="18" name="Parenthèse ouvrante 17">
            <a:extLst>
              <a:ext uri="{FF2B5EF4-FFF2-40B4-BE49-F238E27FC236}">
                <a16:creationId xmlns:a16="http://schemas.microsoft.com/office/drawing/2014/main" id="{AFF1DF08-FF7B-436F-BBEE-0F109379DC01}"/>
              </a:ext>
            </a:extLst>
          </p:cNvPr>
          <p:cNvSpPr/>
          <p:nvPr/>
        </p:nvSpPr>
        <p:spPr>
          <a:xfrm>
            <a:off x="4908814" y="3663726"/>
            <a:ext cx="45719" cy="551859"/>
          </a:xfrm>
          <a:prstGeom prst="leftBracket">
            <a:avLst/>
          </a:prstGeom>
          <a:ln w="28575">
            <a:solidFill>
              <a:srgbClr val="F4BA48"/>
            </a:solidFill>
          </a:ln>
        </p:spPr>
        <p:style>
          <a:lnRef idx="1">
            <a:schemeClr val="accent1"/>
          </a:lnRef>
          <a:fillRef idx="0">
            <a:schemeClr val="accent1"/>
          </a:fillRef>
          <a:effectRef idx="0">
            <a:schemeClr val="accent1"/>
          </a:effectRef>
          <a:fontRef idx="minor">
            <a:schemeClr val="tx1"/>
          </a:fontRef>
        </p:style>
        <p:txBody>
          <a:bodyPr rtlCol="0" anchor="ctr"/>
          <a:lstStyle/>
          <a:p>
            <a:pPr algn="ctr" fontAlgn="base">
              <a:spcBef>
                <a:spcPct val="0"/>
              </a:spcBef>
              <a:spcAft>
                <a:spcPct val="0"/>
              </a:spcAft>
              <a:buClrTx/>
              <a:buFontTx/>
              <a:buNone/>
            </a:pPr>
            <a:endParaRPr lang="fr-FR" sz="1800" kern="1200">
              <a:solidFill>
                <a:prstClr val="black"/>
              </a:solidFill>
            </a:endParaRPr>
          </a:p>
        </p:txBody>
      </p:sp>
      <p:grpSp>
        <p:nvGrpSpPr>
          <p:cNvPr id="4" name="Groupe 3">
            <a:extLst>
              <a:ext uri="{FF2B5EF4-FFF2-40B4-BE49-F238E27FC236}">
                <a16:creationId xmlns:a16="http://schemas.microsoft.com/office/drawing/2014/main" id="{49CE4FCD-2A0A-4AA0-94C7-BE7CEB14A595}"/>
              </a:ext>
            </a:extLst>
          </p:cNvPr>
          <p:cNvGrpSpPr/>
          <p:nvPr/>
        </p:nvGrpSpPr>
        <p:grpSpPr>
          <a:xfrm>
            <a:off x="4110576" y="1811360"/>
            <a:ext cx="1538457" cy="1597314"/>
            <a:chOff x="5133607" y="1615662"/>
            <a:chExt cx="1538457" cy="1597314"/>
          </a:xfrm>
        </p:grpSpPr>
        <p:pic>
          <p:nvPicPr>
            <p:cNvPr id="14" name="Image 13">
              <a:extLst>
                <a:ext uri="{FF2B5EF4-FFF2-40B4-BE49-F238E27FC236}">
                  <a16:creationId xmlns:a16="http://schemas.microsoft.com/office/drawing/2014/main" id="{D9381991-908E-4594-B197-0043BCFF1B5F}"/>
                </a:ext>
              </a:extLst>
            </p:cNvPr>
            <p:cNvPicPr>
              <a:picLocks noChangeAspect="1"/>
            </p:cNvPicPr>
            <p:nvPr/>
          </p:nvPicPr>
          <p:blipFill>
            <a:blip r:embed="rId8"/>
            <a:stretch>
              <a:fillRect/>
            </a:stretch>
          </p:blipFill>
          <p:spPr>
            <a:xfrm>
              <a:off x="5573816" y="2024060"/>
              <a:ext cx="580921" cy="425433"/>
            </a:xfrm>
            <a:prstGeom prst="rect">
              <a:avLst/>
            </a:prstGeom>
          </p:spPr>
        </p:pic>
        <p:sp>
          <p:nvSpPr>
            <p:cNvPr id="3" name="Parenthèse ouvrante 2">
              <a:extLst>
                <a:ext uri="{FF2B5EF4-FFF2-40B4-BE49-F238E27FC236}">
                  <a16:creationId xmlns:a16="http://schemas.microsoft.com/office/drawing/2014/main" id="{1AFCA66D-9CA0-4A6D-9C5F-7792D72037DF}"/>
                </a:ext>
              </a:extLst>
            </p:cNvPr>
            <p:cNvSpPr/>
            <p:nvPr/>
          </p:nvSpPr>
          <p:spPr>
            <a:xfrm>
              <a:off x="6626345" y="1615662"/>
              <a:ext cx="45719" cy="1597314"/>
            </a:xfrm>
            <a:prstGeom prst="leftBracket">
              <a:avLst/>
            </a:prstGeom>
            <a:ln w="28575">
              <a:solidFill>
                <a:srgbClr val="A5A5A4"/>
              </a:solidFill>
            </a:ln>
          </p:spPr>
          <p:style>
            <a:lnRef idx="1">
              <a:schemeClr val="accent1"/>
            </a:lnRef>
            <a:fillRef idx="0">
              <a:schemeClr val="accent1"/>
            </a:fillRef>
            <a:effectRef idx="0">
              <a:schemeClr val="accent1"/>
            </a:effectRef>
            <a:fontRef idx="minor">
              <a:schemeClr val="tx1"/>
            </a:fontRef>
          </p:style>
          <p:txBody>
            <a:bodyPr rtlCol="0" anchor="ctr"/>
            <a:lstStyle/>
            <a:p>
              <a:pPr algn="ctr" fontAlgn="base">
                <a:spcBef>
                  <a:spcPct val="0"/>
                </a:spcBef>
                <a:spcAft>
                  <a:spcPct val="0"/>
                </a:spcAft>
                <a:buClrTx/>
                <a:buFontTx/>
                <a:buNone/>
              </a:pPr>
              <a:endParaRPr lang="fr-FR" sz="1800" kern="1200">
                <a:solidFill>
                  <a:prstClr val="black"/>
                </a:solidFill>
              </a:endParaRPr>
            </a:p>
          </p:txBody>
        </p:sp>
        <p:sp>
          <p:nvSpPr>
            <p:cNvPr id="23" name="Intensité Carbone">
              <a:extLst>
                <a:ext uri="{FF2B5EF4-FFF2-40B4-BE49-F238E27FC236}">
                  <a16:creationId xmlns:a16="http://schemas.microsoft.com/office/drawing/2014/main" id="{5D98B10B-DAFC-439A-94D1-106194CBBAFE}"/>
                </a:ext>
              </a:extLst>
            </p:cNvPr>
            <p:cNvSpPr txBox="1"/>
            <p:nvPr/>
          </p:nvSpPr>
          <p:spPr>
            <a:xfrm>
              <a:off x="5133607" y="2449493"/>
              <a:ext cx="1466449" cy="584775"/>
            </a:xfrm>
            <a:prstGeom prst="rect">
              <a:avLst/>
            </a:prstGeom>
            <a:noFill/>
            <a:ln>
              <a:noFill/>
            </a:ln>
          </p:spPr>
          <p:txBody>
            <a:bodyPr wrap="square" rtlCol="0" anchor="ctr">
              <a:spAutoFit/>
            </a:bodyPr>
            <a:lstStyle/>
            <a:p>
              <a:pPr algn="ctr" fontAlgn="base">
                <a:spcBef>
                  <a:spcPct val="0"/>
                </a:spcBef>
                <a:spcAft>
                  <a:spcPct val="0"/>
                </a:spcAft>
                <a:buClrTx/>
                <a:buFontTx/>
                <a:buNone/>
              </a:pPr>
              <a:r>
                <a:rPr lang="fr-FR" sz="1600" b="1" kern="1200" dirty="0">
                  <a:solidFill>
                    <a:srgbClr val="A5A5A4"/>
                  </a:solidFill>
                  <a:latin typeface="Century Gothic" panose="020B0502020202020204" pitchFamily="34" charset="0"/>
                  <a:ea typeface="+mn-ea"/>
                  <a:cs typeface="Arial" pitchFamily="34" charset="0"/>
                </a:rPr>
                <a:t>Chauffage 80 m2</a:t>
              </a:r>
            </a:p>
          </p:txBody>
        </p:sp>
      </p:grpSp>
      <p:sp>
        <p:nvSpPr>
          <p:cNvPr id="25" name="Intensité Carbone">
            <a:extLst>
              <a:ext uri="{FF2B5EF4-FFF2-40B4-BE49-F238E27FC236}">
                <a16:creationId xmlns:a16="http://schemas.microsoft.com/office/drawing/2014/main" id="{873271A7-7EEC-4E53-ABC0-069BF6FC652D}"/>
              </a:ext>
            </a:extLst>
          </p:cNvPr>
          <p:cNvSpPr txBox="1"/>
          <p:nvPr/>
        </p:nvSpPr>
        <p:spPr>
          <a:xfrm>
            <a:off x="3469690" y="4213613"/>
            <a:ext cx="2141373" cy="584775"/>
          </a:xfrm>
          <a:prstGeom prst="rect">
            <a:avLst/>
          </a:prstGeom>
          <a:noFill/>
          <a:ln>
            <a:noFill/>
          </a:ln>
        </p:spPr>
        <p:txBody>
          <a:bodyPr wrap="square" rtlCol="0" anchor="ctr">
            <a:spAutoFit/>
          </a:bodyPr>
          <a:lstStyle/>
          <a:p>
            <a:pPr algn="ctr" fontAlgn="base">
              <a:spcBef>
                <a:spcPct val="0"/>
              </a:spcBef>
              <a:spcAft>
                <a:spcPct val="0"/>
              </a:spcAft>
              <a:buClrTx/>
              <a:buFontTx/>
              <a:buNone/>
            </a:pPr>
            <a:r>
              <a:rPr lang="fr-FR" sz="1600" b="1" kern="1200" dirty="0">
                <a:solidFill>
                  <a:srgbClr val="F4BA48"/>
                </a:solidFill>
                <a:latin typeface="Century Gothic" panose="020B0502020202020204" pitchFamily="34" charset="0"/>
                <a:ea typeface="+mn-ea"/>
                <a:cs typeface="Arial" pitchFamily="34" charset="0"/>
              </a:rPr>
              <a:t>Construction amortie sur 20 ans</a:t>
            </a:r>
          </a:p>
        </p:txBody>
      </p:sp>
      <p:sp>
        <p:nvSpPr>
          <p:cNvPr id="19" name="Google Shape;130;p3">
            <a:extLst>
              <a:ext uri="{FF2B5EF4-FFF2-40B4-BE49-F238E27FC236}">
                <a16:creationId xmlns:a16="http://schemas.microsoft.com/office/drawing/2014/main" id="{17731622-E640-48A4-97A9-F2B5E3100282}"/>
              </a:ext>
            </a:extLst>
          </p:cNvPr>
          <p:cNvSpPr txBox="1">
            <a:spLocks/>
          </p:cNvSpPr>
          <p:nvPr/>
        </p:nvSpPr>
        <p:spPr>
          <a:xfrm>
            <a:off x="0" y="6294927"/>
            <a:ext cx="611188" cy="365125"/>
          </a:xfrm>
          <a:prstGeom prst="rect">
            <a:avLst/>
          </a:prstGeom>
          <a:noFill/>
          <a:ln>
            <a:noFill/>
          </a:ln>
        </p:spPr>
        <p:txBody>
          <a:bodyPr spcFirstLastPara="1" wrap="square" lIns="0" tIns="0" rIns="0" bIns="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
                <a:srgbClr val="000000"/>
              </a:buClr>
              <a:buSzPts val="1400"/>
              <a:buFont typeface="Arial"/>
              <a:buNone/>
            </a:pPr>
            <a:fld id="{00000000-1234-1234-1234-123412341234}" type="slidenum">
              <a:rPr lang="fr-FR" smtClean="0"/>
              <a:pPr algn="ctr">
                <a:buClr>
                  <a:srgbClr val="000000"/>
                </a:buClr>
                <a:buSzPts val="1400"/>
                <a:buFont typeface="Arial"/>
                <a:buNone/>
              </a:pPr>
              <a:t>32</a:t>
            </a:fld>
            <a:endParaRPr lang="fr-FR" dirty="0"/>
          </a:p>
        </p:txBody>
      </p:sp>
    </p:spTree>
    <p:extLst>
      <p:ext uri="{BB962C8B-B14F-4D97-AF65-F5344CB8AC3E}">
        <p14:creationId xmlns:p14="http://schemas.microsoft.com/office/powerpoint/2010/main" val="3653860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683474-91F4-48F8-98C2-FB48AEC7F85E}"/>
              </a:ext>
            </a:extLst>
          </p:cNvPr>
          <p:cNvSpPr/>
          <p:nvPr/>
        </p:nvSpPr>
        <p:spPr>
          <a:xfrm>
            <a:off x="0" y="6597115"/>
            <a:ext cx="10280378" cy="338554"/>
          </a:xfrm>
          <a:prstGeom prst="rect">
            <a:avLst/>
          </a:prstGeom>
        </p:spPr>
        <p:txBody>
          <a:bodyPr wrap="none">
            <a:spAutoFit/>
          </a:bodyPr>
          <a:lstStyle/>
          <a:p>
            <a:pPr fontAlgn="base">
              <a:spcBef>
                <a:spcPct val="0"/>
              </a:spcBef>
              <a:spcAft>
                <a:spcPct val="0"/>
              </a:spcAft>
              <a:buClrTx/>
              <a:buFontTx/>
              <a:buNone/>
            </a:pPr>
            <a:r>
              <a:rPr lang="fr-FR" sz="1600" kern="1200" dirty="0">
                <a:solidFill>
                  <a:prstClr val="white"/>
                </a:solidFill>
                <a:latin typeface="Century Gothic" panose="020B0502020202020204" pitchFamily="34" charset="0"/>
                <a:ea typeface="+mn-ea"/>
                <a:cs typeface="Arial" pitchFamily="34" charset="0"/>
              </a:rPr>
              <a:t>Sources : Facteurs d’émission ADEME, Calculs Avenir Climatique, valeurs moyennes en France sur 1 an</a:t>
            </a:r>
          </a:p>
        </p:txBody>
      </p:sp>
      <p:sp>
        <p:nvSpPr>
          <p:cNvPr id="6" name="Espace réservé du numéro de diapositive 5">
            <a:extLst>
              <a:ext uri="{FF2B5EF4-FFF2-40B4-BE49-F238E27FC236}">
                <a16:creationId xmlns:a16="http://schemas.microsoft.com/office/drawing/2014/main" id="{6492ADFF-6538-4EC8-981D-456DDED25765}"/>
              </a:ext>
            </a:extLst>
          </p:cNvPr>
          <p:cNvSpPr>
            <a:spLocks noGrp="1"/>
          </p:cNvSpPr>
          <p:nvPr>
            <p:ph type="sldNum" sz="quarter" idx="4294967295"/>
          </p:nvPr>
        </p:nvSpPr>
        <p:spPr>
          <a:xfrm>
            <a:off x="11280576" y="6597352"/>
            <a:ext cx="864096" cy="260648"/>
          </a:xfrm>
          <a:prstGeom prst="rect">
            <a:avLst/>
          </a:prstGeom>
        </p:spPr>
        <p:txBody>
          <a:bodyPr anchor="ctr"/>
          <a:lstStyle>
            <a:defPPr>
              <a:defRPr lang="fr-FR"/>
            </a:defPPr>
            <a:lvl1pPr algn="r" rtl="0" fontAlgn="base">
              <a:spcBef>
                <a:spcPct val="0"/>
              </a:spcBef>
              <a:spcAft>
                <a:spcPct val="0"/>
              </a:spcAft>
              <a:defRPr sz="1400" b="1" kern="1200">
                <a:solidFill>
                  <a:schemeClr val="bg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a:lstStyle>
          <a:p>
            <a:pPr>
              <a:buClrTx/>
              <a:buFontTx/>
              <a:buNone/>
              <a:defRPr/>
            </a:pPr>
            <a:fld id="{977A11F6-3D0F-4813-9A73-318DF2A72F01}" type="slidenum">
              <a:rPr lang="en-US" smtClean="0">
                <a:solidFill>
                  <a:prstClr val="white"/>
                </a:solidFill>
              </a:rPr>
              <a:pPr>
                <a:buClrTx/>
                <a:buFontTx/>
                <a:buNone/>
                <a:defRPr/>
              </a:pPr>
              <a:t>33</a:t>
            </a:fld>
            <a:endParaRPr lang="en-US" dirty="0">
              <a:solidFill>
                <a:prstClr val="white"/>
              </a:solidFill>
            </a:endParaRPr>
          </a:p>
        </p:txBody>
      </p:sp>
      <p:sp>
        <p:nvSpPr>
          <p:cNvPr id="19" name="Google Shape;130;p3">
            <a:extLst>
              <a:ext uri="{FF2B5EF4-FFF2-40B4-BE49-F238E27FC236}">
                <a16:creationId xmlns:a16="http://schemas.microsoft.com/office/drawing/2014/main" id="{17731622-E640-48A4-97A9-F2B5E3100282}"/>
              </a:ext>
            </a:extLst>
          </p:cNvPr>
          <p:cNvSpPr txBox="1">
            <a:spLocks/>
          </p:cNvSpPr>
          <p:nvPr/>
        </p:nvSpPr>
        <p:spPr>
          <a:xfrm>
            <a:off x="0" y="6330096"/>
            <a:ext cx="611188" cy="365125"/>
          </a:xfrm>
          <a:prstGeom prst="rect">
            <a:avLst/>
          </a:prstGeom>
          <a:noFill/>
          <a:ln>
            <a:noFill/>
          </a:ln>
        </p:spPr>
        <p:txBody>
          <a:bodyPr spcFirstLastPara="1" wrap="square" lIns="0" tIns="0" rIns="0" bIns="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
                <a:srgbClr val="000000"/>
              </a:buClr>
              <a:buSzPts val="1400"/>
              <a:buFont typeface="Arial"/>
              <a:buNone/>
            </a:pPr>
            <a:fld id="{00000000-1234-1234-1234-123412341234}" type="slidenum">
              <a:rPr lang="fr-FR" smtClean="0"/>
              <a:pPr algn="ctr">
                <a:buClr>
                  <a:srgbClr val="000000"/>
                </a:buClr>
                <a:buSzPts val="1400"/>
                <a:buFont typeface="Arial"/>
                <a:buNone/>
              </a:pPr>
              <a:t>33</a:t>
            </a:fld>
            <a:endParaRPr lang="fr-FR" dirty="0"/>
          </a:p>
        </p:txBody>
      </p:sp>
      <p:sp>
        <p:nvSpPr>
          <p:cNvPr id="24" name="Google Shape;220;p11">
            <a:extLst>
              <a:ext uri="{FF2B5EF4-FFF2-40B4-BE49-F238E27FC236}">
                <a16:creationId xmlns:a16="http://schemas.microsoft.com/office/drawing/2014/main" id="{5D03BD7C-164D-4DC8-B7F2-BACF9E7331A3}"/>
              </a:ext>
            </a:extLst>
          </p:cNvPr>
          <p:cNvSpPr/>
          <p:nvPr/>
        </p:nvSpPr>
        <p:spPr>
          <a:xfrm>
            <a:off x="1228332" y="1007507"/>
            <a:ext cx="9310714" cy="4150198"/>
          </a:xfrm>
          <a:prstGeom prst="rect">
            <a:avLst/>
          </a:prstGeom>
          <a:noFill/>
          <a:ln>
            <a:noFill/>
          </a:ln>
        </p:spPr>
        <p:txBody>
          <a:bodyPr spcFirstLastPara="1" wrap="square" lIns="91425" tIns="45700" rIns="91425" bIns="45700" anchor="t" anchorCtr="0">
            <a:spAutoFit/>
          </a:bodyPr>
          <a:lstStyle/>
          <a:p>
            <a:pPr marL="285750" indent="-285750">
              <a:lnSpc>
                <a:spcPct val="107000"/>
              </a:lnSpc>
              <a:buClr>
                <a:schemeClr val="dk1"/>
              </a:buClr>
              <a:buSzPts val="1800"/>
              <a:buFont typeface="Arial"/>
              <a:buChar char="•"/>
            </a:pPr>
            <a:r>
              <a:rPr lang="fr-FR" sz="1800" dirty="0">
                <a:latin typeface="Calibri"/>
                <a:ea typeface="Calibri"/>
                <a:cs typeface="Calibri"/>
                <a:sym typeface="Calibri"/>
              </a:rPr>
              <a:t>R</a:t>
            </a:r>
            <a:r>
              <a:rPr lang="fr-FR" sz="1800" dirty="0">
                <a:solidFill>
                  <a:schemeClr val="dk1"/>
                </a:solidFill>
                <a:latin typeface="Calibri"/>
                <a:ea typeface="Calibri"/>
                <a:cs typeface="Calibri"/>
                <a:sym typeface="Calibri"/>
              </a:rPr>
              <a:t>éfléchissez maintenant à des mesures à mettre en place pour réduire les émissions carbone du campus. Trouvez </a:t>
            </a:r>
            <a:r>
              <a:rPr lang="fr-FR" sz="1800" dirty="0">
                <a:latin typeface="Calibri"/>
                <a:ea typeface="Calibri"/>
                <a:cs typeface="Calibri"/>
              </a:rPr>
              <a:t>des</a:t>
            </a:r>
            <a:r>
              <a:rPr lang="fr-FR" sz="1800" dirty="0">
                <a:solidFill>
                  <a:schemeClr val="dk1"/>
                </a:solidFill>
                <a:latin typeface="Calibri"/>
                <a:ea typeface="Calibri"/>
                <a:cs typeface="Calibri"/>
                <a:sym typeface="Calibri"/>
              </a:rPr>
              <a:t> arguments en faveur de la mise en place de ces actions </a:t>
            </a:r>
            <a:r>
              <a:rPr lang="fr-FR" dirty="0">
                <a:solidFill>
                  <a:schemeClr val="dk1"/>
                </a:solidFill>
                <a:latin typeface="Calibri"/>
                <a:ea typeface="Calibri"/>
                <a:cs typeface="Calibri"/>
                <a:sym typeface="Calibri"/>
              </a:rPr>
              <a:t>et réfléchissez aux contre-arguments que </a:t>
            </a:r>
            <a:r>
              <a:rPr lang="fr-FR" sz="1800" dirty="0">
                <a:solidFill>
                  <a:schemeClr val="dk1"/>
                </a:solidFill>
                <a:latin typeface="Calibri"/>
                <a:ea typeface="Calibri"/>
                <a:cs typeface="Calibri"/>
                <a:sym typeface="Calibri"/>
              </a:rPr>
              <a:t>la Direction de l’Ecole pourrait vous opposer. </a:t>
            </a:r>
          </a:p>
          <a:p>
            <a:pPr marL="285750" indent="-285750">
              <a:lnSpc>
                <a:spcPct val="107000"/>
              </a:lnSpc>
              <a:buClr>
                <a:schemeClr val="dk1"/>
              </a:buClr>
              <a:buSzPts val="1800"/>
              <a:buFont typeface="Arial"/>
              <a:buChar char="•"/>
            </a:pPr>
            <a:endParaRPr lang="fr-FR" dirty="0">
              <a:solidFill>
                <a:schemeClr val="dk1"/>
              </a:solidFill>
              <a:latin typeface="Calibri"/>
              <a:sym typeface="Calibri"/>
            </a:endParaRPr>
          </a:p>
          <a:p>
            <a:pPr marL="285750" indent="-285750">
              <a:lnSpc>
                <a:spcPct val="107000"/>
              </a:lnSpc>
              <a:buClr>
                <a:schemeClr val="dk1"/>
              </a:buClr>
              <a:buSzPts val="1800"/>
              <a:buFont typeface="Arial"/>
              <a:buChar char="•"/>
            </a:pPr>
            <a:endParaRPr lang="fr-FR" dirty="0">
              <a:solidFill>
                <a:schemeClr val="dk1"/>
              </a:solidFill>
              <a:latin typeface="Calibri"/>
              <a:sym typeface="Calibri"/>
            </a:endParaRPr>
          </a:p>
          <a:p>
            <a:pPr marL="285750" indent="-285750">
              <a:lnSpc>
                <a:spcPct val="107000"/>
              </a:lnSpc>
              <a:buClr>
                <a:schemeClr val="dk1"/>
              </a:buClr>
              <a:buSzPts val="1800"/>
              <a:buFont typeface="Arial"/>
              <a:buChar char="•"/>
            </a:pPr>
            <a:endParaRPr lang="fr-FR" dirty="0">
              <a:solidFill>
                <a:schemeClr val="dk1"/>
              </a:solidFill>
              <a:latin typeface="Calibri"/>
              <a:sym typeface="Calibri"/>
            </a:endParaRPr>
          </a:p>
          <a:p>
            <a:pPr marL="285750" indent="-285750">
              <a:lnSpc>
                <a:spcPct val="107000"/>
              </a:lnSpc>
              <a:buClr>
                <a:schemeClr val="dk1"/>
              </a:buClr>
              <a:buSzPts val="1800"/>
              <a:buFont typeface="Arial"/>
              <a:buChar char="•"/>
            </a:pPr>
            <a:endParaRPr lang="fr-FR" dirty="0">
              <a:solidFill>
                <a:schemeClr val="dk1"/>
              </a:solidFill>
              <a:latin typeface="Calibri"/>
              <a:sym typeface="Calibri"/>
            </a:endParaRPr>
          </a:p>
          <a:p>
            <a:pPr>
              <a:lnSpc>
                <a:spcPct val="107000"/>
              </a:lnSpc>
              <a:buClr>
                <a:schemeClr val="dk1"/>
              </a:buClr>
              <a:buSzPts val="1800"/>
            </a:pPr>
            <a:endParaRPr lang="fr-FR" dirty="0">
              <a:solidFill>
                <a:schemeClr val="dk1"/>
              </a:solidFill>
              <a:latin typeface="Calibri"/>
              <a:sym typeface="Calibri"/>
            </a:endParaRPr>
          </a:p>
          <a:p>
            <a:pPr marL="285750" marR="0" lvl="0" indent="-285750" algn="l" rtl="0">
              <a:lnSpc>
                <a:spcPct val="107000"/>
              </a:lnSpc>
              <a:spcBef>
                <a:spcPts val="800"/>
              </a:spcBef>
              <a:spcAft>
                <a:spcPts val="0"/>
              </a:spcAft>
              <a:buClr>
                <a:schemeClr val="dk1"/>
              </a:buClr>
              <a:buSzPts val="1800"/>
              <a:buFont typeface="Arial"/>
              <a:buChar char="•"/>
            </a:pPr>
            <a:r>
              <a:rPr lang="fr-FR" sz="1800" dirty="0">
                <a:solidFill>
                  <a:schemeClr val="dk1"/>
                </a:solidFill>
                <a:latin typeface="Calibri"/>
                <a:ea typeface="Calibri"/>
                <a:cs typeface="Calibri"/>
                <a:sym typeface="Calibri"/>
              </a:rPr>
              <a:t>Gardez en tête que la Direction de l’Ecole est sensible aux enjeux climatiques mais se doit de prendre des mesures acceptables par toutes les parties prenantes de l’Ecole (professeurs, personnels, étudiants…).</a:t>
            </a:r>
            <a:endParaRPr dirty="0">
              <a:solidFill>
                <a:schemeClr val="dk1"/>
              </a:solidFill>
            </a:endParaRPr>
          </a:p>
          <a:p>
            <a:pPr marL="285750" marR="0" lvl="0" indent="-285750" algn="l" rtl="0">
              <a:lnSpc>
                <a:spcPct val="107000"/>
              </a:lnSpc>
              <a:spcBef>
                <a:spcPts val="800"/>
              </a:spcBef>
              <a:spcAft>
                <a:spcPts val="0"/>
              </a:spcAft>
              <a:buClr>
                <a:schemeClr val="dk1"/>
              </a:buClr>
              <a:buSzPts val="1800"/>
              <a:buFont typeface="Arial"/>
              <a:buChar char="•"/>
            </a:pPr>
            <a:r>
              <a:rPr lang="fr-FR" sz="1800" dirty="0">
                <a:solidFill>
                  <a:schemeClr val="dk1"/>
                </a:solidFill>
                <a:latin typeface="Calibri"/>
                <a:ea typeface="Calibri"/>
                <a:cs typeface="Calibri"/>
                <a:sym typeface="Calibri"/>
              </a:rPr>
              <a:t>Précisez bien la priorité, l’impact court-terme/long-terme et les moyens nécessaires au plan d’action, l’Ecole ayant des moyens limités.</a:t>
            </a:r>
            <a:endParaRPr dirty="0">
              <a:solidFill>
                <a:schemeClr val="dk1"/>
              </a:solidFill>
            </a:endParaRPr>
          </a:p>
        </p:txBody>
      </p:sp>
      <p:graphicFrame>
        <p:nvGraphicFramePr>
          <p:cNvPr id="26" name="Google Shape;221;p11">
            <a:extLst>
              <a:ext uri="{FF2B5EF4-FFF2-40B4-BE49-F238E27FC236}">
                <a16:creationId xmlns:a16="http://schemas.microsoft.com/office/drawing/2014/main" id="{8E79AA6A-66DF-4348-9690-F96B9CC51654}"/>
              </a:ext>
            </a:extLst>
          </p:cNvPr>
          <p:cNvGraphicFramePr/>
          <p:nvPr>
            <p:extLst>
              <p:ext uri="{D42A27DB-BD31-4B8C-83A1-F6EECF244321}">
                <p14:modId xmlns:p14="http://schemas.microsoft.com/office/powerpoint/2010/main" val="1378556033"/>
              </p:ext>
            </p:extLst>
          </p:nvPr>
        </p:nvGraphicFramePr>
        <p:xfrm>
          <a:off x="1453662" y="2193395"/>
          <a:ext cx="8979876" cy="1024859"/>
        </p:xfrm>
        <a:graphic>
          <a:graphicData uri="http://schemas.openxmlformats.org/drawingml/2006/table">
            <a:tbl>
              <a:tblPr firstRow="1" bandRow="1">
                <a:noFill/>
              </a:tblPr>
              <a:tblGrid>
                <a:gridCol w="3759122">
                  <a:extLst>
                    <a:ext uri="{9D8B030D-6E8A-4147-A177-3AD203B41FA5}">
                      <a16:colId xmlns:a16="http://schemas.microsoft.com/office/drawing/2014/main" val="20000"/>
                    </a:ext>
                  </a:extLst>
                </a:gridCol>
                <a:gridCol w="2227462">
                  <a:extLst>
                    <a:ext uri="{9D8B030D-6E8A-4147-A177-3AD203B41FA5}">
                      <a16:colId xmlns:a16="http://schemas.microsoft.com/office/drawing/2014/main" val="20001"/>
                    </a:ext>
                  </a:extLst>
                </a:gridCol>
                <a:gridCol w="2993292">
                  <a:extLst>
                    <a:ext uri="{9D8B030D-6E8A-4147-A177-3AD203B41FA5}">
                      <a16:colId xmlns:a16="http://schemas.microsoft.com/office/drawing/2014/main" val="20002"/>
                    </a:ext>
                  </a:extLst>
                </a:gridCol>
              </a:tblGrid>
              <a:tr h="370850">
                <a:tc>
                  <a:txBody>
                    <a:bodyPr/>
                    <a:lstStyle/>
                    <a:p>
                      <a:pPr marL="0" marR="0" lvl="0" indent="0" algn="ctr" rtl="0">
                        <a:spcBef>
                          <a:spcPts val="0"/>
                        </a:spcBef>
                        <a:spcAft>
                          <a:spcPts val="0"/>
                        </a:spcAft>
                        <a:buNone/>
                      </a:pPr>
                      <a:r>
                        <a:rPr lang="fr-FR" sz="1600" u="none" strike="noStrike" cap="none" dirty="0"/>
                        <a:t>Mesures à mettre en place et si possible, estimation de leur impact</a:t>
                      </a:r>
                      <a:endParaRPr sz="1600" dirty="0"/>
                    </a:p>
                  </a:txBody>
                  <a:tcPr marL="91450" marR="91450" marT="45725" marB="45725" anchor="ctr"/>
                </a:tc>
                <a:tc>
                  <a:txBody>
                    <a:bodyPr/>
                    <a:lstStyle/>
                    <a:p>
                      <a:pPr marL="0" marR="0" lvl="0" indent="0" algn="ctr" rtl="0">
                        <a:spcBef>
                          <a:spcPts val="0"/>
                        </a:spcBef>
                        <a:spcAft>
                          <a:spcPts val="0"/>
                        </a:spcAft>
                        <a:buNone/>
                      </a:pPr>
                      <a:r>
                        <a:rPr lang="fr-FR" sz="1600" dirty="0"/>
                        <a:t>Vos arguments</a:t>
                      </a:r>
                      <a:endParaRPr sz="1600" dirty="0"/>
                    </a:p>
                  </a:txBody>
                  <a:tcPr marL="91450" marR="91450" marT="45725" marB="45725" anchor="ctr"/>
                </a:tc>
                <a:tc>
                  <a:txBody>
                    <a:bodyPr/>
                    <a:lstStyle/>
                    <a:p>
                      <a:pPr marL="0" marR="0" lvl="0" indent="0" algn="ctr" rtl="0">
                        <a:spcBef>
                          <a:spcPts val="0"/>
                        </a:spcBef>
                        <a:spcAft>
                          <a:spcPts val="0"/>
                        </a:spcAft>
                        <a:buNone/>
                      </a:pPr>
                      <a:r>
                        <a:rPr lang="fr-FR" sz="1600" dirty="0"/>
                        <a:t>Contre-arguments possibles de la Direction</a:t>
                      </a:r>
                      <a:endParaRPr sz="1600" dirty="0"/>
                    </a:p>
                  </a:txBody>
                  <a:tcPr marL="91450" marR="91450" marT="45725" marB="45725" anchor="ctr"/>
                </a:tc>
                <a:extLst>
                  <a:ext uri="{0D108BD9-81ED-4DB2-BD59-A6C34878D82A}">
                    <a16:rowId xmlns:a16="http://schemas.microsoft.com/office/drawing/2014/main" val="10000"/>
                  </a:ext>
                </a:extLst>
              </a:tr>
              <a:tr h="445729">
                <a:tc>
                  <a:txBody>
                    <a:bodyPr/>
                    <a:lstStyle/>
                    <a:p>
                      <a:pPr marL="0" marR="0" lvl="0" indent="0" algn="l" rtl="0">
                        <a:spcBef>
                          <a:spcPts val="0"/>
                        </a:spcBef>
                        <a:spcAft>
                          <a:spcPts val="0"/>
                        </a:spcAft>
                        <a:buNone/>
                      </a:pPr>
                      <a:endParaRPr sz="1800" dirty="0"/>
                    </a:p>
                  </a:txBody>
                  <a:tcPr marL="91450" marR="91450" marT="45725" marB="45725"/>
                </a:tc>
                <a:tc>
                  <a:txBody>
                    <a:bodyPr/>
                    <a:lstStyle/>
                    <a:p>
                      <a:pPr marL="0" marR="0" lvl="0" indent="0" algn="l" rtl="0">
                        <a:spcBef>
                          <a:spcPts val="0"/>
                        </a:spcBef>
                        <a:spcAft>
                          <a:spcPts val="0"/>
                        </a:spcAft>
                        <a:buNone/>
                      </a:pPr>
                      <a:endParaRPr sz="1800" dirty="0"/>
                    </a:p>
                  </a:txBody>
                  <a:tcPr marL="91450" marR="91450" marT="45725" marB="45725"/>
                </a:tc>
                <a:tc>
                  <a:txBody>
                    <a:bodyPr/>
                    <a:lstStyle/>
                    <a:p>
                      <a:pPr marL="0" marR="0" lvl="0" indent="0" algn="l" rtl="0">
                        <a:spcBef>
                          <a:spcPts val="0"/>
                        </a:spcBef>
                        <a:spcAft>
                          <a:spcPts val="0"/>
                        </a:spcAft>
                        <a:buNone/>
                      </a:pPr>
                      <a:endParaRPr sz="1800" dirty="0"/>
                    </a:p>
                  </a:txBody>
                  <a:tcPr marL="91450" marR="91450" marT="45725" marB="45725"/>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1935771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gec8223986c_1_955"/>
          <p:cNvSpPr txBox="1">
            <a:spLocks noGrp="1"/>
          </p:cNvSpPr>
          <p:nvPr>
            <p:ph type="title"/>
          </p:nvPr>
        </p:nvSpPr>
        <p:spPr>
          <a:xfrm>
            <a:off x="2027548" y="0"/>
            <a:ext cx="8028900" cy="9807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fr-FR" sz="2800"/>
              <a:t>Ce</a:t>
            </a:r>
            <a:r>
              <a:rPr lang="fr-FR"/>
              <a:t> qu’il faut re</a:t>
            </a:r>
            <a:r>
              <a:rPr lang="fr-FR" sz="3600"/>
              <a:t>te</a:t>
            </a:r>
            <a:r>
              <a:rPr lang="fr-FR"/>
              <a:t>nir</a:t>
            </a:r>
            <a:endParaRPr/>
          </a:p>
        </p:txBody>
      </p:sp>
      <p:pic>
        <p:nvPicPr>
          <p:cNvPr id="297" name="Google Shape;297;gec8223986c_1_955"/>
          <p:cNvPicPr preferRelativeResize="0"/>
          <p:nvPr/>
        </p:nvPicPr>
        <p:blipFill rotWithShape="1">
          <a:blip r:embed="rId3">
            <a:alphaModFix/>
          </a:blip>
          <a:srcRect/>
          <a:stretch/>
        </p:blipFill>
        <p:spPr>
          <a:xfrm flipH="1">
            <a:off x="4223792" y="199033"/>
            <a:ext cx="939563" cy="939563"/>
          </a:xfrm>
          <a:prstGeom prst="rect">
            <a:avLst/>
          </a:prstGeom>
          <a:noFill/>
          <a:ln>
            <a:noFill/>
          </a:ln>
        </p:spPr>
      </p:pic>
      <p:sp>
        <p:nvSpPr>
          <p:cNvPr id="298" name="Google Shape;298;gec8223986c_1_955"/>
          <p:cNvSpPr txBox="1"/>
          <p:nvPr/>
        </p:nvSpPr>
        <p:spPr>
          <a:xfrm>
            <a:off x="1559495" y="1449390"/>
            <a:ext cx="9800167" cy="53721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166478"/>
              </a:buClr>
              <a:buSzPts val="2300"/>
              <a:buFont typeface="Arial"/>
              <a:buNone/>
              <a:tabLst/>
              <a:defRPr/>
            </a:pPr>
            <a:r>
              <a:rPr kumimoji="0" lang="fr-FR" sz="2000" b="1" i="0" u="none" strike="noStrike" kern="0" cap="none" spc="0" normalizeH="0" baseline="0" noProof="0" dirty="0">
                <a:ln>
                  <a:noFill/>
                </a:ln>
                <a:solidFill>
                  <a:srgbClr val="166478"/>
                </a:solidFill>
                <a:effectLst/>
                <a:uLnTx/>
                <a:uFillTx/>
                <a:latin typeface="Century Gothic"/>
                <a:ea typeface="Century Gothic"/>
                <a:cs typeface="Century Gothic"/>
                <a:sym typeface="Century Gothic"/>
              </a:rPr>
              <a:t>Pour prioriser votre action, </a:t>
            </a:r>
            <a:r>
              <a:rPr kumimoji="0" lang="fr-FR" sz="2000" b="1" i="0" u="none" strike="noStrike" kern="0" cap="none" spc="0" normalizeH="0" baseline="0" noProof="0" dirty="0">
                <a:ln>
                  <a:noFill/>
                </a:ln>
                <a:solidFill>
                  <a:srgbClr val="F6AB38"/>
                </a:solidFill>
                <a:effectLst/>
                <a:uLnTx/>
                <a:uFillTx/>
                <a:latin typeface="Century Gothic"/>
                <a:ea typeface="Century Gothic"/>
                <a:cs typeface="Century Gothic"/>
                <a:sym typeface="Century Gothic"/>
              </a:rPr>
              <a:t>analysez les résultats </a:t>
            </a:r>
            <a:r>
              <a:rPr kumimoji="0" lang="fr-FR" sz="2000" b="1" i="0" u="none" strike="noStrike" kern="0" cap="none" spc="0" normalizeH="0" baseline="0" noProof="0" dirty="0">
                <a:ln>
                  <a:noFill/>
                </a:ln>
                <a:solidFill>
                  <a:srgbClr val="166478"/>
                </a:solidFill>
                <a:effectLst/>
                <a:uLnTx/>
                <a:uFillTx/>
                <a:latin typeface="Century Gothic"/>
                <a:ea typeface="Century Gothic"/>
                <a:cs typeface="Century Gothic"/>
                <a:sym typeface="Century Gothic"/>
              </a:rPr>
              <a:t>de votre Bilan Carbone® et lancez des actions sur les postes qui sont </a:t>
            </a:r>
            <a:r>
              <a:rPr kumimoji="0" lang="fr-FR" sz="2000" b="1" i="0" u="none" strike="noStrike" kern="0" cap="none" spc="0" normalizeH="0" baseline="0" noProof="0" dirty="0">
                <a:ln>
                  <a:noFill/>
                </a:ln>
                <a:solidFill>
                  <a:srgbClr val="F6AB38"/>
                </a:solidFill>
                <a:effectLst/>
                <a:uLnTx/>
                <a:uFillTx/>
                <a:latin typeface="Century Gothic"/>
                <a:ea typeface="Century Gothic"/>
                <a:cs typeface="Century Gothic"/>
                <a:sym typeface="Century Gothic"/>
              </a:rPr>
              <a:t>les plus importants</a:t>
            </a:r>
            <a:r>
              <a:rPr kumimoji="0" lang="fr-FR" sz="2000" b="1" i="0" u="none" strike="noStrike" kern="0" cap="none" spc="0" normalizeH="0" baseline="0" noProof="0" dirty="0">
                <a:ln>
                  <a:noFill/>
                </a:ln>
                <a:solidFill>
                  <a:srgbClr val="166478"/>
                </a:solidFill>
                <a:effectLst/>
                <a:uLnTx/>
                <a:uFillTx/>
                <a:latin typeface="Century Gothic"/>
                <a:ea typeface="Century Gothic"/>
                <a:cs typeface="Century Gothic"/>
                <a:sym typeface="Century Gothic"/>
              </a:rPr>
              <a:t> en termes d’émissions de gaz à effet de serre ! </a:t>
            </a:r>
            <a:endParaRPr kumimoji="0" sz="20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just" defTabSz="914400" rtl="0" eaLnBrk="1" fontAlgn="auto" latinLnBrk="0" hangingPunct="1">
              <a:lnSpc>
                <a:spcPct val="100000"/>
              </a:lnSpc>
              <a:spcBef>
                <a:spcPts val="2400"/>
              </a:spcBef>
              <a:spcAft>
                <a:spcPts val="0"/>
              </a:spcAft>
              <a:buClr>
                <a:srgbClr val="166478"/>
              </a:buClr>
              <a:buSzPts val="2300"/>
              <a:buFont typeface="Arial"/>
              <a:buNone/>
              <a:tabLst/>
              <a:defRPr/>
            </a:pPr>
            <a:r>
              <a:rPr kumimoji="0" lang="fr-FR" sz="2000" b="1" i="0" u="none" strike="noStrike" kern="0" cap="none" spc="0" normalizeH="0" baseline="0" noProof="0" dirty="0">
                <a:ln>
                  <a:noFill/>
                </a:ln>
                <a:solidFill>
                  <a:srgbClr val="166478"/>
                </a:solidFill>
                <a:effectLst/>
                <a:uLnTx/>
                <a:uFillTx/>
                <a:latin typeface="Century Gothic"/>
                <a:ea typeface="Century Gothic"/>
                <a:cs typeface="Century Gothic"/>
                <a:sym typeface="Century Gothic"/>
              </a:rPr>
              <a:t>Pour être acceptés par tous, </a:t>
            </a:r>
            <a:r>
              <a:rPr kumimoji="0" lang="fr-FR" sz="2000" b="1" i="0" u="none" strike="noStrike" kern="0" cap="none" spc="0" normalizeH="0" baseline="0" noProof="0" dirty="0">
                <a:ln>
                  <a:noFill/>
                </a:ln>
                <a:solidFill>
                  <a:srgbClr val="F6AB38"/>
                </a:solidFill>
                <a:effectLst/>
                <a:uLnTx/>
                <a:uFillTx/>
                <a:latin typeface="Century Gothic"/>
                <a:ea typeface="Century Gothic"/>
                <a:cs typeface="Century Gothic"/>
                <a:sym typeface="Century Gothic"/>
              </a:rPr>
              <a:t>les changements doivent venir directement des usagers</a:t>
            </a:r>
            <a:r>
              <a:rPr kumimoji="0" lang="fr-FR" sz="2000" b="1" i="0" u="none" strike="noStrike" kern="0" cap="none" spc="0" normalizeH="0" baseline="0" noProof="0" dirty="0">
                <a:ln>
                  <a:noFill/>
                </a:ln>
                <a:solidFill>
                  <a:srgbClr val="166478"/>
                </a:solidFill>
                <a:effectLst/>
                <a:uLnTx/>
                <a:uFillTx/>
                <a:latin typeface="Century Gothic"/>
                <a:ea typeface="Century Gothic"/>
                <a:cs typeface="Century Gothic"/>
                <a:sym typeface="Century Gothic"/>
              </a:rPr>
              <a:t>. Votre rôle est plutôt </a:t>
            </a:r>
            <a:r>
              <a:rPr kumimoji="0" lang="fr-FR" sz="2000" b="1" i="0" u="none" strike="noStrike" kern="0" cap="none" spc="0" normalizeH="0" baseline="0" noProof="0" dirty="0">
                <a:ln>
                  <a:noFill/>
                </a:ln>
                <a:solidFill>
                  <a:srgbClr val="F6AB38"/>
                </a:solidFill>
                <a:effectLst/>
                <a:uLnTx/>
                <a:uFillTx/>
                <a:latin typeface="Century Gothic"/>
                <a:ea typeface="Century Gothic"/>
                <a:cs typeface="Century Gothic"/>
                <a:sym typeface="Century Gothic"/>
              </a:rPr>
              <a:t>d’animer</a:t>
            </a:r>
            <a:r>
              <a:rPr kumimoji="0" lang="fr-FR" sz="2000" b="1" i="0" u="none" strike="noStrike" kern="0" cap="none" spc="0" normalizeH="0" baseline="0" noProof="0" dirty="0">
                <a:ln>
                  <a:noFill/>
                </a:ln>
                <a:solidFill>
                  <a:srgbClr val="166478"/>
                </a:solidFill>
                <a:effectLst/>
                <a:uLnTx/>
                <a:uFillTx/>
                <a:latin typeface="Century Gothic"/>
                <a:ea typeface="Century Gothic"/>
                <a:cs typeface="Century Gothic"/>
                <a:sym typeface="Century Gothic"/>
              </a:rPr>
              <a:t> la construction du plan d’action et de </a:t>
            </a:r>
            <a:r>
              <a:rPr kumimoji="0" lang="fr-FR" sz="2000" b="1" i="0" u="none" strike="noStrike" kern="0" cap="none" spc="0" normalizeH="0" baseline="0" noProof="0" dirty="0">
                <a:ln>
                  <a:noFill/>
                </a:ln>
                <a:solidFill>
                  <a:srgbClr val="F6AB38"/>
                </a:solidFill>
                <a:effectLst/>
                <a:uLnTx/>
                <a:uFillTx/>
                <a:latin typeface="Century Gothic"/>
                <a:ea typeface="Century Gothic"/>
                <a:cs typeface="Century Gothic"/>
                <a:sym typeface="Century Gothic"/>
              </a:rPr>
              <a:t>donner les outils d’analyse </a:t>
            </a:r>
            <a:r>
              <a:rPr kumimoji="0" lang="fr-FR" sz="2000" b="1" i="0" u="none" strike="noStrike" kern="0" cap="none" spc="0" normalizeH="0" baseline="0" noProof="0" dirty="0">
                <a:ln>
                  <a:noFill/>
                </a:ln>
                <a:solidFill>
                  <a:srgbClr val="166478"/>
                </a:solidFill>
                <a:effectLst/>
                <a:uLnTx/>
                <a:uFillTx/>
                <a:latin typeface="Century Gothic"/>
                <a:ea typeface="Century Gothic"/>
                <a:cs typeface="Century Gothic"/>
                <a:sym typeface="Century Gothic"/>
              </a:rPr>
              <a:t>pour prioriser l’action ! </a:t>
            </a:r>
            <a:endParaRPr kumimoji="0" sz="20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just" defTabSz="914400" rtl="0" eaLnBrk="1" fontAlgn="auto" latinLnBrk="0" hangingPunct="1">
              <a:lnSpc>
                <a:spcPct val="100000"/>
              </a:lnSpc>
              <a:spcBef>
                <a:spcPts val="2400"/>
              </a:spcBef>
              <a:spcAft>
                <a:spcPts val="0"/>
              </a:spcAft>
              <a:buClr>
                <a:srgbClr val="166478"/>
              </a:buClr>
              <a:buSzPts val="2300"/>
              <a:buFont typeface="Arial"/>
              <a:buNone/>
              <a:tabLst/>
              <a:defRPr/>
            </a:pPr>
            <a:r>
              <a:rPr kumimoji="0" lang="fr-FR" sz="2000" b="1" i="0" u="none" strike="noStrike" kern="0" cap="none" spc="0" normalizeH="0" baseline="0" noProof="0" dirty="0">
                <a:ln>
                  <a:noFill/>
                </a:ln>
                <a:solidFill>
                  <a:srgbClr val="166478"/>
                </a:solidFill>
                <a:effectLst/>
                <a:uLnTx/>
                <a:uFillTx/>
                <a:latin typeface="Century Gothic"/>
                <a:ea typeface="Century Gothic"/>
                <a:cs typeface="Century Gothic"/>
                <a:sym typeface="Century Gothic"/>
              </a:rPr>
              <a:t>Pour éliminer le problème à la source, il faut suivre une démarche ERC : </a:t>
            </a:r>
            <a:r>
              <a:rPr kumimoji="0" lang="fr-FR" sz="2000" b="1" i="0" u="none" strike="noStrike" kern="0" cap="none" spc="0" normalizeH="0" baseline="0" noProof="0" dirty="0">
                <a:ln>
                  <a:noFill/>
                </a:ln>
                <a:solidFill>
                  <a:srgbClr val="F6AB38"/>
                </a:solidFill>
                <a:effectLst/>
                <a:uLnTx/>
                <a:uFillTx/>
                <a:latin typeface="Century Gothic"/>
                <a:ea typeface="Century Gothic"/>
                <a:cs typeface="Century Gothic"/>
                <a:sym typeface="Century Gothic"/>
              </a:rPr>
              <a:t>Eviter, Réduire, Compenser</a:t>
            </a:r>
            <a:r>
              <a:rPr kumimoji="0" lang="fr-FR" sz="2000" b="1" i="0" u="none" strike="noStrike" kern="0" cap="none" spc="0" normalizeH="0" baseline="0" noProof="0" dirty="0">
                <a:ln>
                  <a:noFill/>
                </a:ln>
                <a:solidFill>
                  <a:srgbClr val="166478"/>
                </a:solidFill>
                <a:effectLst/>
                <a:uLnTx/>
                <a:uFillTx/>
                <a:latin typeface="Century Gothic"/>
                <a:ea typeface="Century Gothic"/>
                <a:cs typeface="Century Gothic"/>
                <a:sym typeface="Century Gothic"/>
              </a:rPr>
              <a:t>. Et dans cet ordre ! </a:t>
            </a:r>
            <a:endParaRPr kumimoji="0" sz="20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just" defTabSz="914400" rtl="0" eaLnBrk="1" fontAlgn="auto" latinLnBrk="0" hangingPunct="1">
              <a:lnSpc>
                <a:spcPct val="100000"/>
              </a:lnSpc>
              <a:spcBef>
                <a:spcPts val="2400"/>
              </a:spcBef>
              <a:spcAft>
                <a:spcPts val="0"/>
              </a:spcAft>
              <a:buClr>
                <a:srgbClr val="166478"/>
              </a:buClr>
              <a:buSzPts val="2300"/>
              <a:buFont typeface="Arial"/>
              <a:buNone/>
              <a:tabLst/>
              <a:defRPr/>
            </a:pPr>
            <a:r>
              <a:rPr kumimoji="0" lang="fr-FR" sz="2000" b="1" i="0" u="none" strike="noStrike" kern="0" cap="none" spc="0" normalizeH="0" baseline="0" noProof="0" dirty="0">
                <a:ln>
                  <a:noFill/>
                </a:ln>
                <a:solidFill>
                  <a:srgbClr val="166478"/>
                </a:solidFill>
                <a:effectLst/>
                <a:uLnTx/>
                <a:uFillTx/>
                <a:latin typeface="Century Gothic"/>
                <a:ea typeface="Century Gothic"/>
                <a:cs typeface="Century Gothic"/>
                <a:sym typeface="Century Gothic"/>
              </a:rPr>
              <a:t>A chaque contexte correspond un </a:t>
            </a:r>
            <a:r>
              <a:rPr kumimoji="0" lang="fr-FR" sz="2000" b="1" i="0" u="none" strike="noStrike" kern="0" cap="none" spc="0" normalizeH="0" baseline="0" noProof="0" dirty="0">
                <a:ln>
                  <a:noFill/>
                </a:ln>
                <a:solidFill>
                  <a:srgbClr val="F6AB38"/>
                </a:solidFill>
                <a:effectLst/>
                <a:uLnTx/>
                <a:uFillTx/>
                <a:latin typeface="Century Gothic"/>
                <a:ea typeface="Century Gothic"/>
                <a:cs typeface="Century Gothic"/>
                <a:sym typeface="Century Gothic"/>
              </a:rPr>
              <a:t>niveau de technologie</a:t>
            </a:r>
            <a:r>
              <a:rPr kumimoji="0" lang="fr-FR" sz="2000" b="1" i="0" u="none" strike="noStrike" kern="0" cap="none" spc="0" normalizeH="0" baseline="0" noProof="0" dirty="0">
                <a:ln>
                  <a:noFill/>
                </a:ln>
                <a:solidFill>
                  <a:srgbClr val="166478"/>
                </a:solidFill>
                <a:effectLst/>
                <a:uLnTx/>
                <a:uFillTx/>
                <a:latin typeface="Century Gothic"/>
                <a:ea typeface="Century Gothic"/>
                <a:cs typeface="Century Gothic"/>
                <a:sym typeface="Century Gothic"/>
              </a:rPr>
              <a:t> approprié. </a:t>
            </a:r>
            <a:endParaRPr kumimoji="0" sz="20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just" defTabSz="914400" rtl="0" eaLnBrk="1" fontAlgn="auto" latinLnBrk="0" hangingPunct="1">
              <a:lnSpc>
                <a:spcPct val="100000"/>
              </a:lnSpc>
              <a:spcBef>
                <a:spcPts val="3000"/>
              </a:spcBef>
              <a:spcAft>
                <a:spcPts val="0"/>
              </a:spcAft>
              <a:buClr>
                <a:srgbClr val="166478"/>
              </a:buClr>
              <a:buSzPts val="2300"/>
              <a:buFont typeface="Arial"/>
              <a:buNone/>
              <a:tabLst/>
              <a:defRPr/>
            </a:pPr>
            <a:r>
              <a:rPr kumimoji="0" lang="fr-FR" sz="2000" b="1" i="0" u="none" strike="noStrike" kern="0" cap="none" spc="0" normalizeH="0" baseline="0" noProof="0" dirty="0">
                <a:ln>
                  <a:noFill/>
                </a:ln>
                <a:solidFill>
                  <a:srgbClr val="166478"/>
                </a:solidFill>
                <a:effectLst/>
                <a:uLnTx/>
                <a:uFillTx/>
                <a:latin typeface="Century Gothic"/>
                <a:ea typeface="Century Gothic"/>
                <a:cs typeface="Century Gothic"/>
                <a:sym typeface="Century Gothic"/>
              </a:rPr>
              <a:t>Être acteur du changement, c’est accepter le </a:t>
            </a:r>
            <a:r>
              <a:rPr kumimoji="0" lang="fr-FR" sz="2000" b="1" i="0" u="none" strike="noStrike" kern="0" cap="none" spc="0" normalizeH="0" baseline="0" noProof="0" dirty="0">
                <a:ln>
                  <a:noFill/>
                </a:ln>
                <a:solidFill>
                  <a:srgbClr val="F6AB38"/>
                </a:solidFill>
                <a:effectLst/>
                <a:uLnTx/>
                <a:uFillTx/>
                <a:latin typeface="Century Gothic"/>
                <a:ea typeface="Century Gothic"/>
                <a:cs typeface="Century Gothic"/>
                <a:sym typeface="Century Gothic"/>
              </a:rPr>
              <a:t>temps long </a:t>
            </a:r>
            <a:r>
              <a:rPr kumimoji="0" lang="fr-FR" sz="2000" b="1" i="0" u="none" strike="noStrike" kern="0" cap="none" spc="0" normalizeH="0" baseline="0" noProof="0" dirty="0">
                <a:ln>
                  <a:noFill/>
                </a:ln>
                <a:solidFill>
                  <a:srgbClr val="166478"/>
                </a:solidFill>
                <a:effectLst/>
                <a:uLnTx/>
                <a:uFillTx/>
                <a:latin typeface="Century Gothic"/>
                <a:ea typeface="Century Gothic"/>
                <a:cs typeface="Century Gothic"/>
                <a:sym typeface="Century Gothic"/>
              </a:rPr>
              <a:t>et les </a:t>
            </a:r>
            <a:r>
              <a:rPr kumimoji="0" lang="fr-FR" sz="2000" b="1" i="0" u="none" strike="noStrike" kern="0" cap="none" spc="0" normalizeH="0" baseline="0" noProof="0" dirty="0">
                <a:ln>
                  <a:noFill/>
                </a:ln>
                <a:solidFill>
                  <a:srgbClr val="F6AB38"/>
                </a:solidFill>
                <a:effectLst/>
                <a:uLnTx/>
                <a:uFillTx/>
                <a:latin typeface="Century Gothic"/>
                <a:ea typeface="Century Gothic"/>
                <a:cs typeface="Century Gothic"/>
                <a:sym typeface="Century Gothic"/>
              </a:rPr>
              <a:t>compromis</a:t>
            </a:r>
            <a:r>
              <a:rPr kumimoji="0" lang="fr-FR" sz="2000" b="1" i="0" u="none" strike="noStrike" kern="0" cap="none" spc="0" normalizeH="0" baseline="0" noProof="0" dirty="0">
                <a:ln>
                  <a:noFill/>
                </a:ln>
                <a:solidFill>
                  <a:srgbClr val="166478"/>
                </a:solidFill>
                <a:effectLst/>
                <a:uLnTx/>
                <a:uFillTx/>
                <a:latin typeface="Century Gothic"/>
                <a:ea typeface="Century Gothic"/>
                <a:cs typeface="Century Gothic"/>
                <a:sym typeface="Century Gothic"/>
              </a:rPr>
              <a:t> !</a:t>
            </a:r>
            <a:endParaRPr kumimoji="0" sz="20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just" defTabSz="914400" rtl="0" eaLnBrk="1" fontAlgn="auto" latinLnBrk="0" hangingPunct="1">
              <a:lnSpc>
                <a:spcPct val="100000"/>
              </a:lnSpc>
              <a:spcBef>
                <a:spcPts val="2400"/>
              </a:spcBef>
              <a:spcAft>
                <a:spcPts val="0"/>
              </a:spcAft>
              <a:buClr>
                <a:srgbClr val="166478"/>
              </a:buClr>
              <a:buSzPts val="2400"/>
              <a:buFont typeface="Arial"/>
              <a:buNone/>
              <a:tabLst/>
              <a:defRPr/>
            </a:pPr>
            <a:endParaRPr kumimoji="0" sz="2000" b="1" i="0" u="none" strike="noStrike" kern="0" cap="none" spc="0" normalizeH="0" baseline="0" noProof="0" dirty="0">
              <a:ln>
                <a:noFill/>
              </a:ln>
              <a:solidFill>
                <a:srgbClr val="166478"/>
              </a:solidFill>
              <a:effectLst/>
              <a:uLnTx/>
              <a:uFillTx/>
              <a:latin typeface="Century Gothic"/>
              <a:ea typeface="Century Gothic"/>
              <a:cs typeface="Century Gothic"/>
              <a:sym typeface="Century Gothic"/>
            </a:endParaRPr>
          </a:p>
        </p:txBody>
      </p:sp>
      <p:pic>
        <p:nvPicPr>
          <p:cNvPr id="299" name="Google Shape;299;gec8223986c_1_955"/>
          <p:cNvPicPr preferRelativeResize="0"/>
          <p:nvPr/>
        </p:nvPicPr>
        <p:blipFill rotWithShape="1">
          <a:blip r:embed="rId4">
            <a:alphaModFix/>
          </a:blip>
          <a:srcRect/>
          <a:stretch/>
        </p:blipFill>
        <p:spPr>
          <a:xfrm>
            <a:off x="707314" y="4710246"/>
            <a:ext cx="634069" cy="634069"/>
          </a:xfrm>
          <a:prstGeom prst="rect">
            <a:avLst/>
          </a:prstGeom>
          <a:noFill/>
          <a:ln>
            <a:noFill/>
          </a:ln>
        </p:spPr>
      </p:pic>
      <p:pic>
        <p:nvPicPr>
          <p:cNvPr id="300" name="Google Shape;300;gec8223986c_1_955"/>
          <p:cNvPicPr preferRelativeResize="0"/>
          <p:nvPr/>
        </p:nvPicPr>
        <p:blipFill rotWithShape="1">
          <a:blip r:embed="rId5">
            <a:alphaModFix/>
          </a:blip>
          <a:srcRect/>
          <a:stretch/>
        </p:blipFill>
        <p:spPr>
          <a:xfrm>
            <a:off x="783926" y="5530038"/>
            <a:ext cx="480843" cy="480843"/>
          </a:xfrm>
          <a:prstGeom prst="rect">
            <a:avLst/>
          </a:prstGeom>
          <a:noFill/>
          <a:ln>
            <a:noFill/>
          </a:ln>
        </p:spPr>
      </p:pic>
      <p:pic>
        <p:nvPicPr>
          <p:cNvPr id="301" name="Google Shape;301;gec8223986c_1_955"/>
          <p:cNvPicPr preferRelativeResize="0"/>
          <p:nvPr/>
        </p:nvPicPr>
        <p:blipFill rotWithShape="1">
          <a:blip r:embed="rId6">
            <a:alphaModFix/>
          </a:blip>
          <a:srcRect/>
          <a:stretch/>
        </p:blipFill>
        <p:spPr>
          <a:xfrm>
            <a:off x="218241" y="1449390"/>
            <a:ext cx="1435159" cy="1070087"/>
          </a:xfrm>
          <a:prstGeom prst="rect">
            <a:avLst/>
          </a:prstGeom>
          <a:noFill/>
          <a:ln>
            <a:noFill/>
          </a:ln>
        </p:spPr>
      </p:pic>
      <p:pic>
        <p:nvPicPr>
          <p:cNvPr id="302" name="Google Shape;302;gec8223986c_1_955"/>
          <p:cNvPicPr preferRelativeResize="0"/>
          <p:nvPr/>
        </p:nvPicPr>
        <p:blipFill rotWithShape="1">
          <a:blip r:embed="rId7">
            <a:alphaModFix/>
          </a:blip>
          <a:srcRect/>
          <a:stretch/>
        </p:blipFill>
        <p:spPr>
          <a:xfrm>
            <a:off x="611188" y="3807259"/>
            <a:ext cx="758275" cy="749084"/>
          </a:xfrm>
          <a:prstGeom prst="rect">
            <a:avLst/>
          </a:prstGeom>
          <a:noFill/>
          <a:ln>
            <a:noFill/>
          </a:ln>
        </p:spPr>
      </p:pic>
      <p:pic>
        <p:nvPicPr>
          <p:cNvPr id="303" name="Google Shape;303;gec8223986c_1_955"/>
          <p:cNvPicPr preferRelativeResize="0"/>
          <p:nvPr/>
        </p:nvPicPr>
        <p:blipFill rotWithShape="1">
          <a:blip r:embed="rId8">
            <a:alphaModFix/>
          </a:blip>
          <a:srcRect/>
          <a:stretch/>
        </p:blipFill>
        <p:spPr>
          <a:xfrm>
            <a:off x="542174" y="2729772"/>
            <a:ext cx="964350" cy="968857"/>
          </a:xfrm>
          <a:prstGeom prst="rect">
            <a:avLst/>
          </a:prstGeom>
          <a:noFill/>
          <a:ln>
            <a:noFill/>
          </a:ln>
        </p:spPr>
      </p:pic>
      <p:sp>
        <p:nvSpPr>
          <p:cNvPr id="10" name="Google Shape;130;p3">
            <a:extLst>
              <a:ext uri="{FF2B5EF4-FFF2-40B4-BE49-F238E27FC236}">
                <a16:creationId xmlns:a16="http://schemas.microsoft.com/office/drawing/2014/main" id="{55E49999-EE9E-4CFE-B545-B39E4AB974AF}"/>
              </a:ext>
            </a:extLst>
          </p:cNvPr>
          <p:cNvSpPr txBox="1">
            <a:spLocks/>
          </p:cNvSpPr>
          <p:nvPr/>
        </p:nvSpPr>
        <p:spPr>
          <a:xfrm>
            <a:off x="0" y="6306650"/>
            <a:ext cx="611188" cy="365125"/>
          </a:xfrm>
          <a:prstGeom prst="rect">
            <a:avLst/>
          </a:prstGeom>
          <a:noFill/>
          <a:ln>
            <a:noFill/>
          </a:ln>
        </p:spPr>
        <p:txBody>
          <a:bodyPr spcFirstLastPara="1" wrap="square" lIns="0" tIns="0" rIns="0" bIns="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
                <a:srgbClr val="000000"/>
              </a:buClr>
              <a:buSzPts val="1400"/>
              <a:buFont typeface="Arial"/>
              <a:buNone/>
            </a:pPr>
            <a:fld id="{00000000-1234-1234-1234-123412341234}" type="slidenum">
              <a:rPr lang="fr-FR" smtClean="0"/>
              <a:pPr algn="ctr">
                <a:buClr>
                  <a:srgbClr val="000000"/>
                </a:buClr>
                <a:buSzPts val="1400"/>
                <a:buFont typeface="Arial"/>
                <a:buNone/>
              </a:pPr>
              <a:t>34</a:t>
            </a:fld>
            <a:endParaRPr lang="fr-F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ec8223986c_1_1033"/>
          <p:cNvSpPr txBox="1">
            <a:spLocks noGrp="1"/>
          </p:cNvSpPr>
          <p:nvPr>
            <p:ph type="title"/>
          </p:nvPr>
        </p:nvSpPr>
        <p:spPr>
          <a:xfrm>
            <a:off x="2027548" y="0"/>
            <a:ext cx="8028900" cy="9807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fr-FR" sz="2800"/>
              <a:t>Ce</a:t>
            </a:r>
            <a:r>
              <a:rPr lang="fr-FR"/>
              <a:t> qu’il faut re</a:t>
            </a:r>
            <a:r>
              <a:rPr lang="fr-FR" sz="3600"/>
              <a:t>te</a:t>
            </a:r>
            <a:r>
              <a:rPr lang="fr-FR"/>
              <a:t>nir</a:t>
            </a:r>
            <a:endParaRPr/>
          </a:p>
        </p:txBody>
      </p:sp>
      <p:pic>
        <p:nvPicPr>
          <p:cNvPr id="310" name="Google Shape;310;gec8223986c_1_1033"/>
          <p:cNvPicPr preferRelativeResize="0"/>
          <p:nvPr/>
        </p:nvPicPr>
        <p:blipFill rotWithShape="1">
          <a:blip r:embed="rId3">
            <a:alphaModFix/>
          </a:blip>
          <a:srcRect/>
          <a:stretch/>
        </p:blipFill>
        <p:spPr>
          <a:xfrm flipH="1">
            <a:off x="4223792" y="199033"/>
            <a:ext cx="939563" cy="939563"/>
          </a:xfrm>
          <a:prstGeom prst="rect">
            <a:avLst/>
          </a:prstGeom>
          <a:noFill/>
          <a:ln>
            <a:noFill/>
          </a:ln>
        </p:spPr>
      </p:pic>
      <p:sp>
        <p:nvSpPr>
          <p:cNvPr id="311" name="Google Shape;311;gec8223986c_1_1033"/>
          <p:cNvSpPr txBox="1"/>
          <p:nvPr/>
        </p:nvSpPr>
        <p:spPr>
          <a:xfrm>
            <a:off x="1887743" y="1376670"/>
            <a:ext cx="9366412" cy="53721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166478"/>
              </a:buClr>
              <a:buSzPts val="2400"/>
              <a:buFont typeface="Arial"/>
              <a:buNone/>
              <a:tabLst/>
              <a:defRPr/>
            </a:pPr>
            <a:r>
              <a:rPr kumimoji="0" lang="fr-FR" sz="2000" b="1" i="0" u="none" strike="noStrike" kern="0" cap="none" spc="0" normalizeH="0" baseline="0" noProof="0">
                <a:ln>
                  <a:noFill/>
                </a:ln>
                <a:solidFill>
                  <a:srgbClr val="166478"/>
                </a:solidFill>
                <a:effectLst/>
                <a:uLnTx/>
                <a:uFillTx/>
                <a:latin typeface="Century Gothic"/>
                <a:ea typeface="Century Gothic"/>
                <a:cs typeface="Century Gothic"/>
                <a:sym typeface="Century Gothic"/>
              </a:rPr>
              <a:t>Réduire les émissions de gaz à effet de serre peut avoir beaucoup de </a:t>
            </a:r>
            <a:r>
              <a:rPr kumimoji="0" lang="fr-FR" sz="2000" b="1" i="0" u="none" strike="noStrike" kern="0" cap="none" spc="0" normalizeH="0" baseline="0" noProof="0" err="1">
                <a:ln>
                  <a:noFill/>
                </a:ln>
                <a:solidFill>
                  <a:srgbClr val="F6AB38"/>
                </a:solidFill>
                <a:effectLst/>
                <a:uLnTx/>
                <a:uFillTx/>
                <a:latin typeface="Century Gothic"/>
                <a:ea typeface="Century Gothic"/>
                <a:cs typeface="Century Gothic"/>
                <a:sym typeface="Century Gothic"/>
              </a:rPr>
              <a:t>co</a:t>
            </a:r>
            <a:r>
              <a:rPr kumimoji="0" lang="fr-FR" sz="2000" b="1" i="0" u="none" strike="noStrike" kern="0" cap="none" spc="0" normalizeH="0" baseline="0" noProof="0">
                <a:ln>
                  <a:noFill/>
                </a:ln>
                <a:solidFill>
                  <a:srgbClr val="F6AB38"/>
                </a:solidFill>
                <a:effectLst/>
                <a:uLnTx/>
                <a:uFillTx/>
                <a:latin typeface="Century Gothic"/>
                <a:ea typeface="Century Gothic"/>
                <a:cs typeface="Century Gothic"/>
                <a:sym typeface="Century Gothic"/>
              </a:rPr>
              <a:t>-bénéfices</a:t>
            </a:r>
            <a:r>
              <a:rPr kumimoji="0" lang="fr-FR" sz="2000" b="1" i="0" u="none" strike="noStrike" kern="0" cap="none" spc="0" normalizeH="0" baseline="0" noProof="0">
                <a:ln>
                  <a:noFill/>
                </a:ln>
                <a:solidFill>
                  <a:srgbClr val="166478"/>
                </a:solidFill>
                <a:effectLst/>
                <a:uLnTx/>
                <a:uFillTx/>
                <a:latin typeface="Century Gothic"/>
                <a:ea typeface="Century Gothic"/>
                <a:cs typeface="Century Gothic"/>
                <a:sym typeface="Century Gothic"/>
              </a:rPr>
              <a:t> en </a:t>
            </a:r>
            <a:r>
              <a:rPr lang="fr-FR" sz="2000" b="1" kern="0" dirty="0">
                <a:solidFill>
                  <a:srgbClr val="166478"/>
                </a:solidFill>
                <a:latin typeface="Century Gothic"/>
                <a:ea typeface="Century Gothic"/>
                <a:cs typeface="Century Gothic"/>
                <a:sym typeface="Century Gothic"/>
              </a:rPr>
              <a:t>termes</a:t>
            </a:r>
            <a:r>
              <a:rPr kumimoji="0" lang="fr-FR" sz="2000" b="1" i="0" u="none" strike="noStrike" kern="0" cap="none" spc="0" normalizeH="0" baseline="0" noProof="0" dirty="0">
                <a:ln>
                  <a:noFill/>
                </a:ln>
                <a:solidFill>
                  <a:srgbClr val="166478"/>
                </a:solidFill>
                <a:effectLst/>
                <a:uLnTx/>
                <a:uFillTx/>
                <a:latin typeface="Century Gothic"/>
                <a:ea typeface="Century Gothic"/>
                <a:cs typeface="Century Gothic"/>
                <a:sym typeface="Century Gothic"/>
              </a:rPr>
              <a:t> de qualité de vie !</a:t>
            </a:r>
            <a:endParaRPr kumimoji="0" sz="2000" b="0" i="0" u="none" strike="noStrike" kern="0" cap="none" spc="0" normalizeH="0" baseline="0" noProof="0">
              <a:ln>
                <a:noFill/>
              </a:ln>
              <a:solidFill>
                <a:srgbClr val="000000"/>
              </a:solidFill>
              <a:effectLst/>
              <a:uLnTx/>
              <a:uFillTx/>
              <a:latin typeface="Arial"/>
              <a:cs typeface="Arial"/>
              <a:sym typeface="Arial"/>
            </a:endParaRPr>
          </a:p>
          <a:p>
            <a:pPr algn="just" defTabSz="914400">
              <a:spcBef>
                <a:spcPts val="3000"/>
              </a:spcBef>
              <a:buClr>
                <a:srgbClr val="166478"/>
              </a:buClr>
              <a:buSzPts val="2400"/>
              <a:defRPr/>
            </a:pPr>
            <a:r>
              <a:rPr kumimoji="0" lang="fr-FR" sz="2000" b="1" i="0" u="none" strike="noStrike" kern="0" cap="none" spc="0" normalizeH="0" baseline="0" noProof="0">
                <a:ln>
                  <a:noFill/>
                </a:ln>
                <a:solidFill>
                  <a:srgbClr val="166478"/>
                </a:solidFill>
                <a:effectLst/>
                <a:uLnTx/>
                <a:uFillTx/>
                <a:latin typeface="Century Gothic"/>
                <a:ea typeface="Century Gothic"/>
                <a:cs typeface="Century Gothic"/>
                <a:sym typeface="Century Gothic"/>
              </a:rPr>
              <a:t>En revanche, </a:t>
            </a:r>
            <a:r>
              <a:rPr kumimoji="0" lang="fr-FR" sz="2000" b="1" i="0" u="none" strike="noStrike" kern="0" cap="none" spc="0" normalizeH="0" baseline="0" noProof="0">
                <a:ln>
                  <a:noFill/>
                </a:ln>
                <a:solidFill>
                  <a:srgbClr val="F6AB38"/>
                </a:solidFill>
                <a:effectLst/>
                <a:uLnTx/>
                <a:uFillTx/>
                <a:latin typeface="Century Gothic"/>
                <a:ea typeface="Century Gothic"/>
                <a:cs typeface="Century Gothic"/>
                <a:sym typeface="Century Gothic"/>
              </a:rPr>
              <a:t>le carbone ne peut pas être l’unique critère </a:t>
            </a:r>
            <a:r>
              <a:rPr kumimoji="0" lang="fr-FR" sz="2000" b="1" i="0" u="none" strike="noStrike" kern="0" cap="none" spc="0" normalizeH="0" baseline="0" noProof="0">
                <a:ln>
                  <a:noFill/>
                </a:ln>
                <a:solidFill>
                  <a:srgbClr val="166478"/>
                </a:solidFill>
                <a:effectLst/>
                <a:uLnTx/>
                <a:uFillTx/>
                <a:latin typeface="Century Gothic"/>
                <a:ea typeface="Century Gothic"/>
                <a:cs typeface="Century Gothic"/>
                <a:sym typeface="Century Gothic"/>
              </a:rPr>
              <a:t>de décision ! </a:t>
            </a:r>
            <a:r>
              <a:rPr kumimoji="0" lang="fr-FR" sz="2000" b="1" i="0" u="none" strike="noStrike" kern="0" cap="none" spc="0" normalizeH="0" baseline="0" noProof="0" dirty="0">
                <a:ln>
                  <a:noFill/>
                </a:ln>
                <a:solidFill>
                  <a:srgbClr val="166478"/>
                </a:solidFill>
                <a:effectLst/>
                <a:uLnTx/>
                <a:uFillTx/>
                <a:latin typeface="Century Gothic"/>
                <a:ea typeface="Century Gothic"/>
                <a:cs typeface="Century Gothic"/>
                <a:sym typeface="Century Gothic"/>
              </a:rPr>
              <a:t>Une approche multicritère est indispensable pour voir plus loin qu’uniquement les émissions de gaz à effet de serre !</a:t>
            </a:r>
            <a:r>
              <a:rPr lang="fr-FR" sz="2000" b="1" kern="0" dirty="0">
                <a:solidFill>
                  <a:srgbClr val="166478"/>
                </a:solidFill>
                <a:latin typeface="Century Gothic"/>
                <a:ea typeface="Century Gothic"/>
                <a:cs typeface="Century Gothic"/>
                <a:sym typeface="Century Gothic"/>
              </a:rPr>
              <a:t> </a:t>
            </a:r>
            <a:endParaRPr kumimoji="0" sz="2000" b="0" i="0" u="none" strike="noStrike" kern="0" cap="none" spc="0" normalizeH="0" baseline="0" noProof="0">
              <a:ln>
                <a:noFill/>
              </a:ln>
              <a:solidFill>
                <a:srgbClr val="000000"/>
              </a:solidFill>
              <a:effectLst/>
              <a:uLnTx/>
              <a:uFillTx/>
              <a:latin typeface="Arial"/>
              <a:cs typeface="Arial"/>
              <a:sym typeface="Arial"/>
            </a:endParaRPr>
          </a:p>
          <a:p>
            <a:pPr marL="0" marR="0" lvl="0" indent="0" algn="just" defTabSz="914400" rtl="0" eaLnBrk="1" fontAlgn="auto" latinLnBrk="0" hangingPunct="1">
              <a:lnSpc>
                <a:spcPct val="100000"/>
              </a:lnSpc>
              <a:spcBef>
                <a:spcPts val="3000"/>
              </a:spcBef>
              <a:spcAft>
                <a:spcPts val="0"/>
              </a:spcAft>
              <a:buClr>
                <a:srgbClr val="166478"/>
              </a:buClr>
              <a:buSzPts val="2400"/>
              <a:buFont typeface="Arial"/>
              <a:buNone/>
              <a:tabLst/>
              <a:defRPr/>
            </a:pPr>
            <a:r>
              <a:rPr kumimoji="0" lang="fr-FR" sz="2000" b="1" i="0" u="none" strike="noStrike" kern="0" cap="none" spc="0" normalizeH="0" baseline="0" noProof="0">
                <a:ln>
                  <a:noFill/>
                </a:ln>
                <a:solidFill>
                  <a:srgbClr val="166478"/>
                </a:solidFill>
                <a:effectLst/>
                <a:uLnTx/>
                <a:uFillTx/>
                <a:latin typeface="Century Gothic"/>
                <a:ea typeface="Century Gothic"/>
                <a:cs typeface="Century Gothic"/>
                <a:sym typeface="Century Gothic"/>
              </a:rPr>
              <a:t>L’idéal est de p</a:t>
            </a:r>
            <a:r>
              <a:rPr kumimoji="0" lang="fr-FR" sz="2000" b="1" i="0" u="none" strike="noStrike" kern="0" cap="none" spc="0" normalizeH="0" baseline="0" noProof="0">
                <a:ln>
                  <a:noFill/>
                </a:ln>
                <a:solidFill>
                  <a:srgbClr val="085160"/>
                </a:solidFill>
                <a:effectLst/>
                <a:uLnTx/>
                <a:uFillTx/>
                <a:latin typeface="Century Gothic"/>
                <a:ea typeface="Century Gothic"/>
                <a:cs typeface="Century Gothic"/>
                <a:sym typeface="Century Gothic"/>
              </a:rPr>
              <a:t>rivilégier les solutions qui apparaissent </a:t>
            </a:r>
            <a:r>
              <a:rPr kumimoji="0" lang="fr-FR" sz="2000" b="1" i="0" u="none" strike="noStrike" kern="0" cap="none" spc="0" normalizeH="0" baseline="0" noProof="0">
                <a:ln>
                  <a:noFill/>
                </a:ln>
                <a:solidFill>
                  <a:srgbClr val="F6AB38"/>
                </a:solidFill>
                <a:effectLst/>
                <a:uLnTx/>
                <a:uFillTx/>
                <a:latin typeface="Century Gothic"/>
                <a:ea typeface="Century Gothic"/>
                <a:cs typeface="Century Gothic"/>
                <a:sym typeface="Century Gothic"/>
              </a:rPr>
              <a:t>gagnantes</a:t>
            </a:r>
            <a:r>
              <a:rPr kumimoji="0" lang="fr-FR" sz="2000" b="1" i="0" u="none" strike="noStrike" kern="0" cap="none" spc="0" normalizeH="0" baseline="0" noProof="0">
                <a:ln>
                  <a:noFill/>
                </a:ln>
                <a:solidFill>
                  <a:srgbClr val="085160"/>
                </a:solidFill>
                <a:effectLst/>
                <a:uLnTx/>
                <a:uFillTx/>
                <a:latin typeface="Century Gothic"/>
                <a:ea typeface="Century Gothic"/>
                <a:cs typeface="Century Gothic"/>
                <a:sym typeface="Century Gothic"/>
              </a:rPr>
              <a:t> par rapport à </a:t>
            </a:r>
            <a:r>
              <a:rPr kumimoji="0" lang="fr-FR" sz="2000" b="1" i="0" u="none" strike="noStrike" kern="0" cap="none" spc="0" normalizeH="0" baseline="0" noProof="0">
                <a:ln>
                  <a:noFill/>
                </a:ln>
                <a:solidFill>
                  <a:srgbClr val="F6AB38"/>
                </a:solidFill>
                <a:effectLst/>
                <a:uLnTx/>
                <a:uFillTx/>
                <a:latin typeface="Century Gothic"/>
                <a:ea typeface="Century Gothic"/>
                <a:cs typeface="Century Gothic"/>
                <a:sym typeface="Century Gothic"/>
              </a:rPr>
              <a:t>plusieurs indicateurs</a:t>
            </a:r>
            <a:r>
              <a:rPr kumimoji="0" lang="fr-FR" sz="2000" b="1" i="0" u="none" strike="noStrike" kern="0" cap="none" spc="0" normalizeH="0" baseline="0" noProof="0">
                <a:ln>
                  <a:noFill/>
                </a:ln>
                <a:solidFill>
                  <a:srgbClr val="085160"/>
                </a:solidFill>
                <a:effectLst/>
                <a:uLnTx/>
                <a:uFillTx/>
                <a:latin typeface="Century Gothic"/>
                <a:ea typeface="Century Gothic"/>
                <a:cs typeface="Century Gothic"/>
                <a:sym typeface="Century Gothic"/>
              </a:rPr>
              <a:t>. </a:t>
            </a:r>
            <a:r>
              <a:rPr kumimoji="0" lang="fr-FR" sz="2000" b="1" i="0" u="none" strike="noStrike" kern="0" cap="none" spc="0" normalizeH="0" baseline="0" noProof="0" dirty="0">
                <a:ln>
                  <a:noFill/>
                </a:ln>
                <a:solidFill>
                  <a:srgbClr val="085160"/>
                </a:solidFill>
                <a:effectLst/>
                <a:uLnTx/>
                <a:uFillTx/>
                <a:latin typeface="Century Gothic"/>
                <a:ea typeface="Century Gothic"/>
                <a:cs typeface="Century Gothic"/>
                <a:sym typeface="Century Gothic"/>
              </a:rPr>
              <a:t>Et de limiter les impacts négatifs.</a:t>
            </a:r>
            <a:endParaRPr kumimoji="0" sz="2000" b="0" i="0" u="none" strike="noStrike" kern="0" cap="none" spc="0" normalizeH="0" baseline="0" noProof="0">
              <a:ln>
                <a:noFill/>
              </a:ln>
              <a:solidFill>
                <a:srgbClr val="000000"/>
              </a:solidFill>
              <a:effectLst/>
              <a:uLnTx/>
              <a:uFillTx/>
              <a:latin typeface="Arial"/>
              <a:cs typeface="Arial"/>
              <a:sym typeface="Arial"/>
            </a:endParaRPr>
          </a:p>
          <a:p>
            <a:pPr marL="0" marR="0" lvl="0" indent="0" algn="just" defTabSz="914400" rtl="0" eaLnBrk="1" fontAlgn="auto" latinLnBrk="0" hangingPunct="1">
              <a:lnSpc>
                <a:spcPct val="100000"/>
              </a:lnSpc>
              <a:spcBef>
                <a:spcPts val="3000"/>
              </a:spcBef>
              <a:spcAft>
                <a:spcPts val="0"/>
              </a:spcAft>
              <a:buClr>
                <a:srgbClr val="166478"/>
              </a:buClr>
              <a:buSzPts val="2400"/>
              <a:buFont typeface="Arial"/>
              <a:buNone/>
              <a:tabLst/>
              <a:defRPr/>
            </a:pPr>
            <a:endParaRPr kumimoji="0" sz="2000" b="1" i="0" u="none" strike="noStrike" kern="0" cap="none" spc="0" normalizeH="0" baseline="0" noProof="0" dirty="0">
              <a:ln>
                <a:noFill/>
              </a:ln>
              <a:solidFill>
                <a:srgbClr val="166478"/>
              </a:solidFill>
              <a:effectLst/>
              <a:uLnTx/>
              <a:uFillTx/>
              <a:latin typeface="Century Gothic"/>
              <a:ea typeface="Century Gothic"/>
              <a:cs typeface="Century Gothic"/>
              <a:sym typeface="Century Gothic"/>
            </a:endParaRPr>
          </a:p>
          <a:p>
            <a:pPr marL="0" marR="0" lvl="0" indent="0" algn="just" defTabSz="914400" rtl="0" eaLnBrk="1" fontAlgn="auto" latinLnBrk="0" hangingPunct="1">
              <a:lnSpc>
                <a:spcPct val="100000"/>
              </a:lnSpc>
              <a:spcBef>
                <a:spcPts val="3000"/>
              </a:spcBef>
              <a:spcAft>
                <a:spcPts val="0"/>
              </a:spcAft>
              <a:buClr>
                <a:srgbClr val="166478"/>
              </a:buClr>
              <a:buSzPts val="2400"/>
              <a:buFont typeface="Arial"/>
              <a:buNone/>
              <a:tabLst/>
              <a:defRPr/>
            </a:pPr>
            <a:endParaRPr kumimoji="0" sz="2000" b="1" i="0" u="none" strike="noStrike" kern="0" cap="none" spc="0" normalizeH="0" baseline="0" noProof="0" dirty="0">
              <a:ln>
                <a:noFill/>
              </a:ln>
              <a:solidFill>
                <a:srgbClr val="166478"/>
              </a:solidFill>
              <a:effectLst/>
              <a:uLnTx/>
              <a:uFillTx/>
              <a:latin typeface="Century Gothic"/>
              <a:ea typeface="Century Gothic"/>
              <a:cs typeface="Century Gothic"/>
              <a:sym typeface="Century Gothic"/>
            </a:endParaRPr>
          </a:p>
        </p:txBody>
      </p:sp>
      <p:pic>
        <p:nvPicPr>
          <p:cNvPr id="312" name="Google Shape;312;gec8223986c_1_1033"/>
          <p:cNvPicPr preferRelativeResize="0"/>
          <p:nvPr/>
        </p:nvPicPr>
        <p:blipFill rotWithShape="1">
          <a:blip r:embed="rId4">
            <a:alphaModFix/>
          </a:blip>
          <a:srcRect/>
          <a:stretch/>
        </p:blipFill>
        <p:spPr>
          <a:xfrm>
            <a:off x="484875" y="2235663"/>
            <a:ext cx="1276820" cy="1317179"/>
          </a:xfrm>
          <a:prstGeom prst="rect">
            <a:avLst/>
          </a:prstGeom>
          <a:noFill/>
          <a:ln>
            <a:noFill/>
          </a:ln>
        </p:spPr>
      </p:pic>
      <p:pic>
        <p:nvPicPr>
          <p:cNvPr id="313" name="Google Shape;313;gec8223986c_1_1033"/>
          <p:cNvPicPr preferRelativeResize="0"/>
          <p:nvPr/>
        </p:nvPicPr>
        <p:blipFill rotWithShape="1">
          <a:blip r:embed="rId5">
            <a:alphaModFix/>
          </a:blip>
          <a:srcRect/>
          <a:stretch/>
        </p:blipFill>
        <p:spPr>
          <a:xfrm>
            <a:off x="700087" y="1268005"/>
            <a:ext cx="846397" cy="846397"/>
          </a:xfrm>
          <a:prstGeom prst="rect">
            <a:avLst/>
          </a:prstGeom>
          <a:noFill/>
          <a:ln>
            <a:noFill/>
          </a:ln>
        </p:spPr>
      </p:pic>
      <p:sp>
        <p:nvSpPr>
          <p:cNvPr id="314" name="Google Shape;314;gec8223986c_1_1033"/>
          <p:cNvSpPr/>
          <p:nvPr/>
        </p:nvSpPr>
        <p:spPr>
          <a:xfrm>
            <a:off x="3174403" y="5062089"/>
            <a:ext cx="6573600" cy="1232400"/>
          </a:xfrm>
          <a:prstGeom prst="rect">
            <a:avLst/>
          </a:prstGeom>
          <a:solidFill>
            <a:srgbClr val="F6AB38"/>
          </a:solidFill>
          <a:ln>
            <a:noFill/>
          </a:ln>
        </p:spPr>
        <p:txBody>
          <a:bodyPr spcFirstLastPara="1" wrap="square" lIns="91425" tIns="45700" rIns="91425" bIns="45700" anchor="ctr" anchorCtr="0">
            <a:noAutofit/>
          </a:bodyPr>
          <a:lstStyle/>
          <a:p>
            <a:pPr marL="914400" marR="0" lvl="2"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2400" b="1" i="0" u="none" strike="noStrike" kern="0" cap="none" spc="0" normalizeH="0" baseline="0" noProof="0">
                <a:ln>
                  <a:noFill/>
                </a:ln>
                <a:solidFill>
                  <a:srgbClr val="FFFFFF"/>
                </a:solidFill>
                <a:effectLst/>
                <a:uLnTx/>
                <a:uFillTx/>
                <a:latin typeface="Century Gothic"/>
                <a:ea typeface="Century Gothic"/>
                <a:cs typeface="Century Gothic"/>
                <a:sym typeface="Century Gothic"/>
              </a:rPr>
              <a:t>Conclusion : Entrainer son esprit critique est indispensable !</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315" name="Google Shape;315;gec8223986c_1_1033"/>
          <p:cNvPicPr preferRelativeResize="0"/>
          <p:nvPr/>
        </p:nvPicPr>
        <p:blipFill rotWithShape="1">
          <a:blip r:embed="rId6">
            <a:alphaModFix/>
          </a:blip>
          <a:srcRect/>
          <a:stretch/>
        </p:blipFill>
        <p:spPr>
          <a:xfrm>
            <a:off x="2444010" y="4725144"/>
            <a:ext cx="1656184" cy="1656184"/>
          </a:xfrm>
          <a:prstGeom prst="rect">
            <a:avLst/>
          </a:prstGeom>
          <a:noFill/>
          <a:ln>
            <a:noFill/>
          </a:ln>
        </p:spPr>
      </p:pic>
      <p:grpSp>
        <p:nvGrpSpPr>
          <p:cNvPr id="316" name="Google Shape;316;gec8223986c_1_1033"/>
          <p:cNvGrpSpPr/>
          <p:nvPr/>
        </p:nvGrpSpPr>
        <p:grpSpPr>
          <a:xfrm>
            <a:off x="821473" y="3750517"/>
            <a:ext cx="842941" cy="780944"/>
            <a:chOff x="27810" y="4721510"/>
            <a:chExt cx="842941" cy="780944"/>
          </a:xfrm>
        </p:grpSpPr>
        <p:pic>
          <p:nvPicPr>
            <p:cNvPr id="317" name="Google Shape;317;gec8223986c_1_1033"/>
            <p:cNvPicPr preferRelativeResize="0"/>
            <p:nvPr/>
          </p:nvPicPr>
          <p:blipFill rotWithShape="1">
            <a:blip r:embed="rId7">
              <a:alphaModFix/>
            </a:blip>
            <a:srcRect/>
            <a:stretch/>
          </p:blipFill>
          <p:spPr>
            <a:xfrm>
              <a:off x="27810" y="4725144"/>
              <a:ext cx="392289" cy="392289"/>
            </a:xfrm>
            <a:prstGeom prst="rect">
              <a:avLst/>
            </a:prstGeom>
            <a:noFill/>
            <a:ln>
              <a:noFill/>
            </a:ln>
          </p:spPr>
        </p:pic>
        <p:pic>
          <p:nvPicPr>
            <p:cNvPr id="318" name="Google Shape;318;gec8223986c_1_1033"/>
            <p:cNvPicPr preferRelativeResize="0"/>
            <p:nvPr/>
          </p:nvPicPr>
          <p:blipFill rotWithShape="1">
            <a:blip r:embed="rId7">
              <a:alphaModFix/>
            </a:blip>
            <a:srcRect/>
            <a:stretch/>
          </p:blipFill>
          <p:spPr>
            <a:xfrm>
              <a:off x="478462" y="4721510"/>
              <a:ext cx="392289" cy="392289"/>
            </a:xfrm>
            <a:prstGeom prst="rect">
              <a:avLst/>
            </a:prstGeom>
            <a:noFill/>
            <a:ln>
              <a:noFill/>
            </a:ln>
          </p:spPr>
        </p:pic>
        <p:pic>
          <p:nvPicPr>
            <p:cNvPr id="319" name="Google Shape;319;gec8223986c_1_1033"/>
            <p:cNvPicPr preferRelativeResize="0"/>
            <p:nvPr/>
          </p:nvPicPr>
          <p:blipFill rotWithShape="1">
            <a:blip r:embed="rId7">
              <a:alphaModFix/>
            </a:blip>
            <a:srcRect/>
            <a:stretch/>
          </p:blipFill>
          <p:spPr>
            <a:xfrm>
              <a:off x="252527" y="5110165"/>
              <a:ext cx="392289" cy="392289"/>
            </a:xfrm>
            <a:prstGeom prst="rect">
              <a:avLst/>
            </a:prstGeom>
            <a:noFill/>
            <a:ln>
              <a:noFill/>
            </a:ln>
          </p:spPr>
        </p:pic>
      </p:grpSp>
      <p:sp>
        <p:nvSpPr>
          <p:cNvPr id="13" name="Google Shape;130;p3">
            <a:extLst>
              <a:ext uri="{FF2B5EF4-FFF2-40B4-BE49-F238E27FC236}">
                <a16:creationId xmlns:a16="http://schemas.microsoft.com/office/drawing/2014/main" id="{F8D877DE-B7B9-40DA-BDFA-FB95DD6CDFBD}"/>
              </a:ext>
            </a:extLst>
          </p:cNvPr>
          <p:cNvSpPr txBox="1">
            <a:spLocks/>
          </p:cNvSpPr>
          <p:nvPr/>
        </p:nvSpPr>
        <p:spPr>
          <a:xfrm>
            <a:off x="0" y="6330096"/>
            <a:ext cx="611188" cy="365125"/>
          </a:xfrm>
          <a:prstGeom prst="rect">
            <a:avLst/>
          </a:prstGeom>
          <a:noFill/>
          <a:ln>
            <a:noFill/>
          </a:ln>
        </p:spPr>
        <p:txBody>
          <a:bodyPr spcFirstLastPara="1" wrap="square" lIns="0" tIns="0" rIns="0" bIns="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Clr>
                <a:srgbClr val="000000"/>
              </a:buClr>
              <a:buSzPts val="1400"/>
              <a:buFont typeface="Arial"/>
              <a:buNone/>
            </a:pPr>
            <a:fld id="{00000000-1234-1234-1234-123412341234}" type="slidenum">
              <a:rPr lang="fr-FR" smtClean="0"/>
              <a:pPr algn="ctr">
                <a:buClr>
                  <a:srgbClr val="000000"/>
                </a:buClr>
                <a:buSzPts val="1400"/>
                <a:buFont typeface="Arial"/>
                <a:buNone/>
              </a:pPr>
              <a:t>35</a:t>
            </a:fld>
            <a:endParaRPr lang="fr-FR" dirty="0"/>
          </a:p>
        </p:txBody>
      </p:sp>
    </p:spTree>
  </p:cSld>
  <p:clrMapOvr>
    <a:masterClrMapping/>
  </p:clrMapOvr>
</p:sld>
</file>

<file path=ppt/theme/theme1.xml><?xml version="1.0" encoding="utf-8"?>
<a:theme xmlns:a="http://schemas.openxmlformats.org/drawingml/2006/main" name="1_Cadr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eamsChannelId xmlns="fc455f0a-6b5a-4401-86ed-b97296dc509d" xsi:nil="true"/>
    <IsNotebookLocked xmlns="fc455f0a-6b5a-4401-86ed-b97296dc509d" xsi:nil="true"/>
    <DefaultSectionNames xmlns="fc455f0a-6b5a-4401-86ed-b97296dc509d" xsi:nil="true"/>
    <Templates xmlns="fc455f0a-6b5a-4401-86ed-b97296dc509d" xsi:nil="true"/>
    <Is_Collaboration_Space_Locked xmlns="fc455f0a-6b5a-4401-86ed-b97296dc509d" xsi:nil="true"/>
    <CultureName xmlns="fc455f0a-6b5a-4401-86ed-b97296dc509d" xsi:nil="true"/>
    <AppVersion xmlns="fc455f0a-6b5a-4401-86ed-b97296dc509d" xsi:nil="true"/>
    <LMS_Mappings xmlns="fc455f0a-6b5a-4401-86ed-b97296dc509d" xsi:nil="true"/>
    <Self_Registration_Enabled xmlns="fc455f0a-6b5a-4401-86ed-b97296dc509d" xsi:nil="true"/>
    <FolderType xmlns="fc455f0a-6b5a-4401-86ed-b97296dc509d" xsi:nil="true"/>
    <Teachers xmlns="fc455f0a-6b5a-4401-86ed-b97296dc509d">
      <UserInfo>
        <DisplayName/>
        <AccountId xsi:nil="true"/>
        <AccountType/>
      </UserInfo>
    </Teachers>
    <Student_Groups xmlns="fc455f0a-6b5a-4401-86ed-b97296dc509d">
      <UserInfo>
        <DisplayName/>
        <AccountId xsi:nil="true"/>
        <AccountType/>
      </UserInfo>
    </Student_Groups>
    <Distribution_Groups xmlns="fc455f0a-6b5a-4401-86ed-b97296dc509d" xsi:nil="true"/>
    <Invited_Teachers xmlns="fc455f0a-6b5a-4401-86ed-b97296dc509d" xsi:nil="true"/>
    <Teams_Channel_Section_Location xmlns="fc455f0a-6b5a-4401-86ed-b97296dc509d" xsi:nil="true"/>
    <Math_Settings xmlns="fc455f0a-6b5a-4401-86ed-b97296dc509d" xsi:nil="true"/>
    <NotebookType xmlns="fc455f0a-6b5a-4401-86ed-b97296dc509d" xsi:nil="true"/>
    <Invited_Students xmlns="fc455f0a-6b5a-4401-86ed-b97296dc509d" xsi:nil="true"/>
    <Has_Teacher_Only_SectionGroup xmlns="fc455f0a-6b5a-4401-86ed-b97296dc509d" xsi:nil="true"/>
    <Owner xmlns="fc455f0a-6b5a-4401-86ed-b97296dc509d">
      <UserInfo>
        <DisplayName/>
        <AccountId xsi:nil="true"/>
        <AccountType/>
      </UserInfo>
    </Owner>
    <Students xmlns="fc455f0a-6b5a-4401-86ed-b97296dc509d">
      <UserInfo>
        <DisplayName/>
        <AccountId xsi:nil="true"/>
        <AccountType/>
      </UserInfo>
    </Student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7702F5572A7464CB9FA96F3667F8A7B" ma:contentTypeVersion="33" ma:contentTypeDescription="Crée un document." ma:contentTypeScope="" ma:versionID="1eec636334cfa626415281c685d6ba6c">
  <xsd:schema xmlns:xsd="http://www.w3.org/2001/XMLSchema" xmlns:xs="http://www.w3.org/2001/XMLSchema" xmlns:p="http://schemas.microsoft.com/office/2006/metadata/properties" xmlns:ns2="fc455f0a-6b5a-4401-86ed-b97296dc509d" xmlns:ns3="385b738e-5c8c-4d13-a993-36256ed7bb36" targetNamespace="http://schemas.microsoft.com/office/2006/metadata/properties" ma:root="true" ma:fieldsID="610affced525fec503b3ba23c605c677" ns2:_="" ns3:_="">
    <xsd:import namespace="fc455f0a-6b5a-4401-86ed-b97296dc509d"/>
    <xsd:import namespace="385b738e-5c8c-4d13-a993-36256ed7bb36"/>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LengthInSeconds" minOccurs="0"/>
                <xsd:element ref="ns2:MediaServiceAutoKeyPoints" minOccurs="0"/>
                <xsd:element ref="ns2:MediaServiceKeyPoints"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455f0a-6b5a-4401-86ed-b97296dc509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NotebookType" ma:index="20" nillable="true" ma:displayName="Notebook Type" ma:internalName="NotebookType">
      <xsd:simpleType>
        <xsd:restriction base="dms:Text"/>
      </xsd:simpleType>
    </xsd:element>
    <xsd:element name="FolderType" ma:index="21" nillable="true" ma:displayName="Folder Type" ma:internalName="FolderType">
      <xsd:simpleType>
        <xsd:restriction base="dms:Text"/>
      </xsd:simpleType>
    </xsd:element>
    <xsd:element name="CultureName" ma:index="22" nillable="true" ma:displayName="Culture Name" ma:internalName="CultureName">
      <xsd:simpleType>
        <xsd:restriction base="dms:Text"/>
      </xsd:simpleType>
    </xsd:element>
    <xsd:element name="AppVersion" ma:index="23" nillable="true" ma:displayName="App Version" ma:internalName="AppVersion">
      <xsd:simpleType>
        <xsd:restriction base="dms:Text"/>
      </xsd:simpleType>
    </xsd:element>
    <xsd:element name="TeamsChannelId" ma:index="24" nillable="true" ma:displayName="Teams Channel Id" ma:internalName="TeamsChannelId">
      <xsd:simpleType>
        <xsd:restriction base="dms:Text"/>
      </xsd:simpleType>
    </xsd:element>
    <xsd:element name="Owner" ma:index="25"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6" nillable="true" ma:displayName="Math Settings" ma:internalName="Math_Settings">
      <xsd:simpleType>
        <xsd:restriction base="dms:Text"/>
      </xsd:simpleType>
    </xsd:element>
    <xsd:element name="DefaultSectionNames" ma:index="27" nillable="true" ma:displayName="Default Section Names" ma:internalName="DefaultSectionNames">
      <xsd:simpleType>
        <xsd:restriction base="dms:Note">
          <xsd:maxLength value="255"/>
        </xsd:restriction>
      </xsd:simpleType>
    </xsd:element>
    <xsd:element name="Templates" ma:index="28" nillable="true" ma:displayName="Templates" ma:internalName="Templates">
      <xsd:simpleType>
        <xsd:restriction base="dms:Note">
          <xsd:maxLength value="255"/>
        </xsd:restriction>
      </xsd:simpleType>
    </xsd:element>
    <xsd:element name="Teachers" ma:index="29"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30"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31"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32" nillable="true" ma:displayName="Distribution Groups" ma:internalName="Distribution_Groups">
      <xsd:simpleType>
        <xsd:restriction base="dms:Note">
          <xsd:maxLength value="255"/>
        </xsd:restriction>
      </xsd:simpleType>
    </xsd:element>
    <xsd:element name="LMS_Mappings" ma:index="33" nillable="true" ma:displayName="LMS Mappings" ma:internalName="LMS_Mappings">
      <xsd:simpleType>
        <xsd:restriction base="dms:Note">
          <xsd:maxLength value="255"/>
        </xsd:restriction>
      </xsd:simpleType>
    </xsd:element>
    <xsd:element name="Invited_Teachers" ma:index="34" nillable="true" ma:displayName="Invited Teachers" ma:internalName="Invited_Teachers">
      <xsd:simpleType>
        <xsd:restriction base="dms:Note">
          <xsd:maxLength value="255"/>
        </xsd:restriction>
      </xsd:simpleType>
    </xsd:element>
    <xsd:element name="Invited_Students" ma:index="35" nillable="true" ma:displayName="Invited Students" ma:internalName="Invited_Students">
      <xsd:simpleType>
        <xsd:restriction base="dms:Note">
          <xsd:maxLength value="255"/>
        </xsd:restriction>
      </xsd:simpleType>
    </xsd:element>
    <xsd:element name="Self_Registration_Enabled" ma:index="36" nillable="true" ma:displayName="Self Registration Enabled" ma:internalName="Self_Registration_Enabled">
      <xsd:simpleType>
        <xsd:restriction base="dms:Boolean"/>
      </xsd:simpleType>
    </xsd:element>
    <xsd:element name="Has_Teacher_Only_SectionGroup" ma:index="37" nillable="true" ma:displayName="Has Teacher Only SectionGroup" ma:internalName="Has_Teacher_Only_SectionGroup">
      <xsd:simpleType>
        <xsd:restriction base="dms:Boolean"/>
      </xsd:simpleType>
    </xsd:element>
    <xsd:element name="Is_Collaboration_Space_Locked" ma:index="38" nillable="true" ma:displayName="Is Collaboration Space Locked" ma:internalName="Is_Collaboration_Space_Locked">
      <xsd:simpleType>
        <xsd:restriction base="dms:Boolean"/>
      </xsd:simpleType>
    </xsd:element>
    <xsd:element name="IsNotebookLocked" ma:index="39" nillable="true" ma:displayName="Is Notebook Locked" ma:internalName="IsNotebookLocked">
      <xsd:simpleType>
        <xsd:restriction base="dms:Boolean"/>
      </xsd:simpleType>
    </xsd:element>
    <xsd:element name="Teams_Channel_Section_Location" ma:index="40" nillable="true" ma:displayName="Teams Channel Section Location" ma:internalName="Teams_Channel_Section_Loca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85b738e-5c8c-4d13-a993-36256ed7bb36"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587E304-7A6D-4DF5-B7AD-4F1559D15218}">
  <ds:schemaRefs>
    <ds:schemaRef ds:uri="http://schemas.microsoft.com/office/infopath/2007/PartnerControls"/>
    <ds:schemaRef ds:uri="http://schemas.microsoft.com/office/2006/metadata/properties"/>
    <ds:schemaRef ds:uri="http://purl.org/dc/dcmitype/"/>
    <ds:schemaRef ds:uri="http://schemas.microsoft.com/office/2006/documentManagement/types"/>
    <ds:schemaRef ds:uri="http://purl.org/dc/elements/1.1/"/>
    <ds:schemaRef ds:uri="http://purl.org/dc/terms/"/>
    <ds:schemaRef ds:uri="http://schemas.openxmlformats.org/package/2006/metadata/core-properties"/>
    <ds:schemaRef ds:uri="385b738e-5c8c-4d13-a993-36256ed7bb36"/>
    <ds:schemaRef ds:uri="fc455f0a-6b5a-4401-86ed-b97296dc509d"/>
    <ds:schemaRef ds:uri="http://www.w3.org/XML/1998/namespace"/>
  </ds:schemaRefs>
</ds:datastoreItem>
</file>

<file path=customXml/itemProps2.xml><?xml version="1.0" encoding="utf-8"?>
<ds:datastoreItem xmlns:ds="http://schemas.openxmlformats.org/officeDocument/2006/customXml" ds:itemID="{CC306B5F-3713-48B2-9944-0A5C3AC62DF9}">
  <ds:schemaRefs>
    <ds:schemaRef ds:uri="385b738e-5c8c-4d13-a993-36256ed7bb36"/>
    <ds:schemaRef ds:uri="fc455f0a-6b5a-4401-86ed-b97296dc509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51C3493-C2EB-464F-883B-072023FA731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5860</TotalTime>
  <Words>5272</Words>
  <Application>Microsoft Office PowerPoint</Application>
  <PresentationFormat>Grand écran</PresentationFormat>
  <Paragraphs>423</Paragraphs>
  <Slides>35</Slides>
  <Notes>34</Notes>
  <HiddenSlides>0</HiddenSlides>
  <MMClips>0</MMClips>
  <ScaleCrop>false</ScaleCrop>
  <HeadingPairs>
    <vt:vector size="6" baseType="variant">
      <vt:variant>
        <vt:lpstr>Polices utilisées</vt:lpstr>
      </vt:variant>
      <vt:variant>
        <vt:i4>10</vt:i4>
      </vt:variant>
      <vt:variant>
        <vt:lpstr>Thème</vt:lpstr>
      </vt:variant>
      <vt:variant>
        <vt:i4>3</vt:i4>
      </vt:variant>
      <vt:variant>
        <vt:lpstr>Titres des diapositives</vt:lpstr>
      </vt:variant>
      <vt:variant>
        <vt:i4>35</vt:i4>
      </vt:variant>
    </vt:vector>
  </HeadingPairs>
  <TitlesOfParts>
    <vt:vector size="48" baseType="lpstr">
      <vt:lpstr>Arial</vt:lpstr>
      <vt:lpstr>Calibri</vt:lpstr>
      <vt:lpstr>Century Gothic</vt:lpstr>
      <vt:lpstr>Corbel</vt:lpstr>
      <vt:lpstr>Helvetica Light</vt:lpstr>
      <vt:lpstr>Noto Sans Symbols</vt:lpstr>
      <vt:lpstr>Times New Roman</vt:lpstr>
      <vt:lpstr>WenQuanYi Micro Hei</vt:lpstr>
      <vt:lpstr>Wingdings</vt:lpstr>
      <vt:lpstr>Wingdings 2</vt:lpstr>
      <vt:lpstr>1_Cadre</vt:lpstr>
      <vt:lpstr>Thème Office</vt:lpstr>
      <vt:lpstr>Thème Office</vt:lpstr>
      <vt:lpstr>Présentation PowerPoint</vt:lpstr>
      <vt:lpstr>Les associations à ABC et Avenir Climatique</vt:lpstr>
      <vt:lpstr>Ce qu’il faut retenir</vt:lpstr>
      <vt:lpstr>Présentation PowerPoint</vt:lpstr>
      <vt:lpstr>Gaz à effet de serre : qui fait quoi ? </vt:lpstr>
      <vt:lpstr>Une unité de mesure commune, l’équivalent CO2</vt:lpstr>
      <vt:lpstr>Comment quantifier les émissions de GES ?</vt:lpstr>
      <vt:lpstr>L’incertitude d’un facteur d’émission</vt:lpstr>
      <vt:lpstr>Ce qu’il faut retenir</vt:lpstr>
      <vt:lpstr>Présentation PowerPoint</vt:lpstr>
      <vt:lpstr>Comment lister les émissions potentielles ? Quelques pistes</vt:lpstr>
      <vt:lpstr>Les SCOPES</vt:lpstr>
      <vt:lpstr>Ce qu’il faut retenir</vt:lpstr>
      <vt:lpstr>Présentation PowerPoint</vt:lpstr>
      <vt:lpstr>Avant de collecter et compter, que fait-on ? </vt:lpstr>
      <vt:lpstr>Ce qu’il faut retenir</vt:lpstr>
      <vt:lpstr>Présentation PowerPoint</vt:lpstr>
      <vt:lpstr>Maintenant qu’on a toutes les données, on va pouvoir calculer ! </vt:lpstr>
      <vt:lpstr>Quelques astuces supplémentaires</vt:lpstr>
      <vt:lpstr>Ce qu’il faut retenir</vt:lpstr>
      <vt:lpstr>Présentation PowerPoint</vt:lpstr>
      <vt:lpstr>Présentation PowerPoint</vt:lpstr>
      <vt:lpstr>Présentation PowerPoint</vt:lpstr>
      <vt:lpstr>Présentation PowerPoint</vt:lpstr>
      <vt:lpstr>Analyse d’un bilan GES : et maintenant on fait quoi ?</vt:lpstr>
      <vt:lpstr>Où agir ? Bien cibler les actions</vt:lpstr>
      <vt:lpstr>Evaluez l’impact de votre plan d’action carbone </vt:lpstr>
      <vt:lpstr>Présentation PowerPoint</vt:lpstr>
      <vt:lpstr>Quelques actions pour agir Transports</vt:lpstr>
      <vt:lpstr>Quelques actions pour agir Biens et services</vt:lpstr>
      <vt:lpstr>Quelques actions pour agir Alimentation</vt:lpstr>
      <vt:lpstr>Quelques actions pour agir Habitat</vt:lpstr>
      <vt:lpstr>Présentation PowerPoint</vt:lpstr>
      <vt:lpstr>Ce qu’il faut retenir</vt:lpstr>
      <vt:lpstr>Ce qu’il faut retenir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Aurélie Thomann</dc:creator>
  <cp:lastModifiedBy>Pierre Tardiveau</cp:lastModifiedBy>
  <cp:revision>29</cp:revision>
  <cp:lastPrinted>2021-09-04T09:51:38Z</cp:lastPrinted>
  <dcterms:created xsi:type="dcterms:W3CDTF">2019-01-10T16:34:17Z</dcterms:created>
  <dcterms:modified xsi:type="dcterms:W3CDTF">2026-03-12T13:27:56Z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0x01010087702F5572A7464CB9FA96F3667F8A7B</vt:lpwstr>
  </property>
</Properties>
</file>